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Diqqat %</c:v>
                </c:pt>
              </c:strCache>
            </c:strRef>
          </c:tx>
          <c:spPr>
            <a:solidFill>
              <a:srgbClr val="FF6B6B"/>
            </a:solidFill>
            <a:ln w="38100" cap="flat">
              <a:solidFill>
                <a:srgbClr val="FF6B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6B6B"/>
              </a:solidFill>
              <a:ln w="9525" cap="flat">
                <a:solidFill>
                  <a:srgbClr val="FF6B6B"/>
                </a:solidFill>
                <a:prstDash val="solid"/>
                <a:round/>
              </a:ln>
              <a:effectLst/>
            </c:spPr>
          </c:marker>
          <c:cat>
            <c:multiLvlStrRef>
              <c:f>Sheet1!$A$2:$A$8</c:f>
              <c:multiLvlStrCache>
                <c:ptCount val="7"/>
                <c:lvl>
                  <c:pt idx="0">
                    <c:v>0d</c:v>
                  </c:pt>
                  <c:pt idx="1">
                    <c:v>5d</c:v>
                  </c:pt>
                  <c:pt idx="2">
                    <c:v>10d</c:v>
                  </c:pt>
                  <c:pt idx="3">
                    <c:v>20d</c:v>
                  </c:pt>
                  <c:pt idx="4">
                    <c:v>30d</c:v>
                  </c:pt>
                  <c:pt idx="5">
                    <c:v>45d</c:v>
                  </c:pt>
                  <c:pt idx="6">
                    <c:v>60d</c:v>
                  </c:pt>
                </c:lvl>
              </c:multiLvlStrCache>
            </c:multiLvlStrRef>
          </c:cat>
          <c:val>
            <c:numRef>
              <c:f>Sheet1!$B$2:$B$8</c:f>
              <c:numCache>
                <c:formatCode>General</c:formatCode>
                <c:ptCount val="7"/>
                <c:pt idx="0">
                  <c:v>95</c:v>
                </c:pt>
                <c:pt idx="1">
                  <c:v>88</c:v>
                </c:pt>
                <c:pt idx="2">
                  <c:v>78</c:v>
                </c:pt>
                <c:pt idx="3">
                  <c:v>60</c:v>
                </c:pt>
                <c:pt idx="4">
                  <c:v>45</c:v>
                </c:pt>
                <c:pt idx="5">
                  <c:v>35</c:v>
                </c:pt>
                <c:pt idx="6">
                  <c:v>28</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4C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4C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0F4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Vaqt</c:v>
                </c:pt>
              </c:strCache>
            </c:strRef>
          </c:tx>
          <c:spPr>
            <a:solidFill>
              <a:schemeClr val="accent1"/>
            </a:solidFill>
            <a:ln w="9525" cap="flat">
              <a:solidFill>
                <a:srgbClr val="F9F9F9"/>
              </a:solidFill>
              <a:prstDash val="solid"/>
              <a:round/>
            </a:ln>
            <a:effectLst/>
          </c:spPr>
          <c:dPt>
            <c:idx val="0"/>
            <c:bubble3D val="0"/>
            <c:spPr>
              <a:solidFill>
                <a:srgbClr val="F5A623"/>
              </a:solidFill>
              <a:effectLst/>
            </c:spPr>
          </c:dPt>
          <c:dPt>
            <c:idx val="1"/>
            <c:bubble3D val="0"/>
            <c:spPr>
              <a:solidFill>
                <a:srgbClr val="1D90F5"/>
              </a:solidFill>
              <a:effectLst/>
            </c:spPr>
          </c:dPt>
          <c:dPt>
            <c:idx val="2"/>
            <c:bubble3D val="0"/>
            <c:spPr>
              <a:solidFill>
                <a:srgbClr val="FF6B6B"/>
              </a:solidFill>
              <a:effectLst/>
            </c:spPr>
          </c:dPt>
          <c:dPt>
            <c:idx val="3"/>
            <c:bubble3D val="0"/>
            <c:spPr>
              <a:solidFill>
                <a:srgbClr val="2ECC71"/>
              </a:solidFill>
              <a:effectLst/>
            </c:spPr>
          </c:dPt>
          <c:dPt>
            <c:idx val="4"/>
            <c:bubble3D val="0"/>
            <c:spPr>
              <a:solidFill>
                <a:srgbClr val="8E44AD"/>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4"/>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Baholash va fikr-mulohaza</c:v>
                </c:pt>
                <c:pt idx="1">
                  <c:v>Dars rejalashtirish</c:v>
                </c:pt>
                <c:pt idx="2">
                  <c:v>Ma'muriy ish</c:v>
                </c:pt>
                <c:pt idx="3">
                  <c:v>Dars o'tish</c:v>
                </c:pt>
                <c:pt idx="4">
                  <c:v>Rivojlanish</c:v>
                </c:pt>
              </c:strCache>
            </c:strRef>
          </c:cat>
          <c:val>
            <c:numRef>
              <c:f>Sheet1!$B$2:$B$6</c:f>
              <c:numCache>
                <c:ptCount val="5"/>
                <c:pt idx="0">
                  <c:v>28</c:v>
                </c:pt>
                <c:pt idx="1">
                  <c:v>22</c:v>
                </c:pt>
                <c:pt idx="2">
                  <c:v>18</c:v>
                </c:pt>
                <c:pt idx="3">
                  <c:v>25</c:v>
                </c:pt>
                <c:pt idx="4">
                  <c:v>7</c:v>
                </c:pt>
              </c:numCache>
            </c:numRef>
          </c:val>
        </c:ser>
        <c:firstSliceAng val="0"/>
      </c:pieChart>
      <c:spPr>
        <a:noFill/>
        <a:ln>
          <a:noFill/>
        </a:ln>
        <a:effectLst/>
      </c:spPr>
    </c:plotArea>
    <c:plotVisOnly val="1"/>
    <c:dispBlanksAs val="span"/>
  </c:chart>
  <c:spPr>
    <a:solidFill>
      <a:srgbClr val="F0F4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Davlat maktablari</c:v>
                </c:pt>
              </c:strCache>
            </c:strRef>
          </c:tx>
          <c:spPr>
            <a:solidFill>
              <a:srgbClr val="00C9B1"/>
            </a:solidFill>
            <a:effectLst/>
          </c:spPr>
          <c:invertIfNegative val="0"/>
          <c:dLbls>
            <c:numFmt formatCode="#,##0" sourceLinked="0"/>
            <c:txPr>
              <a:bodyPr/>
              <a:lstStyle/>
              <a:p>
                <a:pPr>
                  <a:defRPr b="0" i="0" strike="noStrike" sz="900" u="none">
                    <a:solidFill>
                      <a:srgbClr val="2C3E5A"/>
                    </a:solidFill>
                    <a:latin typeface="Arial"/>
                  </a:defRPr>
                </a:pPr>
              </a:p>
            </c:txPr>
            <c:showLegendKey val="0"/>
            <c:showVal val="1"/>
            <c:showCatName val="0"/>
            <c:showSerName val="0"/>
            <c:showPercent val="0"/>
            <c:showBubbleSize val="0"/>
            <c:showLeaderLines val="0"/>
          </c:dLbls>
          <c:cat>
            <c:multiLvlStrRef>
              <c:f>Sheet1!$A$2:$A$4</c:f>
              <c:multiLvlStrCache>
                <c:ptCount val="3"/>
                <c:lvl>
                  <c:pt idx="0">
                    <c:v>TAM
(O'zbekiston)</c:v>
                  </c:pt>
                  <c:pt idx="1">
                    <c:v>SAM
(Farg'ona vodiysi)</c:v>
                  </c:pt>
                  <c:pt idx="2">
                    <c:v>SOM
(Andijon vil.)</c:v>
                  </c:pt>
                </c:lvl>
              </c:multiLvlStrCache>
            </c:multiLvlStrRef>
          </c:cat>
          <c:val>
            <c:numRef>
              <c:f>Sheet1!$B$2:$B$4</c:f>
              <c:numCache>
                <c:formatCode>General</c:formatCode>
                <c:ptCount val="3"/>
                <c:pt idx="0">
                  <c:v>10229</c:v>
                </c:pt>
                <c:pt idx="1">
                  <c:v>2660</c:v>
                </c:pt>
                <c:pt idx="2">
                  <c:v>807</c:v>
                </c:pt>
              </c:numCache>
            </c:numRef>
          </c:val>
        </c:ser>
        <c:ser>
          <c:idx val="1"/>
          <c:order val="1"/>
          <c:tx>
            <c:strRef>
              <c:f>Sheet1!$C$1</c:f>
              <c:strCache>
                <c:ptCount val="1"/>
                <c:pt idx="0">
                  <c:v>Xususiy maktablar</c:v>
                </c:pt>
              </c:strCache>
            </c:strRef>
          </c:tx>
          <c:spPr>
            <a:solidFill>
              <a:srgbClr val="F5A623"/>
            </a:solidFill>
            <a:effectLst/>
          </c:spPr>
          <c:invertIfNegative val="0"/>
          <c:dLbls>
            <c:numFmt formatCode="#,##0" sourceLinked="0"/>
            <c:txPr>
              <a:bodyPr/>
              <a:lstStyle/>
              <a:p>
                <a:pPr>
                  <a:defRPr b="0" i="0" strike="noStrike" sz="900" u="none">
                    <a:solidFill>
                      <a:srgbClr val="2C3E5A"/>
                    </a:solidFill>
                    <a:latin typeface="Arial"/>
                  </a:defRPr>
                </a:pPr>
              </a:p>
            </c:txPr>
            <c:showLegendKey val="0"/>
            <c:showVal val="1"/>
            <c:showCatName val="0"/>
            <c:showSerName val="0"/>
            <c:showPercent val="0"/>
            <c:showBubbleSize val="0"/>
            <c:showLeaderLines val="0"/>
          </c:dLbls>
          <c:cat>
            <c:multiLvlStrRef>
              <c:f>Sheet1!$A$2:$A$4</c:f>
              <c:multiLvlStrCache>
                <c:ptCount val="3"/>
                <c:lvl>
                  <c:pt idx="0">
                    <c:v>TAM
(O'zbekiston)</c:v>
                  </c:pt>
                  <c:pt idx="1">
                    <c:v>SAM
(Farg'ona vodiysi)</c:v>
                  </c:pt>
                  <c:pt idx="2">
                    <c:v>SOM
(Andijon vil.)</c:v>
                  </c:pt>
                </c:lvl>
              </c:multiLvlStrCache>
            </c:multiLvlStrRef>
          </c:cat>
          <c:val>
            <c:numRef>
              <c:f>Sheet1!$C$2:$C$4</c:f>
              <c:numCache>
                <c:formatCode>General</c:formatCode>
                <c:ptCount val="3"/>
                <c:pt idx="0">
                  <c:v>293</c:v>
                </c:pt>
                <c:pt idx="1">
                  <c:v>76</c:v>
                </c:pt>
                <c:pt idx="2">
                  <c:v>27</c:v>
                </c:pt>
              </c:numCache>
            </c:numRef>
          </c:val>
        </c:ser>
        <c:dLbls>
          <c:numFmt formatCode="#,##0" sourceLinked="0"/>
          <c:txPr>
            <a:bodyPr/>
            <a:lstStyle/>
            <a:p>
              <a:pPr>
                <a:defRPr b="0" i="0" strike="noStrike" sz="900" u="none">
                  <a:solidFill>
                    <a:srgbClr val="2C3E5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C3E5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ECF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FA4C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0F4FA"/>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Global SI-ta'lim bozori ($mlrd) — 42.8% CAGR</a:t>
            </a:r>
          </a:p>
        </c:rich>
      </c:tx>
      <c:layout/>
      <c:overlay val="0"/>
    </c:title>
    <c:autoTitleDeleted val="0"/>
    <c:plotArea>
      <c:layout/>
      <c:barChart>
        <c:barDir val="col"/>
        <c:grouping val="clustered"/>
        <c:varyColors val="0"/>
        <c:ser>
          <c:idx val="0"/>
          <c:order val="0"/>
          <c:tx>
            <c:strRef>
              <c:f>Sheet1!$B$1</c:f>
              <c:strCache>
                <c:ptCount val="1"/>
                <c:pt idx="0">
                  <c:v>Bozor hajmi ($mlrd)</c:v>
                </c:pt>
              </c:strCache>
            </c:strRef>
          </c:tx>
          <c:spPr>
            <a:solidFill>
              <a:srgbClr val="1D90F5"/>
            </a:solidFill>
            <a:effectLst/>
          </c:spPr>
          <c:invertIfNegative val="0"/>
          <c:dLbls>
            <c:numFmt formatCode="#,##0" sourceLinked="0"/>
            <c:txPr>
              <a:bodyPr/>
              <a:lstStyle/>
              <a:p>
                <a:pPr>
                  <a:defRPr b="0" i="0" strike="noStrike" sz="1200" u="none">
                    <a:solidFill>
                      <a:srgbClr val="2C3E5A"/>
                    </a:solidFill>
                    <a:latin typeface="Arial"/>
                  </a:defRPr>
                </a:pPr>
              </a:p>
            </c:txPr>
            <c:showLegendKey val="0"/>
            <c:showVal val="1"/>
            <c:showCatName val="0"/>
            <c:showSerName val="0"/>
            <c:showPercent val="0"/>
            <c:showBubbleSize val="0"/>
            <c:showLeaderLines val="0"/>
          </c:dLbls>
          <c:cat>
            <c:multiLvlStrRef>
              <c:f>Sheet1!$A$2:$A$8</c:f>
              <c:multiLvlStrCache>
                <c:ptCount val="7"/>
                <c:lvl>
                  <c:pt idx="0">
                    <c:v>2024</c:v>
                  </c:pt>
                  <c:pt idx="1">
                    <c:v>2025</c:v>
                  </c:pt>
                  <c:pt idx="2">
                    <c:v>2026</c:v>
                  </c:pt>
                  <c:pt idx="3">
                    <c:v>2027</c:v>
                  </c:pt>
                  <c:pt idx="4">
                    <c:v>2028</c:v>
                  </c:pt>
                  <c:pt idx="5">
                    <c:v>2029</c:v>
                  </c:pt>
                  <c:pt idx="6">
                    <c:v>2030</c:v>
                  </c:pt>
                </c:lvl>
              </c:multiLvlStrCache>
            </c:multiLvlStrRef>
          </c:cat>
          <c:val>
            <c:numRef>
              <c:f>Sheet1!$B$2:$B$8</c:f>
              <c:numCache>
                <c:formatCode>General</c:formatCode>
                <c:ptCount val="7"/>
                <c:pt idx="0">
                  <c:v>5.9</c:v>
                </c:pt>
                <c:pt idx="1">
                  <c:v>6.9</c:v>
                </c:pt>
                <c:pt idx="2">
                  <c:v>10.2</c:v>
                </c:pt>
                <c:pt idx="3">
                  <c:v>15.1</c:v>
                </c:pt>
                <c:pt idx="4">
                  <c:v>22.3</c:v>
                </c:pt>
                <c:pt idx="5">
                  <c:v>31.5</c:v>
                </c:pt>
                <c:pt idx="6">
                  <c:v>41</c:v>
                </c:pt>
              </c:numCache>
            </c:numRef>
          </c:val>
        </c:ser>
        <c:dLbls>
          <c:numFmt formatCode="#,##0" sourceLinked="0"/>
          <c:txPr>
            <a:bodyPr/>
            <a:lstStyle/>
            <a:p>
              <a:pPr>
                <a:defRPr b="0" i="0" strike="noStrike" sz="1200" u="none">
                  <a:solidFill>
                    <a:srgbClr val="2C3E5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4C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4C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0F4FA"/>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Daromad va Chiqimlar ($K)</a:t>
            </a:r>
          </a:p>
        </c:rich>
      </c:tx>
      <c:layout/>
      <c:overlay val="0"/>
    </c:title>
    <c:autoTitleDeleted val="0"/>
    <c:plotArea>
      <c:layout/>
      <c:barChart>
        <c:barDir val="col"/>
        <c:grouping val="clustered"/>
        <c:varyColors val="0"/>
        <c:ser>
          <c:idx val="0"/>
          <c:order val="0"/>
          <c:tx>
            <c:strRef>
              <c:f>Sheet1!$B$1</c:f>
              <c:strCache>
                <c:ptCount val="1"/>
                <c:pt idx="0">
                  <c:v>Daromad ($K)</c:v>
                </c:pt>
              </c:strCache>
            </c:strRef>
          </c:tx>
          <c:spPr>
            <a:solidFill>
              <a:srgbClr val="00C9B1"/>
            </a:solidFill>
            <a:effectLst/>
          </c:spPr>
          <c:invertIfNegative val="0"/>
          <c:dLbls>
            <c:numFmt formatCode="#,##0" sourceLinked="0"/>
            <c:txPr>
              <a:bodyPr/>
              <a:lstStyle/>
              <a:p>
                <a:pPr>
                  <a:defRPr b="0" i="0" strike="noStrike" sz="700" u="none">
                    <a:solidFill>
                      <a:srgbClr val="2C3E5A"/>
                    </a:solidFill>
                    <a:latin typeface="Arial"/>
                  </a:defRPr>
                </a:pPr>
              </a:p>
            </c:txPr>
            <c:showLegendKey val="0"/>
            <c:showVal val="1"/>
            <c:showCatName val="0"/>
            <c:showSerName val="0"/>
            <c:showPercent val="0"/>
            <c:showBubbleSize val="0"/>
            <c:showLeaderLines val="0"/>
          </c:dLbls>
          <c:cat>
            <c:multiLvlStrRef>
              <c:f>Sheet1!$A$2:$A$7</c:f>
              <c:multiLvlStrCache>
                <c:ptCount val="6"/>
                <c:lvl>
                  <c:pt idx="0">
                    <c:v>2025</c:v>
                  </c:pt>
                  <c:pt idx="1">
                    <c:v>2026</c:v>
                  </c:pt>
                  <c:pt idx="2">
                    <c:v>2027</c:v>
                  </c:pt>
                  <c:pt idx="3">
                    <c:v>2028</c:v>
                  </c:pt>
                  <c:pt idx="4">
                    <c:v>2029</c:v>
                  </c:pt>
                  <c:pt idx="5">
                    <c:v>2030</c:v>
                  </c:pt>
                </c:lvl>
              </c:multiLvlStrCache>
            </c:multiLvlStrRef>
          </c:cat>
          <c:val>
            <c:numRef>
              <c:f>Sheet1!$B$2:$B$7</c:f>
              <c:numCache>
                <c:formatCode>General</c:formatCode>
                <c:ptCount val="6"/>
                <c:pt idx="0">
                  <c:v>210</c:v>
                </c:pt>
                <c:pt idx="1">
                  <c:v>1575</c:v>
                </c:pt>
                <c:pt idx="2">
                  <c:v>5250</c:v>
                </c:pt>
                <c:pt idx="3">
                  <c:v>15750</c:v>
                </c:pt>
                <c:pt idx="4">
                  <c:v>31500</c:v>
                </c:pt>
                <c:pt idx="5">
                  <c:v>52500</c:v>
                </c:pt>
              </c:numCache>
            </c:numRef>
          </c:val>
        </c:ser>
        <c:ser>
          <c:idx val="1"/>
          <c:order val="1"/>
          <c:tx>
            <c:strRef>
              <c:f>Sheet1!$C$1</c:f>
              <c:strCache>
                <c:ptCount val="1"/>
                <c:pt idx="0">
                  <c:v>Chiqimlar ($K)</c:v>
                </c:pt>
              </c:strCache>
            </c:strRef>
          </c:tx>
          <c:spPr>
            <a:solidFill>
              <a:srgbClr val="FF6B6B"/>
            </a:solidFill>
            <a:effectLst/>
          </c:spPr>
          <c:invertIfNegative val="0"/>
          <c:dLbls>
            <c:numFmt formatCode="#,##0" sourceLinked="0"/>
            <c:txPr>
              <a:bodyPr/>
              <a:lstStyle/>
              <a:p>
                <a:pPr>
                  <a:defRPr b="0" i="0" strike="noStrike" sz="700" u="none">
                    <a:solidFill>
                      <a:srgbClr val="2C3E5A"/>
                    </a:solidFill>
                    <a:latin typeface="Arial"/>
                  </a:defRPr>
                </a:pPr>
              </a:p>
            </c:txPr>
            <c:showLegendKey val="0"/>
            <c:showVal val="1"/>
            <c:showCatName val="0"/>
            <c:showSerName val="0"/>
            <c:showPercent val="0"/>
            <c:showBubbleSize val="0"/>
            <c:showLeaderLines val="0"/>
          </c:dLbls>
          <c:cat>
            <c:multiLvlStrRef>
              <c:f>Sheet1!$A$2:$A$7</c:f>
              <c:multiLvlStrCache>
                <c:ptCount val="6"/>
                <c:lvl>
                  <c:pt idx="0">
                    <c:v>2025</c:v>
                  </c:pt>
                  <c:pt idx="1">
                    <c:v>2026</c:v>
                  </c:pt>
                  <c:pt idx="2">
                    <c:v>2027</c:v>
                  </c:pt>
                  <c:pt idx="3">
                    <c:v>2028</c:v>
                  </c:pt>
                  <c:pt idx="4">
                    <c:v>2029</c:v>
                  </c:pt>
                  <c:pt idx="5">
                    <c:v>2030</c:v>
                  </c:pt>
                </c:lvl>
              </c:multiLvlStrCache>
            </c:multiLvlStrRef>
          </c:cat>
          <c:val>
            <c:numRef>
              <c:f>Sheet1!$C$2:$C$7</c:f>
              <c:numCache>
                <c:formatCode>General</c:formatCode>
                <c:ptCount val="6"/>
                <c:pt idx="0">
                  <c:v>130</c:v>
                </c:pt>
                <c:pt idx="1">
                  <c:v>350</c:v>
                </c:pt>
                <c:pt idx="2">
                  <c:v>1200</c:v>
                </c:pt>
                <c:pt idx="3">
                  <c:v>4000</c:v>
                </c:pt>
                <c:pt idx="4">
                  <c:v>9000</c:v>
                </c:pt>
                <c:pt idx="5">
                  <c:v>15000</c:v>
                </c:pt>
              </c:numCache>
            </c:numRef>
          </c:val>
        </c:ser>
        <c:dLbls>
          <c:numFmt formatCode="#,##0" sourceLinked="0"/>
          <c:txPr>
            <a:bodyPr/>
            <a:lstStyle/>
            <a:p>
              <a:pPr>
                <a:defRPr b="0" i="0" strike="noStrike" sz="700" u="none">
                  <a:solidFill>
                    <a:srgbClr val="2C3E5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4C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F4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4C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8FFFE"/>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Sof foyda ($K)</a:t>
            </a:r>
          </a:p>
        </c:rich>
      </c:tx>
      <c:layout/>
      <c:overlay val="0"/>
    </c:title>
    <c:autoTitleDeleted val="0"/>
    <c:plotArea>
      <c:layout/>
      <c:lineChart>
        <c:varyColors val="0"/>
        <c:ser>
          <c:idx val="0"/>
          <c:order val="0"/>
          <c:tx>
            <c:strRef>
              <c:f>Sheet1!$B$1</c:f>
              <c:strCache>
                <c:ptCount val="1"/>
                <c:pt idx="0">
                  <c:v>Sof foyda ($K)</c:v>
                </c:pt>
              </c:strCache>
            </c:strRef>
          </c:tx>
          <c:spPr>
            <a:solidFill>
              <a:srgbClr val="F5A623"/>
            </a:solidFill>
            <a:ln w="31750" cap="flat">
              <a:solidFill>
                <a:srgbClr val="F5A623"/>
              </a:solidFill>
              <a:prstDash val="solid"/>
              <a:round/>
            </a:ln>
            <a:effectLst/>
          </c:spPr>
          <c:invertIfNegative val="0"/>
          <c:dLbls>
            <c:numFmt formatCode="#,##0" sourceLinked="0"/>
            <c:txPr>
              <a:bodyPr/>
              <a:lstStyle/>
              <a:p>
                <a:pPr>
                  <a:defRPr b="0" i="0" strike="noStrike" sz="800" u="none">
                    <a:solidFill>
                      <a:srgbClr val="2C3E5A"/>
                    </a:solidFill>
                    <a:latin typeface="Arial"/>
                  </a:defRPr>
                </a:pPr>
              </a:p>
            </c:txPr>
            <c:showLegendKey val="0"/>
            <c:showVal val="1"/>
            <c:showCatName val="0"/>
            <c:showSerName val="0"/>
            <c:showPercent val="0"/>
            <c:showBubbleSize val="0"/>
            <c:showLeaderLines val="0"/>
          </c:dLbls>
          <c:marker>
            <c:symbol val="circle"/>
            <c:size val="6"/>
            <c:spPr>
              <a:solidFill>
                <a:srgbClr val="F5A623"/>
              </a:solidFill>
              <a:ln w="9525" cap="flat">
                <a:solidFill>
                  <a:srgbClr val="F5A623"/>
                </a:solidFill>
                <a:prstDash val="solid"/>
                <a:round/>
              </a:ln>
              <a:effectLst/>
            </c:spPr>
          </c:marker>
          <c:cat>
            <c:multiLvlStrRef>
              <c:f>Sheet1!$A$2:$A$7</c:f>
              <c:multiLvlStrCache>
                <c:ptCount val="6"/>
                <c:lvl>
                  <c:pt idx="0">
                    <c:v>2025</c:v>
                  </c:pt>
                  <c:pt idx="1">
                    <c:v>2026</c:v>
                  </c:pt>
                  <c:pt idx="2">
                    <c:v>2027</c:v>
                  </c:pt>
                  <c:pt idx="3">
                    <c:v>2028</c:v>
                  </c:pt>
                  <c:pt idx="4">
                    <c:v>2029</c:v>
                  </c:pt>
                  <c:pt idx="5">
                    <c:v>2030</c:v>
                  </c:pt>
                </c:lvl>
              </c:multiLvlStrCache>
            </c:multiLvlStrRef>
          </c:cat>
          <c:val>
            <c:numRef>
              <c:f>Sheet1!$B$2:$B$7</c:f>
              <c:numCache>
                <c:formatCode>General</c:formatCode>
                <c:ptCount val="6"/>
                <c:pt idx="0">
                  <c:v>80</c:v>
                </c:pt>
                <c:pt idx="1">
                  <c:v>1225</c:v>
                </c:pt>
                <c:pt idx="2">
                  <c:v>4050</c:v>
                </c:pt>
                <c:pt idx="3">
                  <c:v>11750</c:v>
                </c:pt>
                <c:pt idx="4">
                  <c:v>22500</c:v>
                </c:pt>
                <c:pt idx="5">
                  <c:v>37500</c:v>
                </c:pt>
              </c:numCache>
            </c:numRef>
          </c:val>
          <c:smooth val="1"/>
        </c:ser>
        <c:dLbls>
          <c:numFmt formatCode="#,##0" sourceLinked="0"/>
          <c:txPr>
            <a:bodyPr/>
            <a:lstStyle/>
            <a:p>
              <a:pPr>
                <a:defRPr b="0" i="0" strike="noStrike" sz="800" u="none">
                  <a:solidFill>
                    <a:srgbClr val="2C3E5A"/>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4C4"/>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4C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BF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943600" y="-1371600"/>
            <a:ext cx="5486400" cy="5486400"/>
          </a:xfrm>
          <a:prstGeom prst="oval">
            <a:avLst/>
          </a:prstGeom>
          <a:solidFill>
            <a:srgbClr val="0D3B7E">
              <a:alpha val="40000"/>
            </a:srgbClr>
          </a:solidFill>
          <a:ln/>
        </p:spPr>
      </p:sp>
      <p:sp>
        <p:nvSpPr>
          <p:cNvPr id="3" name="Shape 1"/>
          <p:cNvSpPr/>
          <p:nvPr/>
        </p:nvSpPr>
        <p:spPr>
          <a:xfrm>
            <a:off x="-1371600" y="2743200"/>
            <a:ext cx="3657600" cy="3657600"/>
          </a:xfrm>
          <a:prstGeom prst="oval">
            <a:avLst/>
          </a:prstGeom>
          <a:solidFill>
            <a:srgbClr val="00C9B1">
              <a:alpha val="25000"/>
            </a:srgbClr>
          </a:solidFill>
          <a:ln/>
        </p:spPr>
      </p:sp>
      <p:sp>
        <p:nvSpPr>
          <p:cNvPr id="4" name="Shape 2"/>
          <p:cNvSpPr/>
          <p:nvPr/>
        </p:nvSpPr>
        <p:spPr>
          <a:xfrm>
            <a:off x="0" y="4389120"/>
            <a:ext cx="9144000" cy="754380"/>
          </a:xfrm>
          <a:prstGeom prst="rect">
            <a:avLst/>
          </a:prstGeom>
          <a:solidFill>
            <a:srgbClr val="0D3B7E">
              <a:alpha val="60000"/>
            </a:srgbClr>
          </a:solidFill>
          <a:ln/>
        </p:spPr>
      </p:sp>
      <p:sp>
        <p:nvSpPr>
          <p:cNvPr id="5" name="Shape 3"/>
          <p:cNvSpPr/>
          <p:nvPr/>
        </p:nvSpPr>
        <p:spPr>
          <a:xfrm>
            <a:off x="3931920" y="365760"/>
            <a:ext cx="1280160" cy="1280160"/>
          </a:xfrm>
          <a:prstGeom prst="oval">
            <a:avLst/>
          </a:prstGeom>
          <a:solidFill>
            <a:srgbClr val="00C9B1"/>
          </a:solidFill>
          <a:ln/>
        </p:spPr>
      </p:sp>
      <p:pic>
        <p:nvPicPr>
          <p:cNvPr id="6" name="Image 0" descr="preencoded.png">    </p:cNvPr>
          <p:cNvPicPr>
            <a:picLocks noChangeAspect="1"/>
          </p:cNvPicPr>
          <p:nvPr/>
        </p:nvPicPr>
        <p:blipFill>
          <a:blip r:embed="rId1"/>
          <a:stretch>
            <a:fillRect/>
          </a:stretch>
        </p:blipFill>
        <p:spPr>
          <a:xfrm>
            <a:off x="4041648" y="475488"/>
            <a:ext cx="1060704" cy="1060704"/>
          </a:xfrm>
          <a:prstGeom prst="rect">
            <a:avLst/>
          </a:prstGeom>
        </p:spPr>
      </p:pic>
      <p:sp>
        <p:nvSpPr>
          <p:cNvPr id="7" name="Text 4"/>
          <p:cNvSpPr/>
          <p:nvPr/>
        </p:nvSpPr>
        <p:spPr>
          <a:xfrm>
            <a:off x="457200" y="1783080"/>
            <a:ext cx="8229600" cy="1097280"/>
          </a:xfrm>
          <a:prstGeom prst="rect">
            <a:avLst/>
          </a:prstGeom>
          <a:noFill/>
          <a:ln/>
        </p:spPr>
        <p:txBody>
          <a:bodyPr wrap="square" lIns="0" tIns="0" rIns="0" bIns="0" rtlCol="0" anchor="ctr"/>
          <a:lstStyle/>
          <a:p>
            <a:pPr algn="ctr" indent="0" marL="0">
              <a:buNone/>
            </a:pPr>
            <a:r>
              <a:rPr lang="en-US" sz="6400" b="1" spc="800" kern="0" dirty="0">
                <a:solidFill>
                  <a:srgbClr val="FFFFFF"/>
                </a:solidFill>
                <a:latin typeface="Trebuchet MS" pitchFamily="34" charset="0"/>
                <a:ea typeface="Trebuchet MS" pitchFamily="34" charset="-122"/>
                <a:cs typeface="Trebuchet MS" pitchFamily="34" charset="-120"/>
              </a:rPr>
              <a:t>TalimZ</a:t>
            </a:r>
            <a:endParaRPr lang="en-US" sz="6400" dirty="0"/>
          </a:p>
        </p:txBody>
      </p:sp>
      <p:sp>
        <p:nvSpPr>
          <p:cNvPr id="8" name="Text 5"/>
          <p:cNvSpPr/>
          <p:nvPr/>
        </p:nvSpPr>
        <p:spPr>
          <a:xfrm>
            <a:off x="457200" y="2926080"/>
            <a:ext cx="8229600" cy="548640"/>
          </a:xfrm>
          <a:prstGeom prst="rect">
            <a:avLst/>
          </a:prstGeom>
          <a:noFill/>
          <a:ln/>
        </p:spPr>
        <p:txBody>
          <a:bodyPr wrap="square" rtlCol="0" anchor="ctr"/>
          <a:lstStyle/>
          <a:p>
            <a:pPr algn="ctr" indent="0" marL="0">
              <a:buNone/>
            </a:pPr>
            <a:r>
              <a:rPr lang="en-US" sz="2000" dirty="0">
                <a:solidFill>
                  <a:srgbClr val="00C9B1"/>
                </a:solidFill>
                <a:latin typeface="Calibri" pitchFamily="34" charset="0"/>
                <a:ea typeface="Calibri" pitchFamily="34" charset="-122"/>
                <a:cs typeface="Calibri" pitchFamily="34" charset="-120"/>
              </a:rPr>
              <a:t>K-12 uchun sun'iy intellekt platformasi</a:t>
            </a:r>
            <a:endParaRPr lang="en-US" sz="2000" dirty="0"/>
          </a:p>
        </p:txBody>
      </p:sp>
      <p:sp>
        <p:nvSpPr>
          <p:cNvPr id="9" name="Text 6"/>
          <p:cNvSpPr/>
          <p:nvPr/>
        </p:nvSpPr>
        <p:spPr>
          <a:xfrm>
            <a:off x="457200" y="3520440"/>
            <a:ext cx="8229600" cy="457200"/>
          </a:xfrm>
          <a:prstGeom prst="rect">
            <a:avLst/>
          </a:prstGeom>
          <a:noFill/>
          <a:ln/>
        </p:spPr>
        <p:txBody>
          <a:bodyPr wrap="square" rtlCol="0" anchor="ctr"/>
          <a:lstStyle/>
          <a:p>
            <a:pPr algn="ctr" indent="0" marL="0">
              <a:buNone/>
            </a:pPr>
            <a:r>
              <a:rPr lang="en-US" sz="1200" i="1" dirty="0">
                <a:solidFill>
                  <a:srgbClr val="8FA4C4"/>
                </a:solidFill>
                <a:latin typeface="Calibri" pitchFamily="34" charset="0"/>
                <a:ea typeface="Calibri" pitchFamily="34" charset="-122"/>
                <a:cs typeface="Calibri" pitchFamily="34" charset="-120"/>
              </a:rPr>
              <a:t>Har bir o'quvchiga diqqat · Har bir o'qituvchiga kuch · Har bir iste'dodga imkon</a:t>
            </a:r>
            <a:endParaRPr lang="en-US" sz="1200" dirty="0"/>
          </a:p>
        </p:txBody>
      </p:sp>
      <p:sp>
        <p:nvSpPr>
          <p:cNvPr id="10" name="Shape 7"/>
          <p:cNvSpPr/>
          <p:nvPr/>
        </p:nvSpPr>
        <p:spPr>
          <a:xfrm>
            <a:off x="3200400" y="4434840"/>
            <a:ext cx="2743200" cy="457200"/>
          </a:xfrm>
          <a:prstGeom prst="rect">
            <a:avLst/>
          </a:prstGeom>
          <a:solidFill>
            <a:srgbClr val="F5A623"/>
          </a:solidFill>
          <a:ln/>
        </p:spPr>
      </p:sp>
      <p:sp>
        <p:nvSpPr>
          <p:cNvPr id="11" name="Text 8"/>
          <p:cNvSpPr/>
          <p:nvPr/>
        </p:nvSpPr>
        <p:spPr>
          <a:xfrm>
            <a:off x="3200400" y="4434840"/>
            <a:ext cx="2743200" cy="457200"/>
          </a:xfrm>
          <a:prstGeom prst="rect">
            <a:avLst/>
          </a:prstGeom>
          <a:noFill/>
          <a:ln/>
        </p:spPr>
        <p:txBody>
          <a:bodyPr wrap="square" rtlCol="0" anchor="ctr"/>
          <a:lstStyle/>
          <a:p>
            <a:pPr algn="ctr" indent="0" marL="0">
              <a:buNone/>
            </a:pPr>
            <a:r>
              <a:rPr lang="en-US" sz="1400" b="1" dirty="0">
                <a:solidFill>
                  <a:srgbClr val="0A1628"/>
                </a:solidFill>
                <a:latin typeface="Trebuchet MS" pitchFamily="34" charset="0"/>
                <a:ea typeface="Trebuchet MS" pitchFamily="34" charset="-122"/>
                <a:cs typeface="Trebuchet MS" pitchFamily="34" charset="-120"/>
              </a:rPr>
              <a:t>Xakaton 2025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F6B6B"/>
          </a:solidFill>
          <a:ln/>
        </p:spPr>
      </p:sp>
      <p:sp>
        <p:nvSpPr>
          <p:cNvPr id="3" name="Text 1"/>
          <p:cNvSpPr/>
          <p:nvPr/>
        </p:nvSpPr>
        <p:spPr>
          <a:xfrm>
            <a:off x="274320" y="182880"/>
            <a:ext cx="8686800" cy="594360"/>
          </a:xfrm>
          <a:prstGeom prst="rect">
            <a:avLst/>
          </a:prstGeom>
          <a:noFill/>
          <a:ln/>
        </p:spPr>
        <p:txBody>
          <a:bodyPr wrap="square" lIns="0" tIns="0" rIns="0" bIns="0" rtlCol="0" anchor="ctr"/>
          <a:lstStyle/>
          <a:p>
            <a:pPr indent="0" marL="0">
              <a:buNone/>
            </a:pPr>
            <a:r>
              <a:rPr lang="en-US" sz="2800" b="1" dirty="0">
                <a:solidFill>
                  <a:srgbClr val="0A1628"/>
                </a:solidFill>
                <a:latin typeface="Trebuchet MS" pitchFamily="34" charset="0"/>
                <a:ea typeface="Trebuchet MS" pitchFamily="34" charset="-122"/>
                <a:cs typeface="Trebuchet MS" pitchFamily="34" charset="-120"/>
              </a:rPr>
              <a:t>Muammo — Chalg'igan o'quvchilar</a:t>
            </a:r>
            <a:endParaRPr lang="en-US" sz="2800" dirty="0"/>
          </a:p>
        </p:txBody>
      </p:sp>
      <p:sp>
        <p:nvSpPr>
          <p:cNvPr id="4" name="Text 2"/>
          <p:cNvSpPr/>
          <p:nvPr/>
        </p:nvSpPr>
        <p:spPr>
          <a:xfrm>
            <a:off x="274320" y="822960"/>
            <a:ext cx="8686800" cy="365760"/>
          </a:xfrm>
          <a:prstGeom prst="rect">
            <a:avLst/>
          </a:prstGeom>
          <a:noFill/>
          <a:ln/>
        </p:spPr>
        <p:txBody>
          <a:bodyPr wrap="square" rtlCol="0" anchor="ctr"/>
          <a:lstStyle/>
          <a:p>
            <a:pPr indent="0" marL="0">
              <a:buNone/>
            </a:pPr>
            <a:r>
              <a:rPr lang="en-US" sz="1300" i="1" dirty="0">
                <a:solidFill>
                  <a:srgbClr val="8FA4C4"/>
                </a:solidFill>
                <a:latin typeface="Calibri" pitchFamily="34" charset="0"/>
                <a:ea typeface="Calibri" pitchFamily="34" charset="-122"/>
                <a:cs typeface="Calibri" pitchFamily="34" charset="-120"/>
              </a:rPr>
              <a:t>Sinfdagi diqqat inqirozda — va bu to'g'ridan-to'g'ri o'quv natijalariga zarar yetkazadi</a:t>
            </a:r>
            <a:endParaRPr lang="en-US" sz="1300" dirty="0"/>
          </a:p>
        </p:txBody>
      </p:sp>
      <p:sp>
        <p:nvSpPr>
          <p:cNvPr id="5" name="Shape 3"/>
          <p:cNvSpPr/>
          <p:nvPr/>
        </p:nvSpPr>
        <p:spPr>
          <a:xfrm>
            <a:off x="228600" y="1325880"/>
            <a:ext cx="1965960" cy="13716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228600" y="1325880"/>
            <a:ext cx="1965960" cy="54864"/>
          </a:xfrm>
          <a:prstGeom prst="rect">
            <a:avLst/>
          </a:prstGeom>
          <a:solidFill>
            <a:srgbClr val="FF6B6B"/>
          </a:solidFill>
          <a:ln/>
        </p:spPr>
      </p:sp>
      <p:sp>
        <p:nvSpPr>
          <p:cNvPr id="7" name="Text 5"/>
          <p:cNvSpPr/>
          <p:nvPr/>
        </p:nvSpPr>
        <p:spPr>
          <a:xfrm>
            <a:off x="228600" y="1417320"/>
            <a:ext cx="1965960" cy="640080"/>
          </a:xfrm>
          <a:prstGeom prst="rect">
            <a:avLst/>
          </a:prstGeom>
          <a:noFill/>
          <a:ln/>
        </p:spPr>
        <p:txBody>
          <a:bodyPr wrap="square" lIns="0" tIns="0" rIns="0" bIns="0" rtlCol="0" anchor="ctr"/>
          <a:lstStyle/>
          <a:p>
            <a:pPr algn="ctr" indent="0" marL="0">
              <a:buNone/>
            </a:pPr>
            <a:r>
              <a:rPr lang="en-US" sz="2800" b="1" dirty="0">
                <a:solidFill>
                  <a:srgbClr val="FF6B6B"/>
                </a:solidFill>
                <a:latin typeface="Trebuchet MS" pitchFamily="34" charset="0"/>
                <a:ea typeface="Trebuchet MS" pitchFamily="34" charset="-122"/>
                <a:cs typeface="Trebuchet MS" pitchFamily="34" charset="-120"/>
              </a:rPr>
              <a:t>72%</a:t>
            </a:r>
            <a:endParaRPr lang="en-US" sz="2800" dirty="0"/>
          </a:p>
        </p:txBody>
      </p:sp>
      <p:sp>
        <p:nvSpPr>
          <p:cNvPr id="8" name="Text 6"/>
          <p:cNvSpPr/>
          <p:nvPr/>
        </p:nvSpPr>
        <p:spPr>
          <a:xfrm>
            <a:off x="320040" y="2057400"/>
            <a:ext cx="1783080" cy="548640"/>
          </a:xfrm>
          <a:prstGeom prst="rect">
            <a:avLst/>
          </a:prstGeom>
          <a:noFill/>
          <a:ln/>
        </p:spPr>
        <p:txBody>
          <a:bodyPr wrap="square" rtlCol="0" anchor="ctr"/>
          <a:lstStyle/>
          <a:p>
            <a:pPr algn="ctr" indent="0" marL="0">
              <a:buNone/>
            </a:pPr>
            <a:r>
              <a:rPr lang="en-US" sz="1100" dirty="0">
                <a:solidFill>
                  <a:srgbClr val="2C3E5A"/>
                </a:solidFill>
                <a:latin typeface="Calibri" pitchFamily="34" charset="0"/>
                <a:ea typeface="Calibri" pitchFamily="34" charset="-122"/>
                <a:cs typeface="Calibri" pitchFamily="34" charset="-120"/>
              </a:rPr>
              <a:t>O'qituvchilar telefon chalg'itishini ASOSIY muammo deydi (Pew Research, 2024)</a:t>
            </a:r>
            <a:endParaRPr lang="en-US" sz="1100" dirty="0"/>
          </a:p>
        </p:txBody>
      </p:sp>
      <p:sp>
        <p:nvSpPr>
          <p:cNvPr id="9" name="Shape 7"/>
          <p:cNvSpPr/>
          <p:nvPr/>
        </p:nvSpPr>
        <p:spPr>
          <a:xfrm>
            <a:off x="2377440" y="1325880"/>
            <a:ext cx="1965960" cy="13716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0" name="Shape 8"/>
          <p:cNvSpPr/>
          <p:nvPr/>
        </p:nvSpPr>
        <p:spPr>
          <a:xfrm>
            <a:off x="2377440" y="1325880"/>
            <a:ext cx="1965960" cy="54864"/>
          </a:xfrm>
          <a:prstGeom prst="rect">
            <a:avLst/>
          </a:prstGeom>
          <a:solidFill>
            <a:srgbClr val="FF6B6B"/>
          </a:solidFill>
          <a:ln/>
        </p:spPr>
      </p:sp>
      <p:sp>
        <p:nvSpPr>
          <p:cNvPr id="11" name="Text 9"/>
          <p:cNvSpPr/>
          <p:nvPr/>
        </p:nvSpPr>
        <p:spPr>
          <a:xfrm>
            <a:off x="2377440" y="1417320"/>
            <a:ext cx="1965960" cy="640080"/>
          </a:xfrm>
          <a:prstGeom prst="rect">
            <a:avLst/>
          </a:prstGeom>
          <a:noFill/>
          <a:ln/>
        </p:spPr>
        <p:txBody>
          <a:bodyPr wrap="square" lIns="0" tIns="0" rIns="0" bIns="0" rtlCol="0" anchor="ctr"/>
          <a:lstStyle/>
          <a:p>
            <a:pPr algn="ctr" indent="0" marL="0">
              <a:buNone/>
            </a:pPr>
            <a:r>
              <a:rPr lang="en-US" sz="2800" b="1" dirty="0">
                <a:solidFill>
                  <a:srgbClr val="FF6B6B"/>
                </a:solidFill>
                <a:latin typeface="Trebuchet MS" pitchFamily="34" charset="0"/>
                <a:ea typeface="Trebuchet MS" pitchFamily="34" charset="-122"/>
                <a:cs typeface="Trebuchet MS" pitchFamily="34" charset="-120"/>
              </a:rPr>
              <a:t>32%</a:t>
            </a:r>
            <a:endParaRPr lang="en-US" sz="2800" dirty="0"/>
          </a:p>
        </p:txBody>
      </p:sp>
      <p:sp>
        <p:nvSpPr>
          <p:cNvPr id="12" name="Text 10"/>
          <p:cNvSpPr/>
          <p:nvPr/>
        </p:nvSpPr>
        <p:spPr>
          <a:xfrm>
            <a:off x="2468880" y="2057400"/>
            <a:ext cx="1783080" cy="548640"/>
          </a:xfrm>
          <a:prstGeom prst="rect">
            <a:avLst/>
          </a:prstGeom>
          <a:noFill/>
          <a:ln/>
        </p:spPr>
        <p:txBody>
          <a:bodyPr wrap="square" rtlCol="0" anchor="ctr"/>
          <a:lstStyle/>
          <a:p>
            <a:pPr algn="ctr" indent="0" marL="0">
              <a:buNone/>
            </a:pPr>
            <a:r>
              <a:rPr lang="en-US" sz="1100" dirty="0">
                <a:solidFill>
                  <a:srgbClr val="2C3E5A"/>
                </a:solidFill>
                <a:latin typeface="Calibri" pitchFamily="34" charset="0"/>
                <a:ea typeface="Calibri" pitchFamily="34" charset="-122"/>
                <a:cs typeface="Calibri" pitchFamily="34" charset="-120"/>
              </a:rPr>
              <a:t>Smartfonlarga ruxsat berilganda o'quv samaradorligi pasayishi (ISR, 2022)</a:t>
            </a:r>
            <a:endParaRPr lang="en-US" sz="1100" dirty="0"/>
          </a:p>
        </p:txBody>
      </p:sp>
      <p:sp>
        <p:nvSpPr>
          <p:cNvPr id="13" name="Shape 11"/>
          <p:cNvSpPr/>
          <p:nvPr/>
        </p:nvSpPr>
        <p:spPr>
          <a:xfrm>
            <a:off x="4526280" y="1325880"/>
            <a:ext cx="1965960" cy="13716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4" name="Shape 12"/>
          <p:cNvSpPr/>
          <p:nvPr/>
        </p:nvSpPr>
        <p:spPr>
          <a:xfrm>
            <a:off x="4526280" y="1325880"/>
            <a:ext cx="1965960" cy="54864"/>
          </a:xfrm>
          <a:prstGeom prst="rect">
            <a:avLst/>
          </a:prstGeom>
          <a:solidFill>
            <a:srgbClr val="FF6B6B"/>
          </a:solidFill>
          <a:ln/>
        </p:spPr>
      </p:sp>
      <p:sp>
        <p:nvSpPr>
          <p:cNvPr id="15" name="Text 13"/>
          <p:cNvSpPr/>
          <p:nvPr/>
        </p:nvSpPr>
        <p:spPr>
          <a:xfrm>
            <a:off x="4526280" y="1417320"/>
            <a:ext cx="1965960" cy="640080"/>
          </a:xfrm>
          <a:prstGeom prst="rect">
            <a:avLst/>
          </a:prstGeom>
          <a:noFill/>
          <a:ln/>
        </p:spPr>
        <p:txBody>
          <a:bodyPr wrap="square" lIns="0" tIns="0" rIns="0" bIns="0" rtlCol="0" anchor="ctr"/>
          <a:lstStyle/>
          <a:p>
            <a:pPr algn="ctr" indent="0" marL="0">
              <a:buNone/>
            </a:pPr>
            <a:r>
              <a:rPr lang="en-US" sz="2800" b="1" dirty="0">
                <a:solidFill>
                  <a:srgbClr val="FF6B6B"/>
                </a:solidFill>
                <a:latin typeface="Trebuchet MS" pitchFamily="34" charset="0"/>
                <a:ea typeface="Trebuchet MS" pitchFamily="34" charset="-122"/>
                <a:cs typeface="Trebuchet MS" pitchFamily="34" charset="-120"/>
              </a:rPr>
              <a:t>67%</a:t>
            </a:r>
            <a:endParaRPr lang="en-US" sz="2800" dirty="0"/>
          </a:p>
        </p:txBody>
      </p:sp>
      <p:sp>
        <p:nvSpPr>
          <p:cNvPr id="16" name="Text 14"/>
          <p:cNvSpPr/>
          <p:nvPr/>
        </p:nvSpPr>
        <p:spPr>
          <a:xfrm>
            <a:off x="4617720" y="2057400"/>
            <a:ext cx="1783080" cy="548640"/>
          </a:xfrm>
          <a:prstGeom prst="rect">
            <a:avLst/>
          </a:prstGeom>
          <a:noFill/>
          <a:ln/>
        </p:spPr>
        <p:txBody>
          <a:bodyPr wrap="square" rtlCol="0" anchor="ctr"/>
          <a:lstStyle/>
          <a:p>
            <a:pPr algn="ctr" indent="0" marL="0">
              <a:buNone/>
            </a:pPr>
            <a:r>
              <a:rPr lang="en-US" sz="1100" dirty="0">
                <a:solidFill>
                  <a:srgbClr val="2C3E5A"/>
                </a:solidFill>
                <a:latin typeface="Calibri" pitchFamily="34" charset="0"/>
                <a:ea typeface="Calibri" pitchFamily="34" charset="-122"/>
                <a:cs typeface="Calibri" pitchFamily="34" charset="-120"/>
              </a:rPr>
              <a:t>AQSh o'quvchilari o'z qurilmalari tufayli chalg'igan (PISA 2022)</a:t>
            </a:r>
            <a:endParaRPr lang="en-US" sz="1100" dirty="0"/>
          </a:p>
        </p:txBody>
      </p:sp>
      <p:sp>
        <p:nvSpPr>
          <p:cNvPr id="17" name="Shape 15"/>
          <p:cNvSpPr/>
          <p:nvPr/>
        </p:nvSpPr>
        <p:spPr>
          <a:xfrm>
            <a:off x="6675120" y="1325880"/>
            <a:ext cx="1965960" cy="13716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8" name="Shape 16"/>
          <p:cNvSpPr/>
          <p:nvPr/>
        </p:nvSpPr>
        <p:spPr>
          <a:xfrm>
            <a:off x="6675120" y="1325880"/>
            <a:ext cx="1965960" cy="54864"/>
          </a:xfrm>
          <a:prstGeom prst="rect">
            <a:avLst/>
          </a:prstGeom>
          <a:solidFill>
            <a:srgbClr val="FF6B6B"/>
          </a:solidFill>
          <a:ln/>
        </p:spPr>
      </p:sp>
      <p:sp>
        <p:nvSpPr>
          <p:cNvPr id="19" name="Text 17"/>
          <p:cNvSpPr/>
          <p:nvPr/>
        </p:nvSpPr>
        <p:spPr>
          <a:xfrm>
            <a:off x="6675120" y="1417320"/>
            <a:ext cx="1965960" cy="640080"/>
          </a:xfrm>
          <a:prstGeom prst="rect">
            <a:avLst/>
          </a:prstGeom>
          <a:noFill/>
          <a:ln/>
        </p:spPr>
        <p:txBody>
          <a:bodyPr wrap="square" lIns="0" tIns="0" rIns="0" bIns="0" rtlCol="0" anchor="ctr"/>
          <a:lstStyle/>
          <a:p>
            <a:pPr algn="ctr" indent="0" marL="0">
              <a:buNone/>
            </a:pPr>
            <a:r>
              <a:rPr lang="en-US" sz="2800" b="1" dirty="0">
                <a:solidFill>
                  <a:srgbClr val="FF6B6B"/>
                </a:solidFill>
                <a:latin typeface="Trebuchet MS" pitchFamily="34" charset="0"/>
                <a:ea typeface="Trebuchet MS" pitchFamily="34" charset="-122"/>
                <a:cs typeface="Trebuchet MS" pitchFamily="34" charset="-120"/>
              </a:rPr>
              <a:t>54%</a:t>
            </a:r>
            <a:endParaRPr lang="en-US" sz="2800" dirty="0"/>
          </a:p>
        </p:txBody>
      </p:sp>
      <p:sp>
        <p:nvSpPr>
          <p:cNvPr id="20" name="Text 18"/>
          <p:cNvSpPr/>
          <p:nvPr/>
        </p:nvSpPr>
        <p:spPr>
          <a:xfrm>
            <a:off x="6766560" y="2057400"/>
            <a:ext cx="1783080" cy="548640"/>
          </a:xfrm>
          <a:prstGeom prst="rect">
            <a:avLst/>
          </a:prstGeom>
          <a:noFill/>
          <a:ln/>
        </p:spPr>
        <p:txBody>
          <a:bodyPr wrap="square" rtlCol="0" anchor="ctr"/>
          <a:lstStyle/>
          <a:p>
            <a:pPr algn="ctr" indent="0" marL="0">
              <a:buNone/>
            </a:pPr>
            <a:r>
              <a:rPr lang="en-US" sz="1100" dirty="0">
                <a:solidFill>
                  <a:srgbClr val="2C3E5A"/>
                </a:solidFill>
                <a:latin typeface="Calibri" pitchFamily="34" charset="0"/>
                <a:ea typeface="Calibri" pitchFamily="34" charset="-122"/>
                <a:cs typeface="Calibri" pitchFamily="34" charset="-120"/>
              </a:rPr>
              <a:t>Boshqa o'quvchilarning qurilmalari tufayli chalg'igan o'quvchilar ulushi</a:t>
            </a:r>
            <a:endParaRPr lang="en-US" sz="1100" dirty="0"/>
          </a:p>
        </p:txBody>
      </p:sp>
      <p:sp>
        <p:nvSpPr>
          <p:cNvPr id="21" name="Text 19"/>
          <p:cNvSpPr/>
          <p:nvPr/>
        </p:nvSpPr>
        <p:spPr>
          <a:xfrm>
            <a:off x="228600" y="2880360"/>
            <a:ext cx="5029200" cy="365760"/>
          </a:xfrm>
          <a:prstGeom prst="rect">
            <a:avLst/>
          </a:prstGeom>
          <a:noFill/>
          <a:ln/>
        </p:spPr>
        <p:txBody>
          <a:bodyPr wrap="square" rtlCol="0" anchor="ctr"/>
          <a:lstStyle/>
          <a:p>
            <a:pPr indent="0" marL="0">
              <a:buNone/>
            </a:pPr>
            <a:r>
              <a:rPr lang="en-US" sz="1400" b="1" dirty="0">
                <a:solidFill>
                  <a:srgbClr val="2C3E5A"/>
                </a:solidFill>
                <a:latin typeface="Trebuchet MS" pitchFamily="34" charset="0"/>
                <a:ea typeface="Trebuchet MS" pitchFamily="34" charset="-122"/>
                <a:cs typeface="Trebuchet MS" pitchFamily="34" charset="-120"/>
              </a:rPr>
              <a:t>Nima uchun sun'iy intellekt kerak?</a:t>
            </a:r>
            <a:endParaRPr lang="en-US" sz="1400" dirty="0"/>
          </a:p>
        </p:txBody>
      </p:sp>
      <p:sp>
        <p:nvSpPr>
          <p:cNvPr id="22" name="Shape 20"/>
          <p:cNvSpPr/>
          <p:nvPr/>
        </p:nvSpPr>
        <p:spPr>
          <a:xfrm>
            <a:off x="228600" y="3337560"/>
            <a:ext cx="201168" cy="201168"/>
          </a:xfrm>
          <a:prstGeom prst="oval">
            <a:avLst/>
          </a:prstGeom>
          <a:solidFill>
            <a:srgbClr val="FF6B6B"/>
          </a:solidFill>
          <a:ln/>
        </p:spPr>
      </p:sp>
      <p:sp>
        <p:nvSpPr>
          <p:cNvPr id="23" name="Text 21"/>
          <p:cNvSpPr/>
          <p:nvPr/>
        </p:nvSpPr>
        <p:spPr>
          <a:xfrm>
            <a:off x="548640" y="3291840"/>
            <a:ext cx="4389120" cy="347472"/>
          </a:xfrm>
          <a:prstGeom prst="rect">
            <a:avLst/>
          </a:prstGeom>
          <a:noFill/>
          <a:ln/>
        </p:spPr>
        <p:txBody>
          <a:bodyPr wrap="square" rtlCol="0" anchor="ctr"/>
          <a:lstStyle/>
          <a:p>
            <a:pPr indent="0" marL="0">
              <a:buNone/>
            </a:pPr>
            <a:r>
              <a:rPr lang="en-US" sz="1200" dirty="0">
                <a:solidFill>
                  <a:srgbClr val="2C3E5A"/>
                </a:solidFill>
                <a:latin typeface="Calibri" pitchFamily="34" charset="0"/>
                <a:ea typeface="Calibri" pitchFamily="34" charset="-122"/>
                <a:cs typeface="Calibri" pitchFamily="34" charset="-120"/>
              </a:rPr>
              <a:t>O'quv yili davomida o'quvchilar tobora ko'proq chalg'iy boshlaydi</a:t>
            </a:r>
            <a:endParaRPr lang="en-US" sz="1200" dirty="0"/>
          </a:p>
        </p:txBody>
      </p:sp>
      <p:sp>
        <p:nvSpPr>
          <p:cNvPr id="24" name="Shape 22"/>
          <p:cNvSpPr/>
          <p:nvPr/>
        </p:nvSpPr>
        <p:spPr>
          <a:xfrm>
            <a:off x="228600" y="3749040"/>
            <a:ext cx="201168" cy="201168"/>
          </a:xfrm>
          <a:prstGeom prst="oval">
            <a:avLst/>
          </a:prstGeom>
          <a:solidFill>
            <a:srgbClr val="FF6B6B"/>
          </a:solidFill>
          <a:ln/>
        </p:spPr>
      </p:sp>
      <p:sp>
        <p:nvSpPr>
          <p:cNvPr id="25" name="Text 23"/>
          <p:cNvSpPr/>
          <p:nvPr/>
        </p:nvSpPr>
        <p:spPr>
          <a:xfrm>
            <a:off x="548640" y="3703320"/>
            <a:ext cx="4389120" cy="347472"/>
          </a:xfrm>
          <a:prstGeom prst="rect">
            <a:avLst/>
          </a:prstGeom>
          <a:noFill/>
          <a:ln/>
        </p:spPr>
        <p:txBody>
          <a:bodyPr wrap="square" rtlCol="0" anchor="ctr"/>
          <a:lstStyle/>
          <a:p>
            <a:pPr indent="0" marL="0">
              <a:buNone/>
            </a:pPr>
            <a:r>
              <a:rPr lang="en-US" sz="1200" dirty="0">
                <a:solidFill>
                  <a:srgbClr val="2C3E5A"/>
                </a:solidFill>
                <a:latin typeface="Calibri" pitchFamily="34" charset="0"/>
                <a:ea typeface="Calibri" pitchFamily="34" charset="-122"/>
                <a:cs typeface="Calibri" pitchFamily="34" charset="-120"/>
              </a:rPr>
              <a:t>Uzoq darslar = vazifadan chalg'ish keskin oshadi</a:t>
            </a:r>
            <a:endParaRPr lang="en-US" sz="1200" dirty="0"/>
          </a:p>
        </p:txBody>
      </p:sp>
      <p:sp>
        <p:nvSpPr>
          <p:cNvPr id="26" name="Shape 24"/>
          <p:cNvSpPr/>
          <p:nvPr/>
        </p:nvSpPr>
        <p:spPr>
          <a:xfrm>
            <a:off x="228600" y="4160520"/>
            <a:ext cx="201168" cy="201168"/>
          </a:xfrm>
          <a:prstGeom prst="oval">
            <a:avLst/>
          </a:prstGeom>
          <a:solidFill>
            <a:srgbClr val="FF6B6B"/>
          </a:solidFill>
          <a:ln/>
        </p:spPr>
      </p:sp>
      <p:sp>
        <p:nvSpPr>
          <p:cNvPr id="27" name="Text 25"/>
          <p:cNvSpPr/>
          <p:nvPr/>
        </p:nvSpPr>
        <p:spPr>
          <a:xfrm>
            <a:off x="548640" y="4114800"/>
            <a:ext cx="4389120" cy="347472"/>
          </a:xfrm>
          <a:prstGeom prst="rect">
            <a:avLst/>
          </a:prstGeom>
          <a:noFill/>
          <a:ln/>
        </p:spPr>
        <p:txBody>
          <a:bodyPr wrap="square" rtlCol="0" anchor="ctr"/>
          <a:lstStyle/>
          <a:p>
            <a:pPr indent="0" marL="0">
              <a:buNone/>
            </a:pPr>
            <a:r>
              <a:rPr lang="en-US" sz="1200" dirty="0">
                <a:solidFill>
                  <a:srgbClr val="2C3E5A"/>
                </a:solidFill>
                <a:latin typeface="Calibri" pitchFamily="34" charset="0"/>
                <a:ea typeface="Calibri" pitchFamily="34" charset="-122"/>
                <a:cs typeface="Calibri" pitchFamily="34" charset="-120"/>
              </a:rPr>
              <a:t>Bitta o'qituvchi 35+ o'quvchini bir vaqtda nazorat eta olmaydi</a:t>
            </a:r>
            <a:endParaRPr lang="en-US" sz="1200" dirty="0"/>
          </a:p>
        </p:txBody>
      </p:sp>
      <p:sp>
        <p:nvSpPr>
          <p:cNvPr id="28" name="Shape 26"/>
          <p:cNvSpPr/>
          <p:nvPr/>
        </p:nvSpPr>
        <p:spPr>
          <a:xfrm>
            <a:off x="228600" y="4572000"/>
            <a:ext cx="201168" cy="201168"/>
          </a:xfrm>
          <a:prstGeom prst="oval">
            <a:avLst/>
          </a:prstGeom>
          <a:solidFill>
            <a:srgbClr val="FF6B6B"/>
          </a:solidFill>
          <a:ln/>
        </p:spPr>
      </p:sp>
      <p:sp>
        <p:nvSpPr>
          <p:cNvPr id="29" name="Text 27"/>
          <p:cNvSpPr/>
          <p:nvPr/>
        </p:nvSpPr>
        <p:spPr>
          <a:xfrm>
            <a:off x="548640" y="4526280"/>
            <a:ext cx="4389120" cy="347472"/>
          </a:xfrm>
          <a:prstGeom prst="rect">
            <a:avLst/>
          </a:prstGeom>
          <a:noFill/>
          <a:ln/>
        </p:spPr>
        <p:txBody>
          <a:bodyPr wrap="square" rtlCol="0" anchor="ctr"/>
          <a:lstStyle/>
          <a:p>
            <a:pPr indent="0" marL="0">
              <a:buNone/>
            </a:pPr>
            <a:r>
              <a:rPr lang="en-US" sz="1200" dirty="0">
                <a:solidFill>
                  <a:srgbClr val="2C3E5A"/>
                </a:solidFill>
                <a:latin typeface="Calibri" pitchFamily="34" charset="0"/>
                <a:ea typeface="Calibri" pitchFamily="34" charset="-122"/>
                <a:cs typeface="Calibri" pitchFamily="34" charset="-120"/>
              </a:rPr>
              <a:t>An'anaviy aralashuv juda kech keladi — baholar tushgandan keyin</a:t>
            </a:r>
            <a:endParaRPr lang="en-US" sz="1200" dirty="0"/>
          </a:p>
        </p:txBody>
      </p:sp>
      <p:sp>
        <p:nvSpPr>
          <p:cNvPr id="30" name="Shape 28"/>
          <p:cNvSpPr/>
          <p:nvPr/>
        </p:nvSpPr>
        <p:spPr>
          <a:xfrm>
            <a:off x="5486400" y="2834640"/>
            <a:ext cx="3383280" cy="2103120"/>
          </a:xfrm>
          <a:prstGeom prst="rect">
            <a:avLst/>
          </a:prstGeom>
          <a:solidFill>
            <a:srgbClr val="F0F4FA"/>
          </a:solidFill>
          <a:ln/>
        </p:spPr>
      </p:sp>
      <p:sp>
        <p:nvSpPr>
          <p:cNvPr id="31" name="Text 29"/>
          <p:cNvSpPr/>
          <p:nvPr/>
        </p:nvSpPr>
        <p:spPr>
          <a:xfrm>
            <a:off x="5577840" y="2907792"/>
            <a:ext cx="3200400" cy="320040"/>
          </a:xfrm>
          <a:prstGeom prst="rect">
            <a:avLst/>
          </a:prstGeom>
          <a:noFill/>
          <a:ln/>
        </p:spPr>
        <p:txBody>
          <a:bodyPr wrap="square" rtlCol="0" anchor="ctr"/>
          <a:lstStyle/>
          <a:p>
            <a:pPr algn="ctr" indent="0" marL="0">
              <a:buNone/>
            </a:pPr>
            <a:r>
              <a:rPr lang="en-US" sz="1100" b="1" dirty="0">
                <a:solidFill>
                  <a:srgbClr val="2C3E5A"/>
                </a:solidFill>
                <a:latin typeface="Trebuchet MS" pitchFamily="34" charset="0"/>
                <a:ea typeface="Trebuchet MS" pitchFamily="34" charset="-122"/>
                <a:cs typeface="Trebuchet MS" pitchFamily="34" charset="-120"/>
              </a:rPr>
              <a:t>O'quvchi diqqati o'rtacha ko'rsatkich (%)</a:t>
            </a:r>
            <a:endParaRPr lang="en-US" sz="1100" dirty="0"/>
          </a:p>
        </p:txBody>
      </p:sp>
      <p:graphicFrame>
        <p:nvGraphicFramePr>
          <p:cNvPr id="32" name="Chart 0" descr=""/>
          <p:cNvGraphicFramePr/>
          <p:nvPr/>
        </p:nvGraphicFramePr>
        <p:xfrm>
          <a:off x="5486400" y="3200400"/>
          <a:ext cx="3383280" cy="17373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5A623"/>
          </a:solidFill>
          <a:ln/>
        </p:spPr>
      </p:sp>
      <p:sp>
        <p:nvSpPr>
          <p:cNvPr id="3" name="Text 1"/>
          <p:cNvSpPr/>
          <p:nvPr/>
        </p:nvSpPr>
        <p:spPr>
          <a:xfrm>
            <a:off x="274320" y="182880"/>
            <a:ext cx="8686800" cy="594360"/>
          </a:xfrm>
          <a:prstGeom prst="rect">
            <a:avLst/>
          </a:prstGeom>
          <a:noFill/>
          <a:ln/>
        </p:spPr>
        <p:txBody>
          <a:bodyPr wrap="square" lIns="0" tIns="0" rIns="0" bIns="0" rtlCol="0" anchor="ctr"/>
          <a:lstStyle/>
          <a:p>
            <a:pPr indent="0" marL="0">
              <a:buNone/>
            </a:pPr>
            <a:r>
              <a:rPr lang="en-US" sz="2800" b="1" dirty="0">
                <a:solidFill>
                  <a:srgbClr val="0A1628"/>
                </a:solidFill>
                <a:latin typeface="Trebuchet MS" pitchFamily="34" charset="0"/>
                <a:ea typeface="Trebuchet MS" pitchFamily="34" charset="-122"/>
                <a:cs typeface="Trebuchet MS" pitchFamily="34" charset="-120"/>
              </a:rPr>
              <a:t>Muammo — O'qituvchilar haddan tashqari band</a:t>
            </a:r>
            <a:endParaRPr lang="en-US" sz="2800" dirty="0"/>
          </a:p>
        </p:txBody>
      </p:sp>
      <p:sp>
        <p:nvSpPr>
          <p:cNvPr id="4" name="Text 2"/>
          <p:cNvSpPr/>
          <p:nvPr/>
        </p:nvSpPr>
        <p:spPr>
          <a:xfrm>
            <a:off x="274320" y="822960"/>
            <a:ext cx="8686800" cy="365760"/>
          </a:xfrm>
          <a:prstGeom prst="rect">
            <a:avLst/>
          </a:prstGeom>
          <a:noFill/>
          <a:ln/>
        </p:spPr>
        <p:txBody>
          <a:bodyPr wrap="square" rtlCol="0" anchor="ctr"/>
          <a:lstStyle/>
          <a:p>
            <a:pPr indent="0" marL="0">
              <a:buNone/>
            </a:pPr>
            <a:r>
              <a:rPr lang="en-US" sz="1300" i="1" dirty="0">
                <a:solidFill>
                  <a:srgbClr val="8FA4C4"/>
                </a:solidFill>
                <a:latin typeface="Calibri" pitchFamily="34" charset="0"/>
                <a:ea typeface="Calibri" pitchFamily="34" charset="-122"/>
                <a:cs typeface="Calibri" pitchFamily="34" charset="-120"/>
              </a:rPr>
              <a:t>O'qituvchilar o'quvchilardan ko'ra ko'proq ma'muriy ishga vaqt sarflaydi</a:t>
            </a:r>
            <a:endParaRPr lang="en-US" sz="1300" dirty="0"/>
          </a:p>
        </p:txBody>
      </p:sp>
      <p:sp>
        <p:nvSpPr>
          <p:cNvPr id="5" name="Shape 3"/>
          <p:cNvSpPr/>
          <p:nvPr/>
        </p:nvSpPr>
        <p:spPr>
          <a:xfrm>
            <a:off x="228600" y="1325880"/>
            <a:ext cx="1965960" cy="13716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228600" y="1325880"/>
            <a:ext cx="1965960" cy="54864"/>
          </a:xfrm>
          <a:prstGeom prst="rect">
            <a:avLst/>
          </a:prstGeom>
          <a:solidFill>
            <a:srgbClr val="F5A623"/>
          </a:solidFill>
          <a:ln/>
        </p:spPr>
      </p:sp>
      <p:sp>
        <p:nvSpPr>
          <p:cNvPr id="7" name="Text 5"/>
          <p:cNvSpPr/>
          <p:nvPr/>
        </p:nvSpPr>
        <p:spPr>
          <a:xfrm>
            <a:off x="228600" y="1417320"/>
            <a:ext cx="1965960" cy="640080"/>
          </a:xfrm>
          <a:prstGeom prst="rect">
            <a:avLst/>
          </a:prstGeom>
          <a:noFill/>
          <a:ln/>
        </p:spPr>
        <p:txBody>
          <a:bodyPr wrap="square" lIns="0" tIns="0" rIns="0" bIns="0" rtlCol="0" anchor="ctr"/>
          <a:lstStyle/>
          <a:p>
            <a:pPr algn="ctr" indent="0" marL="0">
              <a:buNone/>
            </a:pPr>
            <a:r>
              <a:rPr lang="en-US" sz="2800" b="1" dirty="0">
                <a:solidFill>
                  <a:srgbClr val="F5A623"/>
                </a:solidFill>
                <a:latin typeface="Trebuchet MS" pitchFamily="34" charset="0"/>
                <a:ea typeface="Trebuchet MS" pitchFamily="34" charset="-122"/>
                <a:cs typeface="Trebuchet MS" pitchFamily="34" charset="-120"/>
              </a:rPr>
              <a:t>7–10s</a:t>
            </a:r>
            <a:endParaRPr lang="en-US" sz="2800" dirty="0"/>
          </a:p>
        </p:txBody>
      </p:sp>
      <p:sp>
        <p:nvSpPr>
          <p:cNvPr id="8" name="Text 6"/>
          <p:cNvSpPr/>
          <p:nvPr/>
        </p:nvSpPr>
        <p:spPr>
          <a:xfrm>
            <a:off x="320040" y="2057400"/>
            <a:ext cx="1783080" cy="548640"/>
          </a:xfrm>
          <a:prstGeom prst="rect">
            <a:avLst/>
          </a:prstGeom>
          <a:noFill/>
          <a:ln/>
        </p:spPr>
        <p:txBody>
          <a:bodyPr wrap="square" rtlCol="0" anchor="ctr"/>
          <a:lstStyle/>
          <a:p>
            <a:pPr algn="ctr" indent="0" marL="0">
              <a:buNone/>
            </a:pPr>
            <a:r>
              <a:rPr lang="en-US" sz="1100" dirty="0">
                <a:solidFill>
                  <a:srgbClr val="2C3E5A"/>
                </a:solidFill>
                <a:latin typeface="Calibri" pitchFamily="34" charset="0"/>
                <a:ea typeface="Calibri" pitchFamily="34" charset="-122"/>
                <a:cs typeface="Calibri" pitchFamily="34" charset="-120"/>
              </a:rPr>
              <a:t>Haftasiga baholashga ketadigan soatlar (NEA tadqiqoti, 2024)</a:t>
            </a:r>
            <a:endParaRPr lang="en-US" sz="1100" dirty="0"/>
          </a:p>
        </p:txBody>
      </p:sp>
      <p:sp>
        <p:nvSpPr>
          <p:cNvPr id="9" name="Shape 7"/>
          <p:cNvSpPr/>
          <p:nvPr/>
        </p:nvSpPr>
        <p:spPr>
          <a:xfrm>
            <a:off x="2377440" y="1325880"/>
            <a:ext cx="1965960" cy="13716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0" name="Shape 8"/>
          <p:cNvSpPr/>
          <p:nvPr/>
        </p:nvSpPr>
        <p:spPr>
          <a:xfrm>
            <a:off x="2377440" y="1325880"/>
            <a:ext cx="1965960" cy="54864"/>
          </a:xfrm>
          <a:prstGeom prst="rect">
            <a:avLst/>
          </a:prstGeom>
          <a:solidFill>
            <a:srgbClr val="F5A623"/>
          </a:solidFill>
          <a:ln/>
        </p:spPr>
      </p:sp>
      <p:sp>
        <p:nvSpPr>
          <p:cNvPr id="11" name="Text 9"/>
          <p:cNvSpPr/>
          <p:nvPr/>
        </p:nvSpPr>
        <p:spPr>
          <a:xfrm>
            <a:off x="2377440" y="1417320"/>
            <a:ext cx="1965960" cy="640080"/>
          </a:xfrm>
          <a:prstGeom prst="rect">
            <a:avLst/>
          </a:prstGeom>
          <a:noFill/>
          <a:ln/>
        </p:spPr>
        <p:txBody>
          <a:bodyPr wrap="square" lIns="0" tIns="0" rIns="0" bIns="0" rtlCol="0" anchor="ctr"/>
          <a:lstStyle/>
          <a:p>
            <a:pPr algn="ctr" indent="0" marL="0">
              <a:buNone/>
            </a:pPr>
            <a:r>
              <a:rPr lang="en-US" sz="2800" b="1" dirty="0">
                <a:solidFill>
                  <a:srgbClr val="F5A623"/>
                </a:solidFill>
                <a:latin typeface="Trebuchet MS" pitchFamily="34" charset="0"/>
                <a:ea typeface="Trebuchet MS" pitchFamily="34" charset="-122"/>
                <a:cs typeface="Trebuchet MS" pitchFamily="34" charset="-120"/>
              </a:rPr>
              <a:t>140s</a:t>
            </a:r>
            <a:endParaRPr lang="en-US" sz="2800" dirty="0"/>
          </a:p>
        </p:txBody>
      </p:sp>
      <p:sp>
        <p:nvSpPr>
          <p:cNvPr id="12" name="Text 10"/>
          <p:cNvSpPr/>
          <p:nvPr/>
        </p:nvSpPr>
        <p:spPr>
          <a:xfrm>
            <a:off x="2468880" y="2057400"/>
            <a:ext cx="1783080" cy="548640"/>
          </a:xfrm>
          <a:prstGeom prst="rect">
            <a:avLst/>
          </a:prstGeom>
          <a:noFill/>
          <a:ln/>
        </p:spPr>
        <p:txBody>
          <a:bodyPr wrap="square" rtlCol="0" anchor="ctr"/>
          <a:lstStyle/>
          <a:p>
            <a:pPr algn="ctr" indent="0" marL="0">
              <a:buNone/>
            </a:pPr>
            <a:r>
              <a:rPr lang="en-US" sz="1100" dirty="0">
                <a:solidFill>
                  <a:srgbClr val="2C3E5A"/>
                </a:solidFill>
                <a:latin typeface="Calibri" pitchFamily="34" charset="0"/>
                <a:ea typeface="Calibri" pitchFamily="34" charset="-122"/>
                <a:cs typeface="Calibri" pitchFamily="34" charset="-120"/>
              </a:rPr>
              <a:t>Yillik fikr-mulohaza va baholashga sarflangan soatlar (2024)</a:t>
            </a:r>
            <a:endParaRPr lang="en-US" sz="1100" dirty="0"/>
          </a:p>
        </p:txBody>
      </p:sp>
      <p:sp>
        <p:nvSpPr>
          <p:cNvPr id="13" name="Shape 11"/>
          <p:cNvSpPr/>
          <p:nvPr/>
        </p:nvSpPr>
        <p:spPr>
          <a:xfrm>
            <a:off x="4526280" y="1325880"/>
            <a:ext cx="1965960" cy="13716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4" name="Shape 12"/>
          <p:cNvSpPr/>
          <p:nvPr/>
        </p:nvSpPr>
        <p:spPr>
          <a:xfrm>
            <a:off x="4526280" y="1325880"/>
            <a:ext cx="1965960" cy="54864"/>
          </a:xfrm>
          <a:prstGeom prst="rect">
            <a:avLst/>
          </a:prstGeom>
          <a:solidFill>
            <a:srgbClr val="F5A623"/>
          </a:solidFill>
          <a:ln/>
        </p:spPr>
      </p:sp>
      <p:sp>
        <p:nvSpPr>
          <p:cNvPr id="15" name="Text 13"/>
          <p:cNvSpPr/>
          <p:nvPr/>
        </p:nvSpPr>
        <p:spPr>
          <a:xfrm>
            <a:off x="4526280" y="1417320"/>
            <a:ext cx="1965960" cy="640080"/>
          </a:xfrm>
          <a:prstGeom prst="rect">
            <a:avLst/>
          </a:prstGeom>
          <a:noFill/>
          <a:ln/>
        </p:spPr>
        <p:txBody>
          <a:bodyPr wrap="square" lIns="0" tIns="0" rIns="0" bIns="0" rtlCol="0" anchor="ctr"/>
          <a:lstStyle/>
          <a:p>
            <a:pPr algn="ctr" indent="0" marL="0">
              <a:buNone/>
            </a:pPr>
            <a:r>
              <a:rPr lang="en-US" sz="2800" b="1" dirty="0">
                <a:solidFill>
                  <a:srgbClr val="F5A623"/>
                </a:solidFill>
                <a:latin typeface="Trebuchet MS" pitchFamily="34" charset="0"/>
                <a:ea typeface="Trebuchet MS" pitchFamily="34" charset="-122"/>
                <a:cs typeface="Trebuchet MS" pitchFamily="34" charset="-120"/>
              </a:rPr>
              <a:t>44%</a:t>
            </a:r>
            <a:endParaRPr lang="en-US" sz="2800" dirty="0"/>
          </a:p>
        </p:txBody>
      </p:sp>
      <p:sp>
        <p:nvSpPr>
          <p:cNvPr id="16" name="Text 14"/>
          <p:cNvSpPr/>
          <p:nvPr/>
        </p:nvSpPr>
        <p:spPr>
          <a:xfrm>
            <a:off x="4617720" y="2057400"/>
            <a:ext cx="1783080" cy="548640"/>
          </a:xfrm>
          <a:prstGeom prst="rect">
            <a:avLst/>
          </a:prstGeom>
          <a:noFill/>
          <a:ln/>
        </p:spPr>
        <p:txBody>
          <a:bodyPr wrap="square" rtlCol="0" anchor="ctr"/>
          <a:lstStyle/>
          <a:p>
            <a:pPr algn="ctr" indent="0" marL="0">
              <a:buNone/>
            </a:pPr>
            <a:r>
              <a:rPr lang="en-US" sz="1100" dirty="0">
                <a:solidFill>
                  <a:srgbClr val="2C3E5A"/>
                </a:solidFill>
                <a:latin typeface="Calibri" pitchFamily="34" charset="0"/>
                <a:ea typeface="Calibri" pitchFamily="34" charset="-122"/>
                <a:cs typeface="Calibri" pitchFamily="34" charset="-120"/>
              </a:rPr>
              <a:t>O'qituvchilar kasbiy charchashdan aziyat chekadi (RAND, 2024)</a:t>
            </a:r>
            <a:endParaRPr lang="en-US" sz="1100" dirty="0"/>
          </a:p>
        </p:txBody>
      </p:sp>
      <p:sp>
        <p:nvSpPr>
          <p:cNvPr id="17" name="Shape 15"/>
          <p:cNvSpPr/>
          <p:nvPr/>
        </p:nvSpPr>
        <p:spPr>
          <a:xfrm>
            <a:off x="6675120" y="1325880"/>
            <a:ext cx="1965960" cy="13716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8" name="Shape 16"/>
          <p:cNvSpPr/>
          <p:nvPr/>
        </p:nvSpPr>
        <p:spPr>
          <a:xfrm>
            <a:off x="6675120" y="1325880"/>
            <a:ext cx="1965960" cy="54864"/>
          </a:xfrm>
          <a:prstGeom prst="rect">
            <a:avLst/>
          </a:prstGeom>
          <a:solidFill>
            <a:srgbClr val="F5A623"/>
          </a:solidFill>
          <a:ln/>
        </p:spPr>
      </p:sp>
      <p:sp>
        <p:nvSpPr>
          <p:cNvPr id="19" name="Text 17"/>
          <p:cNvSpPr/>
          <p:nvPr/>
        </p:nvSpPr>
        <p:spPr>
          <a:xfrm>
            <a:off x="6675120" y="1417320"/>
            <a:ext cx="1965960" cy="640080"/>
          </a:xfrm>
          <a:prstGeom prst="rect">
            <a:avLst/>
          </a:prstGeom>
          <a:noFill/>
          <a:ln/>
        </p:spPr>
        <p:txBody>
          <a:bodyPr wrap="square" lIns="0" tIns="0" rIns="0" bIns="0" rtlCol="0" anchor="ctr"/>
          <a:lstStyle/>
          <a:p>
            <a:pPr algn="ctr" indent="0" marL="0">
              <a:buNone/>
            </a:pPr>
            <a:r>
              <a:rPr lang="en-US" sz="2800" b="1" dirty="0">
                <a:solidFill>
                  <a:srgbClr val="F5A623"/>
                </a:solidFill>
                <a:latin typeface="Trebuchet MS" pitchFamily="34" charset="0"/>
                <a:ea typeface="Trebuchet MS" pitchFamily="34" charset="-122"/>
                <a:cs typeface="Trebuchet MS" pitchFamily="34" charset="-120"/>
              </a:rPr>
              <a:t>60s</a:t>
            </a:r>
            <a:endParaRPr lang="en-US" sz="2800" dirty="0"/>
          </a:p>
        </p:txBody>
      </p:sp>
      <p:sp>
        <p:nvSpPr>
          <p:cNvPr id="20" name="Text 18"/>
          <p:cNvSpPr/>
          <p:nvPr/>
        </p:nvSpPr>
        <p:spPr>
          <a:xfrm>
            <a:off x="6766560" y="2057400"/>
            <a:ext cx="1783080" cy="548640"/>
          </a:xfrm>
          <a:prstGeom prst="rect">
            <a:avLst/>
          </a:prstGeom>
          <a:noFill/>
          <a:ln/>
        </p:spPr>
        <p:txBody>
          <a:bodyPr wrap="square" rtlCol="0" anchor="ctr"/>
          <a:lstStyle/>
          <a:p>
            <a:pPr algn="ctr" indent="0" marL="0">
              <a:buNone/>
            </a:pPr>
            <a:r>
              <a:rPr lang="en-US" sz="1100" dirty="0">
                <a:solidFill>
                  <a:srgbClr val="2C3E5A"/>
                </a:solidFill>
                <a:latin typeface="Calibri" pitchFamily="34" charset="0"/>
                <a:ea typeface="Calibri" pitchFamily="34" charset="-122"/>
                <a:cs typeface="Calibri" pitchFamily="34" charset="-120"/>
              </a:rPr>
              <a:t>120 o'quvchidan bitta insho to'plamini tekshirishga ketadigan soat</a:t>
            </a:r>
            <a:endParaRPr lang="en-US" sz="1100" dirty="0"/>
          </a:p>
        </p:txBody>
      </p:sp>
      <p:sp>
        <p:nvSpPr>
          <p:cNvPr id="21" name="Text 19"/>
          <p:cNvSpPr/>
          <p:nvPr/>
        </p:nvSpPr>
        <p:spPr>
          <a:xfrm>
            <a:off x="228600" y="2834640"/>
            <a:ext cx="4389120" cy="365760"/>
          </a:xfrm>
          <a:prstGeom prst="rect">
            <a:avLst/>
          </a:prstGeom>
          <a:noFill/>
          <a:ln/>
        </p:spPr>
        <p:txBody>
          <a:bodyPr wrap="square" rtlCol="0" anchor="ctr"/>
          <a:lstStyle/>
          <a:p>
            <a:pPr indent="0" marL="0">
              <a:buNone/>
            </a:pPr>
            <a:r>
              <a:rPr lang="en-US" sz="1400" b="1" dirty="0">
                <a:solidFill>
                  <a:srgbClr val="2C3E5A"/>
                </a:solidFill>
                <a:latin typeface="Trebuchet MS" pitchFamily="34" charset="0"/>
                <a:ea typeface="Trebuchet MS" pitchFamily="34" charset="-122"/>
                <a:cs typeface="Trebuchet MS" pitchFamily="34" charset="-120"/>
              </a:rPr>
              <a:t>O'qituvchi vaqtidan foydalanish (haftada)</a:t>
            </a:r>
            <a:endParaRPr lang="en-US" sz="1400" dirty="0"/>
          </a:p>
        </p:txBody>
      </p:sp>
      <p:graphicFrame>
        <p:nvGraphicFramePr>
          <p:cNvPr id="22" name="Chart 0" descr=""/>
          <p:cNvGraphicFramePr/>
          <p:nvPr/>
        </p:nvGraphicFramePr>
        <p:xfrm>
          <a:off x="228600" y="3200400"/>
          <a:ext cx="4114800" cy="1737360"/>
        </p:xfrm>
        <a:graphic xmlns:a="http://schemas.openxmlformats.org/drawingml/2006/main">
          <a:graphicData uri="http://schemas.openxmlformats.org/drawingml/2006/chart">
            <c:chart xmlns:c="http://schemas.openxmlformats.org/drawingml/2006/chart" r:id="rId1"/>
          </a:graphicData>
        </a:graphic>
      </p:graphicFrame>
      <p:sp>
        <p:nvSpPr>
          <p:cNvPr id="23" name="Text 20"/>
          <p:cNvSpPr/>
          <p:nvPr/>
        </p:nvSpPr>
        <p:spPr>
          <a:xfrm>
            <a:off x="4846320" y="2834640"/>
            <a:ext cx="4023360" cy="365760"/>
          </a:xfrm>
          <a:prstGeom prst="rect">
            <a:avLst/>
          </a:prstGeom>
          <a:noFill/>
          <a:ln/>
        </p:spPr>
        <p:txBody>
          <a:bodyPr wrap="square" rtlCol="0" anchor="ctr"/>
          <a:lstStyle/>
          <a:p>
            <a:pPr indent="0" marL="0">
              <a:buNone/>
            </a:pPr>
            <a:r>
              <a:rPr lang="en-US" sz="1400" b="1" dirty="0">
                <a:solidFill>
                  <a:srgbClr val="2C3E5A"/>
                </a:solidFill>
                <a:latin typeface="Trebuchet MS" pitchFamily="34" charset="0"/>
                <a:ea typeface="Trebuchet MS" pitchFamily="34" charset="-122"/>
                <a:cs typeface="Trebuchet MS" pitchFamily="34" charset="-120"/>
              </a:rPr>
              <a:t>Asosiy muammolar</a:t>
            </a:r>
            <a:endParaRPr lang="en-US" sz="1400" dirty="0"/>
          </a:p>
        </p:txBody>
      </p:sp>
      <p:sp>
        <p:nvSpPr>
          <p:cNvPr id="24" name="Shape 21"/>
          <p:cNvSpPr/>
          <p:nvPr/>
        </p:nvSpPr>
        <p:spPr>
          <a:xfrm>
            <a:off x="4846320" y="3337560"/>
            <a:ext cx="201168" cy="201168"/>
          </a:xfrm>
          <a:prstGeom prst="rect">
            <a:avLst/>
          </a:prstGeom>
          <a:solidFill>
            <a:srgbClr val="F5A623"/>
          </a:solidFill>
          <a:ln/>
        </p:spPr>
      </p:sp>
      <p:sp>
        <p:nvSpPr>
          <p:cNvPr id="25" name="Text 22"/>
          <p:cNvSpPr/>
          <p:nvPr/>
        </p:nvSpPr>
        <p:spPr>
          <a:xfrm>
            <a:off x="5166360" y="3291840"/>
            <a:ext cx="3657600" cy="347472"/>
          </a:xfrm>
          <a:prstGeom prst="rect">
            <a:avLst/>
          </a:prstGeom>
          <a:noFill/>
          <a:ln/>
        </p:spPr>
        <p:txBody>
          <a:bodyPr wrap="square" rtlCol="0" anchor="ctr"/>
          <a:lstStyle/>
          <a:p>
            <a:pPr indent="0" marL="0">
              <a:buNone/>
            </a:pPr>
            <a:r>
              <a:rPr lang="en-US" sz="1150" dirty="0">
                <a:solidFill>
                  <a:srgbClr val="2C3E5A"/>
                </a:solidFill>
                <a:latin typeface="Calibri" pitchFamily="34" charset="0"/>
                <a:ea typeface="Calibri" pitchFamily="34" charset="-122"/>
                <a:cs typeface="Calibri" pitchFamily="34" charset="-120"/>
              </a:rPr>
              <a:t>BMT 2024-yilda global o'qituvchilar yetishmasligini e'lon qildi</a:t>
            </a:r>
            <a:endParaRPr lang="en-US" sz="1150" dirty="0"/>
          </a:p>
        </p:txBody>
      </p:sp>
      <p:sp>
        <p:nvSpPr>
          <p:cNvPr id="26" name="Shape 23"/>
          <p:cNvSpPr/>
          <p:nvPr/>
        </p:nvSpPr>
        <p:spPr>
          <a:xfrm>
            <a:off x="4846320" y="3703320"/>
            <a:ext cx="201168" cy="201168"/>
          </a:xfrm>
          <a:prstGeom prst="rect">
            <a:avLst/>
          </a:prstGeom>
          <a:solidFill>
            <a:srgbClr val="F5A623"/>
          </a:solidFill>
          <a:ln/>
        </p:spPr>
      </p:sp>
      <p:sp>
        <p:nvSpPr>
          <p:cNvPr id="27" name="Text 24"/>
          <p:cNvSpPr/>
          <p:nvPr/>
        </p:nvSpPr>
        <p:spPr>
          <a:xfrm>
            <a:off x="5166360" y="3657600"/>
            <a:ext cx="3657600" cy="347472"/>
          </a:xfrm>
          <a:prstGeom prst="rect">
            <a:avLst/>
          </a:prstGeom>
          <a:noFill/>
          <a:ln/>
        </p:spPr>
        <p:txBody>
          <a:bodyPr wrap="square" rtlCol="0" anchor="ctr"/>
          <a:lstStyle/>
          <a:p>
            <a:pPr indent="0" marL="0">
              <a:buNone/>
            </a:pPr>
            <a:r>
              <a:rPr lang="en-US" sz="1150" dirty="0">
                <a:solidFill>
                  <a:srgbClr val="2C3E5A"/>
                </a:solidFill>
                <a:latin typeface="Calibri" pitchFamily="34" charset="0"/>
                <a:ea typeface="Calibri" pitchFamily="34" charset="-122"/>
                <a:cs typeface="Calibri" pitchFamily="34" charset="-120"/>
              </a:rPr>
              <a:t>AQShdagi o'qituvchi ish o'rinlarining 1/3 bo'sh qolmoqda</a:t>
            </a:r>
            <a:endParaRPr lang="en-US" sz="1150" dirty="0"/>
          </a:p>
        </p:txBody>
      </p:sp>
      <p:sp>
        <p:nvSpPr>
          <p:cNvPr id="28" name="Shape 25"/>
          <p:cNvSpPr/>
          <p:nvPr/>
        </p:nvSpPr>
        <p:spPr>
          <a:xfrm>
            <a:off x="4846320" y="4069080"/>
            <a:ext cx="201168" cy="201168"/>
          </a:xfrm>
          <a:prstGeom prst="rect">
            <a:avLst/>
          </a:prstGeom>
          <a:solidFill>
            <a:srgbClr val="F5A623"/>
          </a:solidFill>
          <a:ln/>
        </p:spPr>
      </p:sp>
      <p:sp>
        <p:nvSpPr>
          <p:cNvPr id="29" name="Text 26"/>
          <p:cNvSpPr/>
          <p:nvPr/>
        </p:nvSpPr>
        <p:spPr>
          <a:xfrm>
            <a:off x="5166360" y="4023360"/>
            <a:ext cx="3657600" cy="347472"/>
          </a:xfrm>
          <a:prstGeom prst="rect">
            <a:avLst/>
          </a:prstGeom>
          <a:noFill/>
          <a:ln/>
        </p:spPr>
        <p:txBody>
          <a:bodyPr wrap="square" rtlCol="0" anchor="ctr"/>
          <a:lstStyle/>
          <a:p>
            <a:pPr indent="0" marL="0">
              <a:buNone/>
            </a:pPr>
            <a:r>
              <a:rPr lang="en-US" sz="1150" dirty="0">
                <a:solidFill>
                  <a:srgbClr val="2C3E5A"/>
                </a:solidFill>
                <a:latin typeface="Calibri" pitchFamily="34" charset="0"/>
                <a:ea typeface="Calibri" pitchFamily="34" charset="-122"/>
                <a:cs typeface="Calibri" pitchFamily="34" charset="-120"/>
              </a:rPr>
              <a:t>O'zbekistonda sinfda 35–38 o'quvchi: o'qituvchi zo'riqib ishlaydi</a:t>
            </a:r>
            <a:endParaRPr lang="en-US" sz="1150" dirty="0"/>
          </a:p>
        </p:txBody>
      </p:sp>
      <p:sp>
        <p:nvSpPr>
          <p:cNvPr id="30" name="Shape 27"/>
          <p:cNvSpPr/>
          <p:nvPr/>
        </p:nvSpPr>
        <p:spPr>
          <a:xfrm>
            <a:off x="4846320" y="4434840"/>
            <a:ext cx="201168" cy="201168"/>
          </a:xfrm>
          <a:prstGeom prst="rect">
            <a:avLst/>
          </a:prstGeom>
          <a:solidFill>
            <a:srgbClr val="F5A623"/>
          </a:solidFill>
          <a:ln/>
        </p:spPr>
      </p:sp>
      <p:sp>
        <p:nvSpPr>
          <p:cNvPr id="31" name="Text 28"/>
          <p:cNvSpPr/>
          <p:nvPr/>
        </p:nvSpPr>
        <p:spPr>
          <a:xfrm>
            <a:off x="5166360" y="4389120"/>
            <a:ext cx="3657600" cy="347472"/>
          </a:xfrm>
          <a:prstGeom prst="rect">
            <a:avLst/>
          </a:prstGeom>
          <a:noFill/>
          <a:ln/>
        </p:spPr>
        <p:txBody>
          <a:bodyPr wrap="square" rtlCol="0" anchor="ctr"/>
          <a:lstStyle/>
          <a:p>
            <a:pPr indent="0" marL="0">
              <a:buNone/>
            </a:pPr>
            <a:r>
              <a:rPr lang="en-US" sz="1150" dirty="0">
                <a:solidFill>
                  <a:srgbClr val="2C3E5A"/>
                </a:solidFill>
                <a:latin typeface="Calibri" pitchFamily="34" charset="0"/>
                <a:ea typeface="Calibri" pitchFamily="34" charset="-122"/>
                <a:cs typeface="Calibri" pitchFamily="34" charset="-120"/>
              </a:rPr>
              <a:t>Kechiktirilgan fikr-mulohaza o'quvchiga deyarli ta'sir qilmaydi</a:t>
            </a:r>
            <a:endParaRPr lang="en-US" sz="1150" dirty="0"/>
          </a:p>
        </p:txBody>
      </p:sp>
      <p:sp>
        <p:nvSpPr>
          <p:cNvPr id="32" name="Shape 29"/>
          <p:cNvSpPr/>
          <p:nvPr/>
        </p:nvSpPr>
        <p:spPr>
          <a:xfrm>
            <a:off x="4846320" y="4800600"/>
            <a:ext cx="201168" cy="201168"/>
          </a:xfrm>
          <a:prstGeom prst="rect">
            <a:avLst/>
          </a:prstGeom>
          <a:solidFill>
            <a:srgbClr val="F5A623"/>
          </a:solidFill>
          <a:ln/>
        </p:spPr>
      </p:sp>
      <p:sp>
        <p:nvSpPr>
          <p:cNvPr id="33" name="Text 30"/>
          <p:cNvSpPr/>
          <p:nvPr/>
        </p:nvSpPr>
        <p:spPr>
          <a:xfrm>
            <a:off x="5166360" y="4754880"/>
            <a:ext cx="3657600" cy="347472"/>
          </a:xfrm>
          <a:prstGeom prst="rect">
            <a:avLst/>
          </a:prstGeom>
          <a:noFill/>
          <a:ln/>
        </p:spPr>
        <p:txBody>
          <a:bodyPr wrap="square" rtlCol="0" anchor="ctr"/>
          <a:lstStyle/>
          <a:p>
            <a:pPr indent="0" marL="0">
              <a:buNone/>
            </a:pPr>
            <a:r>
              <a:rPr lang="en-US" sz="1150" dirty="0">
                <a:solidFill>
                  <a:srgbClr val="2C3E5A"/>
                </a:solidFill>
                <a:latin typeface="Calibri" pitchFamily="34" charset="0"/>
                <a:ea typeface="Calibri" pitchFamily="34" charset="-122"/>
                <a:cs typeface="Calibri" pitchFamily="34" charset="-120"/>
              </a:rPr>
              <a:t>SI baholash vaqtni 80% qisqartirishi mumkin (bir nechta tadqiqot)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C9B1"/>
          </a:solidFill>
          <a:ln/>
        </p:spPr>
      </p:sp>
      <p:sp>
        <p:nvSpPr>
          <p:cNvPr id="3" name="Text 1"/>
          <p:cNvSpPr/>
          <p:nvPr/>
        </p:nvSpPr>
        <p:spPr>
          <a:xfrm>
            <a:off x="274320" y="182880"/>
            <a:ext cx="8686800" cy="594360"/>
          </a:xfrm>
          <a:prstGeom prst="rect">
            <a:avLst/>
          </a:prstGeom>
          <a:noFill/>
          <a:ln/>
        </p:spPr>
        <p:txBody>
          <a:bodyPr wrap="square" lIns="0" tIns="0" rIns="0" bIns="0" rtlCol="0" anchor="ctr"/>
          <a:lstStyle/>
          <a:p>
            <a:pPr indent="0" marL="0">
              <a:buNone/>
            </a:pPr>
            <a:r>
              <a:rPr lang="en-US" sz="2800" b="1" dirty="0">
                <a:solidFill>
                  <a:srgbClr val="0A1628"/>
                </a:solidFill>
                <a:latin typeface="Trebuchet MS" pitchFamily="34" charset="0"/>
                <a:ea typeface="Trebuchet MS" pitchFamily="34" charset="-122"/>
                <a:cs typeface="Trebuchet MS" pitchFamily="34" charset="-120"/>
              </a:rPr>
              <a:t>Bozor — O'zbekiston va Markaziy Osiyo</a:t>
            </a:r>
            <a:endParaRPr lang="en-US" sz="2800" dirty="0"/>
          </a:p>
        </p:txBody>
      </p:sp>
      <p:sp>
        <p:nvSpPr>
          <p:cNvPr id="4" name="Text 2"/>
          <p:cNvSpPr/>
          <p:nvPr/>
        </p:nvSpPr>
        <p:spPr>
          <a:xfrm>
            <a:off x="274320" y="822960"/>
            <a:ext cx="8686800" cy="365760"/>
          </a:xfrm>
          <a:prstGeom prst="rect">
            <a:avLst/>
          </a:prstGeom>
          <a:noFill/>
          <a:ln/>
        </p:spPr>
        <p:txBody>
          <a:bodyPr wrap="square" rtlCol="0" anchor="ctr"/>
          <a:lstStyle/>
          <a:p>
            <a:pPr indent="0" marL="0">
              <a:buNone/>
            </a:pPr>
            <a:r>
              <a:rPr lang="en-US" sz="1300" i="1" dirty="0">
                <a:solidFill>
                  <a:srgbClr val="8FA4C4"/>
                </a:solidFill>
                <a:latin typeface="Calibri" pitchFamily="34" charset="0"/>
                <a:ea typeface="Calibri" pitchFamily="34" charset="-122"/>
                <a:cs typeface="Calibri" pitchFamily="34" charset="-120"/>
              </a:rPr>
              <a:t>Tez o'sayotgan, kam xizmat ko'rsatilgan ta'lim tizimi — TalimZ uchun eng qulay vaqt</a:t>
            </a:r>
            <a:endParaRPr lang="en-US" sz="1300" dirty="0"/>
          </a:p>
        </p:txBody>
      </p:sp>
      <p:sp>
        <p:nvSpPr>
          <p:cNvPr id="5" name="Shape 3"/>
          <p:cNvSpPr/>
          <p:nvPr/>
        </p:nvSpPr>
        <p:spPr>
          <a:xfrm>
            <a:off x="228600" y="1325880"/>
            <a:ext cx="1920240" cy="14173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228600" y="1325880"/>
            <a:ext cx="1920240" cy="54864"/>
          </a:xfrm>
          <a:prstGeom prst="rect">
            <a:avLst/>
          </a:prstGeom>
          <a:solidFill>
            <a:srgbClr val="00C9B1"/>
          </a:solidFill>
          <a:ln/>
        </p:spPr>
      </p:sp>
      <p:sp>
        <p:nvSpPr>
          <p:cNvPr id="7" name="Text 5"/>
          <p:cNvSpPr/>
          <p:nvPr/>
        </p:nvSpPr>
        <p:spPr>
          <a:xfrm>
            <a:off x="228600" y="1417320"/>
            <a:ext cx="1920240" cy="640080"/>
          </a:xfrm>
          <a:prstGeom prst="rect">
            <a:avLst/>
          </a:prstGeom>
          <a:noFill/>
          <a:ln/>
        </p:spPr>
        <p:txBody>
          <a:bodyPr wrap="square" lIns="0" tIns="0" rIns="0" bIns="0" rtlCol="0" anchor="ctr"/>
          <a:lstStyle/>
          <a:p>
            <a:pPr algn="ctr" indent="0" marL="0">
              <a:buNone/>
            </a:pPr>
            <a:r>
              <a:rPr lang="en-US" sz="2800" b="1" dirty="0">
                <a:solidFill>
                  <a:srgbClr val="00C9B1"/>
                </a:solidFill>
                <a:latin typeface="Trebuchet MS" pitchFamily="34" charset="0"/>
                <a:ea typeface="Trebuchet MS" pitchFamily="34" charset="-122"/>
                <a:cs typeface="Trebuchet MS" pitchFamily="34" charset="-120"/>
              </a:rPr>
              <a:t>10 000+</a:t>
            </a:r>
            <a:endParaRPr lang="en-US" sz="2800" dirty="0"/>
          </a:p>
        </p:txBody>
      </p:sp>
      <p:sp>
        <p:nvSpPr>
          <p:cNvPr id="8" name="Text 6"/>
          <p:cNvSpPr/>
          <p:nvPr/>
        </p:nvSpPr>
        <p:spPr>
          <a:xfrm>
            <a:off x="320040" y="2057400"/>
            <a:ext cx="1737360" cy="594360"/>
          </a:xfrm>
          <a:prstGeom prst="rect">
            <a:avLst/>
          </a:prstGeom>
          <a:noFill/>
          <a:ln/>
        </p:spPr>
        <p:txBody>
          <a:bodyPr wrap="square" rtlCol="0" anchor="ctr"/>
          <a:lstStyle/>
          <a:p>
            <a:pPr algn="ctr" indent="0" marL="0">
              <a:buNone/>
            </a:pPr>
            <a:r>
              <a:rPr lang="en-US" sz="1100" dirty="0">
                <a:solidFill>
                  <a:srgbClr val="2C3E5A"/>
                </a:solidFill>
                <a:latin typeface="Calibri" pitchFamily="34" charset="0"/>
                <a:ea typeface="Calibri" pitchFamily="34" charset="-122"/>
                <a:cs typeface="Calibri" pitchFamily="34" charset="-120"/>
              </a:rPr>
              <a:t>O'zbekistondagi maktablar soni</a:t>
            </a:r>
            <a:endParaRPr lang="en-US" sz="1100" dirty="0"/>
          </a:p>
        </p:txBody>
      </p:sp>
      <p:sp>
        <p:nvSpPr>
          <p:cNvPr id="9" name="Shape 7"/>
          <p:cNvSpPr/>
          <p:nvPr/>
        </p:nvSpPr>
        <p:spPr>
          <a:xfrm>
            <a:off x="2331720" y="1325880"/>
            <a:ext cx="1920240" cy="14173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0" name="Shape 8"/>
          <p:cNvSpPr/>
          <p:nvPr/>
        </p:nvSpPr>
        <p:spPr>
          <a:xfrm>
            <a:off x="2331720" y="1325880"/>
            <a:ext cx="1920240" cy="54864"/>
          </a:xfrm>
          <a:prstGeom prst="rect">
            <a:avLst/>
          </a:prstGeom>
          <a:solidFill>
            <a:srgbClr val="00C9B1"/>
          </a:solidFill>
          <a:ln/>
        </p:spPr>
      </p:sp>
      <p:sp>
        <p:nvSpPr>
          <p:cNvPr id="11" name="Text 9"/>
          <p:cNvSpPr/>
          <p:nvPr/>
        </p:nvSpPr>
        <p:spPr>
          <a:xfrm>
            <a:off x="2331720" y="1417320"/>
            <a:ext cx="1920240" cy="640080"/>
          </a:xfrm>
          <a:prstGeom prst="rect">
            <a:avLst/>
          </a:prstGeom>
          <a:noFill/>
          <a:ln/>
        </p:spPr>
        <p:txBody>
          <a:bodyPr wrap="square" lIns="0" tIns="0" rIns="0" bIns="0" rtlCol="0" anchor="ctr"/>
          <a:lstStyle/>
          <a:p>
            <a:pPr algn="ctr" indent="0" marL="0">
              <a:buNone/>
            </a:pPr>
            <a:r>
              <a:rPr lang="en-US" sz="2800" b="1" dirty="0">
                <a:solidFill>
                  <a:srgbClr val="00C9B1"/>
                </a:solidFill>
                <a:latin typeface="Trebuchet MS" pitchFamily="34" charset="0"/>
                <a:ea typeface="Trebuchet MS" pitchFamily="34" charset="-122"/>
                <a:cs typeface="Trebuchet MS" pitchFamily="34" charset="-120"/>
              </a:rPr>
              <a:t>8.5 mln</a:t>
            </a:r>
            <a:endParaRPr lang="en-US" sz="2800" dirty="0"/>
          </a:p>
        </p:txBody>
      </p:sp>
      <p:sp>
        <p:nvSpPr>
          <p:cNvPr id="12" name="Text 10"/>
          <p:cNvSpPr/>
          <p:nvPr/>
        </p:nvSpPr>
        <p:spPr>
          <a:xfrm>
            <a:off x="2423160" y="2057400"/>
            <a:ext cx="1737360" cy="594360"/>
          </a:xfrm>
          <a:prstGeom prst="rect">
            <a:avLst/>
          </a:prstGeom>
          <a:noFill/>
          <a:ln/>
        </p:spPr>
        <p:txBody>
          <a:bodyPr wrap="square" rtlCol="0" anchor="ctr"/>
          <a:lstStyle/>
          <a:p>
            <a:pPr algn="ctr" indent="0" marL="0">
              <a:buNone/>
            </a:pPr>
            <a:r>
              <a:rPr lang="en-US" sz="1100" dirty="0">
                <a:solidFill>
                  <a:srgbClr val="2C3E5A"/>
                </a:solidFill>
                <a:latin typeface="Calibri" pitchFamily="34" charset="0"/>
                <a:ea typeface="Calibri" pitchFamily="34" charset="-122"/>
                <a:cs typeface="Calibri" pitchFamily="34" charset="-120"/>
              </a:rPr>
              <a:t>700 ming o'qituvchi tomonidan ta'lim berilayotgan o'quvchilar</a:t>
            </a:r>
            <a:endParaRPr lang="en-US" sz="1100" dirty="0"/>
          </a:p>
        </p:txBody>
      </p:sp>
      <p:sp>
        <p:nvSpPr>
          <p:cNvPr id="13" name="Shape 11"/>
          <p:cNvSpPr/>
          <p:nvPr/>
        </p:nvSpPr>
        <p:spPr>
          <a:xfrm>
            <a:off x="4434840" y="1325880"/>
            <a:ext cx="1920240" cy="14173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4" name="Shape 12"/>
          <p:cNvSpPr/>
          <p:nvPr/>
        </p:nvSpPr>
        <p:spPr>
          <a:xfrm>
            <a:off x="4434840" y="1325880"/>
            <a:ext cx="1920240" cy="54864"/>
          </a:xfrm>
          <a:prstGeom prst="rect">
            <a:avLst/>
          </a:prstGeom>
          <a:solidFill>
            <a:srgbClr val="00C9B1"/>
          </a:solidFill>
          <a:ln/>
        </p:spPr>
      </p:sp>
      <p:sp>
        <p:nvSpPr>
          <p:cNvPr id="15" name="Text 13"/>
          <p:cNvSpPr/>
          <p:nvPr/>
        </p:nvSpPr>
        <p:spPr>
          <a:xfrm>
            <a:off x="4434840" y="1417320"/>
            <a:ext cx="1920240" cy="640080"/>
          </a:xfrm>
          <a:prstGeom prst="rect">
            <a:avLst/>
          </a:prstGeom>
          <a:noFill/>
          <a:ln/>
        </p:spPr>
        <p:txBody>
          <a:bodyPr wrap="square" lIns="0" tIns="0" rIns="0" bIns="0" rtlCol="0" anchor="ctr"/>
          <a:lstStyle/>
          <a:p>
            <a:pPr algn="ctr" indent="0" marL="0">
              <a:buNone/>
            </a:pPr>
            <a:r>
              <a:rPr lang="en-US" sz="2800" b="1" dirty="0">
                <a:solidFill>
                  <a:srgbClr val="00C9B1"/>
                </a:solidFill>
                <a:latin typeface="Trebuchet MS" pitchFamily="34" charset="0"/>
                <a:ea typeface="Trebuchet MS" pitchFamily="34" charset="-122"/>
                <a:cs typeface="Trebuchet MS" pitchFamily="34" charset="-120"/>
              </a:rPr>
              <a:t>36.7 mln</a:t>
            </a:r>
            <a:endParaRPr lang="en-US" sz="2800" dirty="0"/>
          </a:p>
        </p:txBody>
      </p:sp>
      <p:sp>
        <p:nvSpPr>
          <p:cNvPr id="16" name="Text 14"/>
          <p:cNvSpPr/>
          <p:nvPr/>
        </p:nvSpPr>
        <p:spPr>
          <a:xfrm>
            <a:off x="4526280" y="2057400"/>
            <a:ext cx="1737360" cy="594360"/>
          </a:xfrm>
          <a:prstGeom prst="rect">
            <a:avLst/>
          </a:prstGeom>
          <a:noFill/>
          <a:ln/>
        </p:spPr>
        <p:txBody>
          <a:bodyPr wrap="square" rtlCol="0" anchor="ctr"/>
          <a:lstStyle/>
          <a:p>
            <a:pPr algn="ctr" indent="0" marL="0">
              <a:buNone/>
            </a:pPr>
            <a:r>
              <a:rPr lang="en-US" sz="1100" dirty="0">
                <a:solidFill>
                  <a:srgbClr val="2C3E5A"/>
                </a:solidFill>
                <a:latin typeface="Calibri" pitchFamily="34" charset="0"/>
                <a:ea typeface="Calibri" pitchFamily="34" charset="-122"/>
                <a:cs typeface="Calibri" pitchFamily="34" charset="-120"/>
              </a:rPr>
              <a:t>Aholi (40% — 18 yoshgacha) — ulkan yosh baza</a:t>
            </a:r>
            <a:endParaRPr lang="en-US" sz="1100" dirty="0"/>
          </a:p>
        </p:txBody>
      </p:sp>
      <p:sp>
        <p:nvSpPr>
          <p:cNvPr id="17" name="Shape 15"/>
          <p:cNvSpPr/>
          <p:nvPr/>
        </p:nvSpPr>
        <p:spPr>
          <a:xfrm>
            <a:off x="6537960" y="1325880"/>
            <a:ext cx="1920240" cy="14173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8" name="Shape 16"/>
          <p:cNvSpPr/>
          <p:nvPr/>
        </p:nvSpPr>
        <p:spPr>
          <a:xfrm>
            <a:off x="6537960" y="1325880"/>
            <a:ext cx="1920240" cy="54864"/>
          </a:xfrm>
          <a:prstGeom prst="rect">
            <a:avLst/>
          </a:prstGeom>
          <a:solidFill>
            <a:srgbClr val="00C9B1"/>
          </a:solidFill>
          <a:ln/>
        </p:spPr>
      </p:sp>
      <p:sp>
        <p:nvSpPr>
          <p:cNvPr id="19" name="Text 17"/>
          <p:cNvSpPr/>
          <p:nvPr/>
        </p:nvSpPr>
        <p:spPr>
          <a:xfrm>
            <a:off x="6537960" y="1417320"/>
            <a:ext cx="1920240" cy="640080"/>
          </a:xfrm>
          <a:prstGeom prst="rect">
            <a:avLst/>
          </a:prstGeom>
          <a:noFill/>
          <a:ln/>
        </p:spPr>
        <p:txBody>
          <a:bodyPr wrap="square" lIns="0" tIns="0" rIns="0" bIns="0" rtlCol="0" anchor="ctr"/>
          <a:lstStyle/>
          <a:p>
            <a:pPr algn="ctr" indent="0" marL="0">
              <a:buNone/>
            </a:pPr>
            <a:r>
              <a:rPr lang="en-US" sz="2800" b="1" dirty="0">
                <a:solidFill>
                  <a:srgbClr val="00C9B1"/>
                </a:solidFill>
                <a:latin typeface="Trebuchet MS" pitchFamily="34" charset="0"/>
                <a:ea typeface="Trebuchet MS" pitchFamily="34" charset="-122"/>
                <a:cs typeface="Trebuchet MS" pitchFamily="34" charset="-120"/>
              </a:rPr>
              <a:t>$1.16B</a:t>
            </a:r>
            <a:endParaRPr lang="en-US" sz="2800" dirty="0"/>
          </a:p>
        </p:txBody>
      </p:sp>
      <p:sp>
        <p:nvSpPr>
          <p:cNvPr id="20" name="Text 18"/>
          <p:cNvSpPr/>
          <p:nvPr/>
        </p:nvSpPr>
        <p:spPr>
          <a:xfrm>
            <a:off x="6629400" y="2057400"/>
            <a:ext cx="1737360" cy="594360"/>
          </a:xfrm>
          <a:prstGeom prst="rect">
            <a:avLst/>
          </a:prstGeom>
          <a:noFill/>
          <a:ln/>
        </p:spPr>
        <p:txBody>
          <a:bodyPr wrap="square" rtlCol="0" anchor="ctr"/>
          <a:lstStyle/>
          <a:p>
            <a:pPr algn="ctr" indent="0" marL="0">
              <a:buNone/>
            </a:pPr>
            <a:r>
              <a:rPr lang="en-US" sz="1100" dirty="0">
                <a:solidFill>
                  <a:srgbClr val="2C3E5A"/>
                </a:solidFill>
                <a:latin typeface="Calibri" pitchFamily="34" charset="0"/>
                <a:ea typeface="Calibri" pitchFamily="34" charset="-122"/>
                <a:cs typeface="Calibri" pitchFamily="34" charset="-120"/>
              </a:rPr>
              <a:t>Birinchi EdTech yakkashovchi (Uzum) — ekotizim rivojlanmoqda</a:t>
            </a:r>
            <a:endParaRPr lang="en-US" sz="1100" dirty="0"/>
          </a:p>
        </p:txBody>
      </p:sp>
      <p:sp>
        <p:nvSpPr>
          <p:cNvPr id="21" name="Text 19"/>
          <p:cNvSpPr/>
          <p:nvPr/>
        </p:nvSpPr>
        <p:spPr>
          <a:xfrm>
            <a:off x="228600" y="2880360"/>
            <a:ext cx="4206240" cy="365760"/>
          </a:xfrm>
          <a:prstGeom prst="rect">
            <a:avLst/>
          </a:prstGeom>
          <a:noFill/>
          <a:ln/>
        </p:spPr>
        <p:txBody>
          <a:bodyPr wrap="square" rtlCol="0" anchor="ctr"/>
          <a:lstStyle/>
          <a:p>
            <a:pPr indent="0" marL="0">
              <a:buNone/>
            </a:pPr>
            <a:r>
              <a:rPr lang="en-US" sz="1400" b="1" dirty="0">
                <a:solidFill>
                  <a:srgbClr val="2C3E5A"/>
                </a:solidFill>
                <a:latin typeface="Trebuchet MS" pitchFamily="34" charset="0"/>
                <a:ea typeface="Trebuchet MS" pitchFamily="34" charset="-122"/>
                <a:cs typeface="Trebuchet MS" pitchFamily="34" charset="-120"/>
              </a:rPr>
              <a:t>Nima uchun hozir?</a:t>
            </a:r>
            <a:endParaRPr lang="en-US" sz="1400" dirty="0"/>
          </a:p>
        </p:txBody>
      </p:sp>
      <p:sp>
        <p:nvSpPr>
          <p:cNvPr id="22" name="Shape 20"/>
          <p:cNvSpPr/>
          <p:nvPr/>
        </p:nvSpPr>
        <p:spPr>
          <a:xfrm>
            <a:off x="228600" y="3364992"/>
            <a:ext cx="182880" cy="182880"/>
          </a:xfrm>
          <a:prstGeom prst="oval">
            <a:avLst/>
          </a:prstGeom>
          <a:solidFill>
            <a:srgbClr val="00C9B1"/>
          </a:solidFill>
          <a:ln/>
        </p:spPr>
      </p:sp>
      <p:sp>
        <p:nvSpPr>
          <p:cNvPr id="23" name="Text 21"/>
          <p:cNvSpPr/>
          <p:nvPr/>
        </p:nvSpPr>
        <p:spPr>
          <a:xfrm>
            <a:off x="530352" y="3319272"/>
            <a:ext cx="3931920" cy="27432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Erta bosqichdagi investitsiyalar: $0.3M (2020) → $69.5M (2024): 230 barobar o'sish</a:t>
            </a:r>
            <a:endParaRPr lang="en-US" sz="1100" dirty="0"/>
          </a:p>
        </p:txBody>
      </p:sp>
      <p:sp>
        <p:nvSpPr>
          <p:cNvPr id="24" name="Shape 22"/>
          <p:cNvSpPr/>
          <p:nvPr/>
        </p:nvSpPr>
        <p:spPr>
          <a:xfrm>
            <a:off x="228600" y="3657600"/>
            <a:ext cx="182880" cy="182880"/>
          </a:xfrm>
          <a:prstGeom prst="oval">
            <a:avLst/>
          </a:prstGeom>
          <a:solidFill>
            <a:srgbClr val="00C9B1"/>
          </a:solidFill>
          <a:ln/>
        </p:spPr>
      </p:sp>
      <p:sp>
        <p:nvSpPr>
          <p:cNvPr id="25" name="Text 23"/>
          <p:cNvSpPr/>
          <p:nvPr/>
        </p:nvSpPr>
        <p:spPr>
          <a:xfrm>
            <a:off x="530352" y="3611880"/>
            <a:ext cx="3931920" cy="27432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O'zbekistonda $136M+ aktivli 12+ faol venchur fond ishlaydi</a:t>
            </a:r>
            <a:endParaRPr lang="en-US" sz="1100" dirty="0"/>
          </a:p>
        </p:txBody>
      </p:sp>
      <p:sp>
        <p:nvSpPr>
          <p:cNvPr id="26" name="Shape 24"/>
          <p:cNvSpPr/>
          <p:nvPr/>
        </p:nvSpPr>
        <p:spPr>
          <a:xfrm>
            <a:off x="228600" y="3950208"/>
            <a:ext cx="182880" cy="182880"/>
          </a:xfrm>
          <a:prstGeom prst="oval">
            <a:avLst/>
          </a:prstGeom>
          <a:solidFill>
            <a:srgbClr val="00C9B1"/>
          </a:solidFill>
          <a:ln/>
        </p:spPr>
      </p:sp>
      <p:sp>
        <p:nvSpPr>
          <p:cNvPr id="27" name="Text 25"/>
          <p:cNvSpPr/>
          <p:nvPr/>
        </p:nvSpPr>
        <p:spPr>
          <a:xfrm>
            <a:off x="530352" y="3904488"/>
            <a:ext cx="3931920" cy="27432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2017 yildan iqtisodiyot 46% o'sdi; to'g'ridan-to'g'ri investitsiya $11.9B ga yetdi</a:t>
            </a:r>
            <a:endParaRPr lang="en-US" sz="1100" dirty="0"/>
          </a:p>
        </p:txBody>
      </p:sp>
      <p:sp>
        <p:nvSpPr>
          <p:cNvPr id="28" name="Shape 26"/>
          <p:cNvSpPr/>
          <p:nvPr/>
        </p:nvSpPr>
        <p:spPr>
          <a:xfrm>
            <a:off x="228600" y="4242816"/>
            <a:ext cx="182880" cy="182880"/>
          </a:xfrm>
          <a:prstGeom prst="oval">
            <a:avLst/>
          </a:prstGeom>
          <a:solidFill>
            <a:srgbClr val="00C9B1"/>
          </a:solidFill>
          <a:ln/>
        </p:spPr>
      </p:sp>
      <p:sp>
        <p:nvSpPr>
          <p:cNvPr id="29" name="Text 27"/>
          <p:cNvSpPr/>
          <p:nvPr/>
        </p:nvSpPr>
        <p:spPr>
          <a:xfrm>
            <a:off x="530352" y="4197096"/>
            <a:ext cx="3931920" cy="27432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Sinfda 35–38 o'quvchi: o'qituvchilar SI yordamiga muhtoj</a:t>
            </a:r>
            <a:endParaRPr lang="en-US" sz="1100" dirty="0"/>
          </a:p>
        </p:txBody>
      </p:sp>
      <p:sp>
        <p:nvSpPr>
          <p:cNvPr id="30" name="Shape 28"/>
          <p:cNvSpPr/>
          <p:nvPr/>
        </p:nvSpPr>
        <p:spPr>
          <a:xfrm>
            <a:off x="228600" y="4535424"/>
            <a:ext cx="182880" cy="182880"/>
          </a:xfrm>
          <a:prstGeom prst="oval">
            <a:avLst/>
          </a:prstGeom>
          <a:solidFill>
            <a:srgbClr val="00C9B1"/>
          </a:solidFill>
          <a:ln/>
        </p:spPr>
      </p:sp>
      <p:sp>
        <p:nvSpPr>
          <p:cNvPr id="31" name="Text 29"/>
          <p:cNvSpPr/>
          <p:nvPr/>
        </p:nvSpPr>
        <p:spPr>
          <a:xfrm>
            <a:off x="530352" y="4489704"/>
            <a:ext cx="3931920" cy="27432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Surunkali o'qituvchi yetishmasligi — SI kuch ko'paytiruvchi vazifasini bajaradi</a:t>
            </a:r>
            <a:endParaRPr lang="en-US" sz="1100" dirty="0"/>
          </a:p>
        </p:txBody>
      </p:sp>
      <p:sp>
        <p:nvSpPr>
          <p:cNvPr id="32" name="Shape 30"/>
          <p:cNvSpPr/>
          <p:nvPr/>
        </p:nvSpPr>
        <p:spPr>
          <a:xfrm>
            <a:off x="228600" y="4828032"/>
            <a:ext cx="182880" cy="182880"/>
          </a:xfrm>
          <a:prstGeom prst="oval">
            <a:avLst/>
          </a:prstGeom>
          <a:solidFill>
            <a:srgbClr val="00C9B1"/>
          </a:solidFill>
          <a:ln/>
        </p:spPr>
      </p:sp>
      <p:sp>
        <p:nvSpPr>
          <p:cNvPr id="33" name="Text 31"/>
          <p:cNvSpPr/>
          <p:nvPr/>
        </p:nvSpPr>
        <p:spPr>
          <a:xfrm>
            <a:off x="530352" y="4782312"/>
            <a:ext cx="3931920" cy="27432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Hukumat 2030 yilga qadar 50% oliy ta'lim qamrovini maqsad qilgan</a:t>
            </a:r>
            <a:endParaRPr lang="en-US" sz="1100" dirty="0"/>
          </a:p>
        </p:txBody>
      </p:sp>
      <p:sp>
        <p:nvSpPr>
          <p:cNvPr id="34" name="Text 32"/>
          <p:cNvSpPr/>
          <p:nvPr/>
        </p:nvSpPr>
        <p:spPr>
          <a:xfrm>
            <a:off x="4754880" y="2816352"/>
            <a:ext cx="4160520" cy="347472"/>
          </a:xfrm>
          <a:prstGeom prst="rect">
            <a:avLst/>
          </a:prstGeom>
          <a:noFill/>
          <a:ln/>
        </p:spPr>
        <p:txBody>
          <a:bodyPr wrap="square" rtlCol="0" anchor="ctr"/>
          <a:lstStyle/>
          <a:p>
            <a:pPr algn="ctr" indent="0" marL="0">
              <a:buNone/>
            </a:pPr>
            <a:r>
              <a:rPr lang="en-US" sz="1300" b="1" dirty="0">
                <a:solidFill>
                  <a:srgbClr val="2C3E5A"/>
                </a:solidFill>
                <a:latin typeface="Trebuchet MS" pitchFamily="34" charset="0"/>
                <a:ea typeface="Trebuchet MS" pitchFamily="34" charset="-122"/>
                <a:cs typeface="Trebuchet MS" pitchFamily="34" charset="-120"/>
              </a:rPr>
              <a:t>Maktablar soni: TAM / SAM / SOM</a:t>
            </a:r>
            <a:endParaRPr lang="en-US" sz="1300" dirty="0"/>
          </a:p>
        </p:txBody>
      </p:sp>
      <p:graphicFrame>
        <p:nvGraphicFramePr>
          <p:cNvPr id="35" name="Chart 0" descr=""/>
          <p:cNvGraphicFramePr/>
          <p:nvPr/>
        </p:nvGraphicFramePr>
        <p:xfrm>
          <a:off x="4663440" y="3182112"/>
          <a:ext cx="4251960" cy="1828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p:spPr>
      </p:sp>
      <p:sp>
        <p:nvSpPr>
          <p:cNvPr id="3" name="Shape 1"/>
          <p:cNvSpPr/>
          <p:nvPr/>
        </p:nvSpPr>
        <p:spPr>
          <a:xfrm>
            <a:off x="6858000" y="-914400"/>
            <a:ext cx="4114800" cy="4114800"/>
          </a:xfrm>
          <a:prstGeom prst="oval">
            <a:avLst/>
          </a:prstGeom>
          <a:solidFill>
            <a:srgbClr val="0D3B7E">
              <a:alpha val="30000"/>
            </a:srgbClr>
          </a:solidFill>
          <a:ln/>
        </p:spPr>
      </p:sp>
      <p:sp>
        <p:nvSpPr>
          <p:cNvPr id="4" name="Shape 2"/>
          <p:cNvSpPr/>
          <p:nvPr/>
        </p:nvSpPr>
        <p:spPr>
          <a:xfrm>
            <a:off x="-914400" y="3200400"/>
            <a:ext cx="3200400" cy="3200400"/>
          </a:xfrm>
          <a:prstGeom prst="oval">
            <a:avLst/>
          </a:prstGeom>
          <a:solidFill>
            <a:srgbClr val="00C9B1">
              <a:alpha val="20000"/>
            </a:srgbClr>
          </a:solidFill>
          <a:ln/>
        </p:spPr>
      </p:sp>
      <p:pic>
        <p:nvPicPr>
          <p:cNvPr id="5" name="Image 0" descr="preencoded.png">    </p:cNvPr>
          <p:cNvPicPr>
            <a:picLocks noChangeAspect="1"/>
          </p:cNvPicPr>
          <p:nvPr/>
        </p:nvPicPr>
        <p:blipFill>
          <a:blip r:embed="rId1"/>
          <a:stretch>
            <a:fillRect/>
          </a:stretch>
        </p:blipFill>
        <p:spPr>
          <a:xfrm>
            <a:off x="3886200" y="822960"/>
            <a:ext cx="1371600" cy="1371600"/>
          </a:xfrm>
          <a:prstGeom prst="rect">
            <a:avLst/>
          </a:prstGeom>
        </p:spPr>
      </p:pic>
      <p:sp>
        <p:nvSpPr>
          <p:cNvPr id="6" name="Text 3"/>
          <p:cNvSpPr/>
          <p:nvPr/>
        </p:nvSpPr>
        <p:spPr>
          <a:xfrm>
            <a:off x="457200" y="2377440"/>
            <a:ext cx="8229600" cy="1005840"/>
          </a:xfrm>
          <a:prstGeom prst="rect">
            <a:avLst/>
          </a:prstGeom>
          <a:noFill/>
          <a:ln/>
        </p:spPr>
        <p:txBody>
          <a:bodyPr wrap="square" lIns="0" tIns="0" rIns="0" bIns="0" rtlCol="0" anchor="ctr"/>
          <a:lstStyle/>
          <a:p>
            <a:pPr algn="ctr" indent="0" marL="0">
              <a:buNone/>
            </a:pPr>
            <a:r>
              <a:rPr lang="en-US" sz="3800" b="1" dirty="0">
                <a:solidFill>
                  <a:srgbClr val="FFFFFF"/>
                </a:solidFill>
                <a:latin typeface="Trebuchet MS" pitchFamily="34" charset="0"/>
                <a:ea typeface="Trebuchet MS" pitchFamily="34" charset="-122"/>
                <a:cs typeface="Trebuchet MS" pitchFamily="34" charset="-120"/>
              </a:rPr>
              <a:t>TalimZ ni tanishtiramiz</a:t>
            </a:r>
            <a:endParaRPr lang="en-US" sz="3800" dirty="0"/>
          </a:p>
        </p:txBody>
      </p:sp>
      <p:sp>
        <p:nvSpPr>
          <p:cNvPr id="7" name="Text 4"/>
          <p:cNvSpPr/>
          <p:nvPr/>
        </p:nvSpPr>
        <p:spPr>
          <a:xfrm>
            <a:off x="914400" y="3429000"/>
            <a:ext cx="7315200" cy="731520"/>
          </a:xfrm>
          <a:prstGeom prst="rect">
            <a:avLst/>
          </a:prstGeom>
          <a:noFill/>
          <a:ln/>
        </p:spPr>
        <p:txBody>
          <a:bodyPr wrap="square" rtlCol="0" anchor="ctr"/>
          <a:lstStyle/>
          <a:p>
            <a:pPr algn="ctr" indent="0" marL="0">
              <a:buNone/>
            </a:pPr>
            <a:r>
              <a:rPr lang="en-US" sz="1600" i="1" dirty="0">
                <a:solidFill>
                  <a:srgbClr val="00C9B1"/>
                </a:solidFill>
                <a:latin typeface="Calibri" pitchFamily="34" charset="0"/>
                <a:ea typeface="Calibri" pitchFamily="34" charset="-122"/>
                <a:cs typeface="Calibri" pitchFamily="34" charset="-120"/>
              </a:rPr>
              <a:t>Sinf intellektining sun'iy intellekt platformasi</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D90F5"/>
          </a:solidFill>
          <a:ln/>
        </p:spPr>
      </p:sp>
      <p:sp>
        <p:nvSpPr>
          <p:cNvPr id="3" name="Text 1"/>
          <p:cNvSpPr/>
          <p:nvPr/>
        </p:nvSpPr>
        <p:spPr>
          <a:xfrm>
            <a:off x="274320" y="182880"/>
            <a:ext cx="8686800" cy="594360"/>
          </a:xfrm>
          <a:prstGeom prst="rect">
            <a:avLst/>
          </a:prstGeom>
          <a:noFill/>
          <a:ln/>
        </p:spPr>
        <p:txBody>
          <a:bodyPr wrap="square" lIns="0" tIns="0" rIns="0" bIns="0" rtlCol="0" anchor="ctr"/>
          <a:lstStyle/>
          <a:p>
            <a:pPr indent="0" marL="0">
              <a:buNone/>
            </a:pPr>
            <a:r>
              <a:rPr lang="en-US" sz="2800" b="1" dirty="0">
                <a:solidFill>
                  <a:srgbClr val="0A1628"/>
                </a:solidFill>
                <a:latin typeface="Trebuchet MS" pitchFamily="34" charset="0"/>
                <a:ea typeface="Trebuchet MS" pitchFamily="34" charset="-122"/>
                <a:cs typeface="Trebuchet MS" pitchFamily="34" charset="-120"/>
              </a:rPr>
              <a:t>Mahsulot — 3 ta asosiy SI moduli</a:t>
            </a:r>
            <a:endParaRPr lang="en-US" sz="2800" dirty="0"/>
          </a:p>
        </p:txBody>
      </p:sp>
      <p:sp>
        <p:nvSpPr>
          <p:cNvPr id="4" name="Text 2"/>
          <p:cNvSpPr/>
          <p:nvPr/>
        </p:nvSpPr>
        <p:spPr>
          <a:xfrm>
            <a:off x="274320" y="795528"/>
            <a:ext cx="8686800" cy="365760"/>
          </a:xfrm>
          <a:prstGeom prst="rect">
            <a:avLst/>
          </a:prstGeom>
          <a:noFill/>
          <a:ln/>
        </p:spPr>
        <p:txBody>
          <a:bodyPr wrap="square" rtlCol="0" anchor="ctr"/>
          <a:lstStyle/>
          <a:p>
            <a:pPr indent="0" marL="0">
              <a:buNone/>
            </a:pPr>
            <a:r>
              <a:rPr lang="en-US" sz="1300" i="1" dirty="0">
                <a:solidFill>
                  <a:srgbClr val="8FA4C4"/>
                </a:solidFill>
                <a:latin typeface="Calibri" pitchFamily="34" charset="0"/>
                <a:ea typeface="Calibri" pitchFamily="34" charset="-122"/>
                <a:cs typeface="Calibri" pitchFamily="34" charset="-120"/>
              </a:rPr>
              <a:t>Bitta platforma. Uchta transformatsion SI imkoniyat. Haqiqiy sinflar uchun yaratilgan.</a:t>
            </a:r>
            <a:endParaRPr lang="en-US" sz="1300" dirty="0"/>
          </a:p>
        </p:txBody>
      </p:sp>
      <p:sp>
        <p:nvSpPr>
          <p:cNvPr id="5" name="Shape 3"/>
          <p:cNvSpPr/>
          <p:nvPr/>
        </p:nvSpPr>
        <p:spPr>
          <a:xfrm>
            <a:off x="228600" y="1325880"/>
            <a:ext cx="2697480" cy="3520440"/>
          </a:xfrm>
          <a:prstGeom prst="rect">
            <a:avLst/>
          </a:prstGeom>
          <a:solidFill>
            <a:srgbClr val="FFFFFF"/>
          </a:solidFill>
          <a:ln/>
          <a:effectLst>
            <a:outerShdw sx="100000" sy="100000" kx="0" ky="0" algn="bl" rotWithShape="0" blurRad="127000" dist="38100" dir="8100000">
              <a:srgbClr val="000000">
                <a:alpha val="12000"/>
              </a:srgbClr>
            </a:outerShdw>
          </a:effectLst>
        </p:spPr>
      </p:sp>
      <p:sp>
        <p:nvSpPr>
          <p:cNvPr id="6" name="Shape 4"/>
          <p:cNvSpPr/>
          <p:nvPr/>
        </p:nvSpPr>
        <p:spPr>
          <a:xfrm>
            <a:off x="228600" y="1325880"/>
            <a:ext cx="54864" cy="3520440"/>
          </a:xfrm>
          <a:prstGeom prst="rect">
            <a:avLst/>
          </a:prstGeom>
          <a:solidFill>
            <a:srgbClr val="FF6B6B"/>
          </a:solidFill>
          <a:ln/>
        </p:spPr>
      </p:sp>
      <p:sp>
        <p:nvSpPr>
          <p:cNvPr id="7" name="Shape 5"/>
          <p:cNvSpPr/>
          <p:nvPr/>
        </p:nvSpPr>
        <p:spPr>
          <a:xfrm>
            <a:off x="365760" y="1490472"/>
            <a:ext cx="502920" cy="502920"/>
          </a:xfrm>
          <a:prstGeom prst="oval">
            <a:avLst/>
          </a:prstGeom>
          <a:solidFill>
            <a:srgbClr val="FF6B6B"/>
          </a:solidFill>
          <a:ln/>
        </p:spPr>
      </p:sp>
      <p:pic>
        <p:nvPicPr>
          <p:cNvPr id="8" name="Image 0" descr="preencoded.png">    </p:cNvPr>
          <p:cNvPicPr>
            <a:picLocks noChangeAspect="1"/>
          </p:cNvPicPr>
          <p:nvPr/>
        </p:nvPicPr>
        <p:blipFill>
          <a:blip r:embed="rId1"/>
          <a:stretch>
            <a:fillRect/>
          </a:stretch>
        </p:blipFill>
        <p:spPr>
          <a:xfrm>
            <a:off x="402336" y="1527048"/>
            <a:ext cx="429768" cy="429768"/>
          </a:xfrm>
          <a:prstGeom prst="rect">
            <a:avLst/>
          </a:prstGeom>
        </p:spPr>
      </p:pic>
      <p:sp>
        <p:nvSpPr>
          <p:cNvPr id="9" name="Text 6"/>
          <p:cNvSpPr/>
          <p:nvPr/>
        </p:nvSpPr>
        <p:spPr>
          <a:xfrm>
            <a:off x="1005840" y="1463040"/>
            <a:ext cx="1828800" cy="384048"/>
          </a:xfrm>
          <a:prstGeom prst="rect">
            <a:avLst/>
          </a:prstGeom>
          <a:noFill/>
          <a:ln/>
        </p:spPr>
        <p:txBody>
          <a:bodyPr wrap="square" lIns="0" tIns="0" rIns="0" bIns="0" rtlCol="0" anchor="ctr"/>
          <a:lstStyle/>
          <a:p>
            <a:pPr indent="0" marL="0">
              <a:buNone/>
            </a:pPr>
            <a:r>
              <a:rPr lang="en-US" sz="1300" b="1" dirty="0">
                <a:solidFill>
                  <a:srgbClr val="2C3E5A"/>
                </a:solidFill>
                <a:latin typeface="Trebuchet MS" pitchFamily="34" charset="0"/>
                <a:ea typeface="Trebuchet MS" pitchFamily="34" charset="-122"/>
                <a:cs typeface="Trebuchet MS" pitchFamily="34" charset="-120"/>
              </a:rPr>
              <a:t>🎯 Diqqat Mexanizmi</a:t>
            </a:r>
            <a:endParaRPr lang="en-US" sz="1300" dirty="0"/>
          </a:p>
        </p:txBody>
      </p:sp>
      <p:sp>
        <p:nvSpPr>
          <p:cNvPr id="10" name="Text 7"/>
          <p:cNvSpPr/>
          <p:nvPr/>
        </p:nvSpPr>
        <p:spPr>
          <a:xfrm>
            <a:off x="1005840" y="1874520"/>
            <a:ext cx="1828800" cy="283464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Kompyuter ko'rish va xulq-atvor signallari orqali real vaqtda diqqatni kuzatish. Ko'z harakati, gavda holati, qiziqish mikrobelgilarini tahlil qiladi. Darsni buzmagan holda o'qituvchi paneliga shaxsiy ogohlantirishlar yuboradi. Butun sinf diqqatini yo'qotganda aqlli tanaffus tavsiya qiladi.</a:t>
            </a:r>
            <a:endParaRPr lang="en-US" sz="1100" dirty="0"/>
          </a:p>
        </p:txBody>
      </p:sp>
      <p:sp>
        <p:nvSpPr>
          <p:cNvPr id="11" name="Shape 8"/>
          <p:cNvSpPr/>
          <p:nvPr/>
        </p:nvSpPr>
        <p:spPr>
          <a:xfrm>
            <a:off x="3218688" y="1325880"/>
            <a:ext cx="2697480" cy="3520440"/>
          </a:xfrm>
          <a:prstGeom prst="rect">
            <a:avLst/>
          </a:prstGeom>
          <a:solidFill>
            <a:srgbClr val="FFFFFF"/>
          </a:solidFill>
          <a:ln/>
          <a:effectLst>
            <a:outerShdw sx="100000" sy="100000" kx="0" ky="0" algn="bl" rotWithShape="0" blurRad="127000" dist="38100" dir="8100000">
              <a:srgbClr val="000000">
                <a:alpha val="12000"/>
              </a:srgbClr>
            </a:outerShdw>
          </a:effectLst>
        </p:spPr>
      </p:sp>
      <p:sp>
        <p:nvSpPr>
          <p:cNvPr id="12" name="Shape 9"/>
          <p:cNvSpPr/>
          <p:nvPr/>
        </p:nvSpPr>
        <p:spPr>
          <a:xfrm>
            <a:off x="3218688" y="1325880"/>
            <a:ext cx="54864" cy="3520440"/>
          </a:xfrm>
          <a:prstGeom prst="rect">
            <a:avLst/>
          </a:prstGeom>
          <a:solidFill>
            <a:srgbClr val="1D90F5"/>
          </a:solidFill>
          <a:ln/>
        </p:spPr>
      </p:sp>
      <p:sp>
        <p:nvSpPr>
          <p:cNvPr id="13" name="Shape 10"/>
          <p:cNvSpPr/>
          <p:nvPr/>
        </p:nvSpPr>
        <p:spPr>
          <a:xfrm>
            <a:off x="3355848" y="1490472"/>
            <a:ext cx="502920" cy="502920"/>
          </a:xfrm>
          <a:prstGeom prst="oval">
            <a:avLst/>
          </a:prstGeom>
          <a:solidFill>
            <a:srgbClr val="1D90F5"/>
          </a:solidFill>
          <a:ln/>
        </p:spPr>
      </p:sp>
      <p:pic>
        <p:nvPicPr>
          <p:cNvPr id="14" name="Image 1" descr="preencoded.png">    </p:cNvPr>
          <p:cNvPicPr>
            <a:picLocks noChangeAspect="1"/>
          </p:cNvPicPr>
          <p:nvPr/>
        </p:nvPicPr>
        <p:blipFill>
          <a:blip r:embed="rId2"/>
          <a:stretch>
            <a:fillRect/>
          </a:stretch>
        </p:blipFill>
        <p:spPr>
          <a:xfrm>
            <a:off x="3392424" y="1527048"/>
            <a:ext cx="429768" cy="429768"/>
          </a:xfrm>
          <a:prstGeom prst="rect">
            <a:avLst/>
          </a:prstGeom>
        </p:spPr>
      </p:pic>
      <p:sp>
        <p:nvSpPr>
          <p:cNvPr id="15" name="Text 11"/>
          <p:cNvSpPr/>
          <p:nvPr/>
        </p:nvSpPr>
        <p:spPr>
          <a:xfrm>
            <a:off x="3995928" y="1463040"/>
            <a:ext cx="1828800" cy="384048"/>
          </a:xfrm>
          <a:prstGeom prst="rect">
            <a:avLst/>
          </a:prstGeom>
          <a:noFill/>
          <a:ln/>
        </p:spPr>
        <p:txBody>
          <a:bodyPr wrap="square" lIns="0" tIns="0" rIns="0" bIns="0" rtlCol="0" anchor="ctr"/>
          <a:lstStyle/>
          <a:p>
            <a:pPr indent="0" marL="0">
              <a:buNone/>
            </a:pPr>
            <a:r>
              <a:rPr lang="en-US" sz="1300" b="1" dirty="0">
                <a:solidFill>
                  <a:srgbClr val="2C3E5A"/>
                </a:solidFill>
                <a:latin typeface="Trebuchet MS" pitchFamily="34" charset="0"/>
                <a:ea typeface="Trebuchet MS" pitchFamily="34" charset="-122"/>
                <a:cs typeface="Trebuchet MS" pitchFamily="34" charset="-120"/>
              </a:rPr>
              <a:t>📝 SI Uy Vazifasi Tekshiruvi</a:t>
            </a:r>
            <a:endParaRPr lang="en-US" sz="1300" dirty="0"/>
          </a:p>
        </p:txBody>
      </p:sp>
      <p:sp>
        <p:nvSpPr>
          <p:cNvPr id="16" name="Text 12"/>
          <p:cNvSpPr/>
          <p:nvPr/>
        </p:nvSpPr>
        <p:spPr>
          <a:xfrm>
            <a:off x="3995928" y="1874520"/>
            <a:ext cx="1828800" cy="283464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Yozma uy vazifalari, testlar va topshiriqlarni daqiqalar ichida avtomatik baholaydi. Milliy o'quv dasturi rubrikalariga asoslangan NLP baholash. Har bir o'quvchiga batafsil, shaxsiylashtirilgan fikr-mulohaza beradi. O'qituvchini haftasiga 7–10 soatlik qo'lda baholashdan ozod qiladi.</a:t>
            </a:r>
            <a:endParaRPr lang="en-US" sz="1100" dirty="0"/>
          </a:p>
        </p:txBody>
      </p:sp>
      <p:sp>
        <p:nvSpPr>
          <p:cNvPr id="17" name="Shape 13"/>
          <p:cNvSpPr/>
          <p:nvPr/>
        </p:nvSpPr>
        <p:spPr>
          <a:xfrm>
            <a:off x="6208776" y="1325880"/>
            <a:ext cx="2697480" cy="3520440"/>
          </a:xfrm>
          <a:prstGeom prst="rect">
            <a:avLst/>
          </a:prstGeom>
          <a:solidFill>
            <a:srgbClr val="FFFFFF"/>
          </a:solidFill>
          <a:ln/>
          <a:effectLst>
            <a:outerShdw sx="100000" sy="100000" kx="0" ky="0" algn="bl" rotWithShape="0" blurRad="127000" dist="38100" dir="8100000">
              <a:srgbClr val="000000">
                <a:alpha val="12000"/>
              </a:srgbClr>
            </a:outerShdw>
          </a:effectLst>
        </p:spPr>
      </p:sp>
      <p:sp>
        <p:nvSpPr>
          <p:cNvPr id="18" name="Shape 14"/>
          <p:cNvSpPr/>
          <p:nvPr/>
        </p:nvSpPr>
        <p:spPr>
          <a:xfrm>
            <a:off x="6208776" y="1325880"/>
            <a:ext cx="54864" cy="3520440"/>
          </a:xfrm>
          <a:prstGeom prst="rect">
            <a:avLst/>
          </a:prstGeom>
          <a:solidFill>
            <a:srgbClr val="00C9B1"/>
          </a:solidFill>
          <a:ln/>
        </p:spPr>
      </p:sp>
      <p:sp>
        <p:nvSpPr>
          <p:cNvPr id="19" name="Shape 15"/>
          <p:cNvSpPr/>
          <p:nvPr/>
        </p:nvSpPr>
        <p:spPr>
          <a:xfrm>
            <a:off x="6345936" y="1490472"/>
            <a:ext cx="502920" cy="502920"/>
          </a:xfrm>
          <a:prstGeom prst="oval">
            <a:avLst/>
          </a:prstGeom>
          <a:solidFill>
            <a:srgbClr val="00C9B1"/>
          </a:solidFill>
          <a:ln/>
        </p:spPr>
      </p:sp>
      <p:pic>
        <p:nvPicPr>
          <p:cNvPr id="20" name="Image 2" descr="preencoded.png">    </p:cNvPr>
          <p:cNvPicPr>
            <a:picLocks noChangeAspect="1"/>
          </p:cNvPicPr>
          <p:nvPr/>
        </p:nvPicPr>
        <p:blipFill>
          <a:blip r:embed="rId3"/>
          <a:stretch>
            <a:fillRect/>
          </a:stretch>
        </p:blipFill>
        <p:spPr>
          <a:xfrm>
            <a:off x="6382512" y="1527048"/>
            <a:ext cx="429768" cy="429768"/>
          </a:xfrm>
          <a:prstGeom prst="rect">
            <a:avLst/>
          </a:prstGeom>
        </p:spPr>
      </p:pic>
      <p:sp>
        <p:nvSpPr>
          <p:cNvPr id="21" name="Text 16"/>
          <p:cNvSpPr/>
          <p:nvPr/>
        </p:nvSpPr>
        <p:spPr>
          <a:xfrm>
            <a:off x="6986016" y="1463040"/>
            <a:ext cx="1828800" cy="384048"/>
          </a:xfrm>
          <a:prstGeom prst="rect">
            <a:avLst/>
          </a:prstGeom>
          <a:noFill/>
          <a:ln/>
        </p:spPr>
        <p:txBody>
          <a:bodyPr wrap="square" lIns="0" tIns="0" rIns="0" bIns="0" rtlCol="0" anchor="ctr"/>
          <a:lstStyle/>
          <a:p>
            <a:pPr indent="0" marL="0">
              <a:buNone/>
            </a:pPr>
            <a:r>
              <a:rPr lang="en-US" sz="1300" b="1" dirty="0">
                <a:solidFill>
                  <a:srgbClr val="2C3E5A"/>
                </a:solidFill>
                <a:latin typeface="Trebuchet MS" pitchFamily="34" charset="0"/>
                <a:ea typeface="Trebuchet MS" pitchFamily="34" charset="-122"/>
                <a:cs typeface="Trebuchet MS" pitchFamily="34" charset="-120"/>
              </a:rPr>
              <a:t>🧠 Salohiyat Tahlilchisi</a:t>
            </a:r>
            <a:endParaRPr lang="en-US" sz="1300" dirty="0"/>
          </a:p>
        </p:txBody>
      </p:sp>
      <p:sp>
        <p:nvSpPr>
          <p:cNvPr id="22" name="Text 17"/>
          <p:cNvSpPr/>
          <p:nvPr/>
        </p:nvSpPr>
        <p:spPr>
          <a:xfrm>
            <a:off x="6986016" y="1874520"/>
            <a:ext cx="1828800" cy="283464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ML modeli 100+ xulq-atvor va akademik signallarni tahlil qiladi. Hozir ko'rinmas iste'dodi bo'lgan iqtidorli o'quvchilarni aniqlaydi. Baholar tushishidan haftalar oldin xavf ostidagi o'quvchilarni belgilaydi. Har bir o'quvchi uchun shaxsiylashtirilgan o'quv yo'lini tavsiya qiladi.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E44AD"/>
          </a:solidFill>
          <a:ln/>
        </p:spPr>
      </p:sp>
      <p:sp>
        <p:nvSpPr>
          <p:cNvPr id="3" name="Text 1"/>
          <p:cNvSpPr/>
          <p:nvPr/>
        </p:nvSpPr>
        <p:spPr>
          <a:xfrm>
            <a:off x="274320" y="182880"/>
            <a:ext cx="8686800" cy="594360"/>
          </a:xfrm>
          <a:prstGeom prst="rect">
            <a:avLst/>
          </a:prstGeom>
          <a:noFill/>
          <a:ln/>
        </p:spPr>
        <p:txBody>
          <a:bodyPr wrap="square" lIns="0" tIns="0" rIns="0" bIns="0" rtlCol="0" anchor="ctr"/>
          <a:lstStyle/>
          <a:p>
            <a:pPr indent="0" marL="0">
              <a:buNone/>
            </a:pPr>
            <a:r>
              <a:rPr lang="en-US" sz="2800" b="1" dirty="0">
                <a:solidFill>
                  <a:srgbClr val="0A1628"/>
                </a:solidFill>
                <a:latin typeface="Trebuchet MS" pitchFamily="34" charset="0"/>
                <a:ea typeface="Trebuchet MS" pitchFamily="34" charset="-122"/>
                <a:cs typeface="Trebuchet MS" pitchFamily="34" charset="-120"/>
              </a:rPr>
              <a:t>TalimZ Qanday Ishlaydi</a:t>
            </a:r>
            <a:endParaRPr lang="en-US" sz="2800" dirty="0"/>
          </a:p>
        </p:txBody>
      </p:sp>
      <p:sp>
        <p:nvSpPr>
          <p:cNvPr id="4" name="Text 2"/>
          <p:cNvSpPr/>
          <p:nvPr/>
        </p:nvSpPr>
        <p:spPr>
          <a:xfrm>
            <a:off x="274320" y="795528"/>
            <a:ext cx="8686800" cy="365760"/>
          </a:xfrm>
          <a:prstGeom prst="rect">
            <a:avLst/>
          </a:prstGeom>
          <a:noFill/>
          <a:ln/>
        </p:spPr>
        <p:txBody>
          <a:bodyPr wrap="square" rtlCol="0" anchor="ctr"/>
          <a:lstStyle/>
          <a:p>
            <a:pPr indent="0" marL="0">
              <a:buNone/>
            </a:pPr>
            <a:r>
              <a:rPr lang="en-US" sz="1300" i="1" dirty="0">
                <a:solidFill>
                  <a:srgbClr val="8FA4C4"/>
                </a:solidFill>
                <a:latin typeface="Calibri" pitchFamily="34" charset="0"/>
                <a:ea typeface="Calibri" pitchFamily="34" charset="-122"/>
                <a:cs typeface="Calibri" pitchFamily="34" charset="-120"/>
              </a:rPr>
              <a:t>Oddiy 3 qatlamli arxitektura: Ma'lumot yig'ish → SI qayta ishlash → Amaliy tavsiyalar</a:t>
            </a:r>
            <a:endParaRPr lang="en-US" sz="1300" dirty="0"/>
          </a:p>
        </p:txBody>
      </p:sp>
      <p:sp>
        <p:nvSpPr>
          <p:cNvPr id="5" name="Shape 3"/>
          <p:cNvSpPr/>
          <p:nvPr/>
        </p:nvSpPr>
        <p:spPr>
          <a:xfrm>
            <a:off x="2112264" y="2103120"/>
            <a:ext cx="320040" cy="109728"/>
          </a:xfrm>
          <a:prstGeom prst="rect">
            <a:avLst/>
          </a:prstGeom>
          <a:solidFill>
            <a:srgbClr val="8FA4C4"/>
          </a:solidFill>
          <a:ln/>
        </p:spPr>
      </p:sp>
      <p:sp>
        <p:nvSpPr>
          <p:cNvPr id="6" name="Text 4"/>
          <p:cNvSpPr/>
          <p:nvPr/>
        </p:nvSpPr>
        <p:spPr>
          <a:xfrm>
            <a:off x="2377440" y="1993392"/>
            <a:ext cx="182880" cy="320040"/>
          </a:xfrm>
          <a:prstGeom prst="rect">
            <a:avLst/>
          </a:prstGeom>
          <a:noFill/>
          <a:ln/>
        </p:spPr>
        <p:txBody>
          <a:bodyPr wrap="square" lIns="0" tIns="0" rIns="0" bIns="0" rtlCol="0" anchor="ctr"/>
          <a:lstStyle/>
          <a:p>
            <a:pPr indent="0" marL="0">
              <a:buNone/>
            </a:pPr>
            <a:r>
              <a:rPr lang="en-US" sz="1400" dirty="0">
                <a:solidFill>
                  <a:srgbClr val="8FA4C4"/>
                </a:solidFill>
              </a:rPr>
              <a:t>▶</a:t>
            </a:r>
            <a:endParaRPr lang="en-US" sz="1400" dirty="0"/>
          </a:p>
        </p:txBody>
      </p:sp>
      <p:sp>
        <p:nvSpPr>
          <p:cNvPr id="7" name="Shape 5"/>
          <p:cNvSpPr/>
          <p:nvPr/>
        </p:nvSpPr>
        <p:spPr>
          <a:xfrm>
            <a:off x="228600" y="1280160"/>
            <a:ext cx="1920240" cy="3566160"/>
          </a:xfrm>
          <a:prstGeom prst="rect">
            <a:avLst/>
          </a:prstGeom>
          <a:solidFill>
            <a:srgbClr val="F0F4FA"/>
          </a:solidFill>
          <a:ln/>
          <a:effectLst>
            <a:outerShdw sx="100000" sy="100000" kx="0" ky="0" algn="bl" rotWithShape="0" blurRad="101600" dist="38100" dir="8100000">
              <a:srgbClr val="000000">
                <a:alpha val="10000"/>
              </a:srgbClr>
            </a:outerShdw>
          </a:effectLst>
        </p:spPr>
      </p:sp>
      <p:sp>
        <p:nvSpPr>
          <p:cNvPr id="8" name="Shape 6"/>
          <p:cNvSpPr/>
          <p:nvPr/>
        </p:nvSpPr>
        <p:spPr>
          <a:xfrm>
            <a:off x="228600" y="1280160"/>
            <a:ext cx="1920240" cy="54864"/>
          </a:xfrm>
          <a:prstGeom prst="rect">
            <a:avLst/>
          </a:prstGeom>
          <a:solidFill>
            <a:srgbClr val="FF6B6B"/>
          </a:solidFill>
          <a:ln/>
        </p:spPr>
      </p:sp>
      <p:sp>
        <p:nvSpPr>
          <p:cNvPr id="9" name="Shape 7"/>
          <p:cNvSpPr/>
          <p:nvPr/>
        </p:nvSpPr>
        <p:spPr>
          <a:xfrm>
            <a:off x="868680" y="1371600"/>
            <a:ext cx="640080" cy="640080"/>
          </a:xfrm>
          <a:prstGeom prst="oval">
            <a:avLst/>
          </a:prstGeom>
          <a:solidFill>
            <a:srgbClr val="FF6B6B"/>
          </a:solidFill>
          <a:ln/>
        </p:spPr>
      </p:sp>
      <p:sp>
        <p:nvSpPr>
          <p:cNvPr id="10" name="Text 8"/>
          <p:cNvSpPr/>
          <p:nvPr/>
        </p:nvSpPr>
        <p:spPr>
          <a:xfrm>
            <a:off x="868680" y="13716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01</a:t>
            </a:r>
            <a:endParaRPr lang="en-US" sz="1800" dirty="0"/>
          </a:p>
        </p:txBody>
      </p:sp>
      <p:sp>
        <p:nvSpPr>
          <p:cNvPr id="11" name="Text 9"/>
          <p:cNvSpPr/>
          <p:nvPr/>
        </p:nvSpPr>
        <p:spPr>
          <a:xfrm>
            <a:off x="320040" y="2103120"/>
            <a:ext cx="1737360" cy="457200"/>
          </a:xfrm>
          <a:prstGeom prst="rect">
            <a:avLst/>
          </a:prstGeom>
          <a:noFill/>
          <a:ln/>
        </p:spPr>
        <p:txBody>
          <a:bodyPr wrap="square" rtlCol="0" anchor="ctr"/>
          <a:lstStyle/>
          <a:p>
            <a:pPr algn="ctr" indent="0" marL="0">
              <a:buNone/>
            </a:pPr>
            <a:r>
              <a:rPr lang="en-US" sz="1300" b="1" dirty="0">
                <a:solidFill>
                  <a:srgbClr val="2C3E5A"/>
                </a:solidFill>
                <a:latin typeface="Trebuchet MS" pitchFamily="34" charset="0"/>
                <a:ea typeface="Trebuchet MS" pitchFamily="34" charset="-122"/>
                <a:cs typeface="Trebuchet MS" pitchFamily="34" charset="-120"/>
              </a:rPr>
              <a:t>Ma'lumot Yig'ish</a:t>
            </a:r>
            <a:endParaRPr lang="en-US" sz="1300" dirty="0"/>
          </a:p>
        </p:txBody>
      </p:sp>
      <p:sp>
        <p:nvSpPr>
          <p:cNvPr id="12" name="Text 10"/>
          <p:cNvSpPr/>
          <p:nvPr/>
        </p:nvSpPr>
        <p:spPr>
          <a:xfrm>
            <a:off x="320040" y="2651760"/>
            <a:ext cx="1737360" cy="210312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Sinf kameralari, o'quvchi qurilmalari, uy vazifalari va LMS ma'lumotlari TalimZ ga xavfsiz uzatiladi.</a:t>
            </a:r>
            <a:endParaRPr lang="en-US" sz="1100" dirty="0"/>
          </a:p>
        </p:txBody>
      </p:sp>
      <p:sp>
        <p:nvSpPr>
          <p:cNvPr id="13" name="Shape 11"/>
          <p:cNvSpPr/>
          <p:nvPr/>
        </p:nvSpPr>
        <p:spPr>
          <a:xfrm>
            <a:off x="4325112" y="2103120"/>
            <a:ext cx="320040" cy="109728"/>
          </a:xfrm>
          <a:prstGeom prst="rect">
            <a:avLst/>
          </a:prstGeom>
          <a:solidFill>
            <a:srgbClr val="8FA4C4"/>
          </a:solidFill>
          <a:ln/>
        </p:spPr>
      </p:sp>
      <p:sp>
        <p:nvSpPr>
          <p:cNvPr id="14" name="Text 12"/>
          <p:cNvSpPr/>
          <p:nvPr/>
        </p:nvSpPr>
        <p:spPr>
          <a:xfrm>
            <a:off x="4590288" y="1993392"/>
            <a:ext cx="182880" cy="320040"/>
          </a:xfrm>
          <a:prstGeom prst="rect">
            <a:avLst/>
          </a:prstGeom>
          <a:noFill/>
          <a:ln/>
        </p:spPr>
        <p:txBody>
          <a:bodyPr wrap="square" lIns="0" tIns="0" rIns="0" bIns="0" rtlCol="0" anchor="ctr"/>
          <a:lstStyle/>
          <a:p>
            <a:pPr indent="0" marL="0">
              <a:buNone/>
            </a:pPr>
            <a:r>
              <a:rPr lang="en-US" sz="1400" dirty="0">
                <a:solidFill>
                  <a:srgbClr val="8FA4C4"/>
                </a:solidFill>
              </a:rPr>
              <a:t>▶</a:t>
            </a:r>
            <a:endParaRPr lang="en-US" sz="1400" dirty="0"/>
          </a:p>
        </p:txBody>
      </p:sp>
      <p:sp>
        <p:nvSpPr>
          <p:cNvPr id="15" name="Shape 13"/>
          <p:cNvSpPr/>
          <p:nvPr/>
        </p:nvSpPr>
        <p:spPr>
          <a:xfrm>
            <a:off x="2441448" y="1280160"/>
            <a:ext cx="1920240" cy="3566160"/>
          </a:xfrm>
          <a:prstGeom prst="rect">
            <a:avLst/>
          </a:prstGeom>
          <a:solidFill>
            <a:srgbClr val="F0F4FA"/>
          </a:solidFill>
          <a:ln/>
          <a:effectLst>
            <a:outerShdw sx="100000" sy="100000" kx="0" ky="0" algn="bl" rotWithShape="0" blurRad="101600" dist="38100" dir="8100000">
              <a:srgbClr val="000000">
                <a:alpha val="10000"/>
              </a:srgbClr>
            </a:outerShdw>
          </a:effectLst>
        </p:spPr>
      </p:sp>
      <p:sp>
        <p:nvSpPr>
          <p:cNvPr id="16" name="Shape 14"/>
          <p:cNvSpPr/>
          <p:nvPr/>
        </p:nvSpPr>
        <p:spPr>
          <a:xfrm>
            <a:off x="2441448" y="1280160"/>
            <a:ext cx="1920240" cy="54864"/>
          </a:xfrm>
          <a:prstGeom prst="rect">
            <a:avLst/>
          </a:prstGeom>
          <a:solidFill>
            <a:srgbClr val="1D90F5"/>
          </a:solidFill>
          <a:ln/>
        </p:spPr>
      </p:sp>
      <p:sp>
        <p:nvSpPr>
          <p:cNvPr id="17" name="Shape 15"/>
          <p:cNvSpPr/>
          <p:nvPr/>
        </p:nvSpPr>
        <p:spPr>
          <a:xfrm>
            <a:off x="3081528" y="1371600"/>
            <a:ext cx="640080" cy="640080"/>
          </a:xfrm>
          <a:prstGeom prst="oval">
            <a:avLst/>
          </a:prstGeom>
          <a:solidFill>
            <a:srgbClr val="1D90F5"/>
          </a:solidFill>
          <a:ln/>
        </p:spPr>
      </p:sp>
      <p:sp>
        <p:nvSpPr>
          <p:cNvPr id="18" name="Text 16"/>
          <p:cNvSpPr/>
          <p:nvPr/>
        </p:nvSpPr>
        <p:spPr>
          <a:xfrm>
            <a:off x="3081528" y="13716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02</a:t>
            </a:r>
            <a:endParaRPr lang="en-US" sz="1800" dirty="0"/>
          </a:p>
        </p:txBody>
      </p:sp>
      <p:sp>
        <p:nvSpPr>
          <p:cNvPr id="19" name="Text 17"/>
          <p:cNvSpPr/>
          <p:nvPr/>
        </p:nvSpPr>
        <p:spPr>
          <a:xfrm>
            <a:off x="2532888" y="2103120"/>
            <a:ext cx="1737360" cy="457200"/>
          </a:xfrm>
          <a:prstGeom prst="rect">
            <a:avLst/>
          </a:prstGeom>
          <a:noFill/>
          <a:ln/>
        </p:spPr>
        <p:txBody>
          <a:bodyPr wrap="square" rtlCol="0" anchor="ctr"/>
          <a:lstStyle/>
          <a:p>
            <a:pPr algn="ctr" indent="0" marL="0">
              <a:buNone/>
            </a:pPr>
            <a:r>
              <a:rPr lang="en-US" sz="1300" b="1" dirty="0">
                <a:solidFill>
                  <a:srgbClr val="2C3E5A"/>
                </a:solidFill>
                <a:latin typeface="Trebuchet MS" pitchFamily="34" charset="0"/>
                <a:ea typeface="Trebuchet MS" pitchFamily="34" charset="-122"/>
                <a:cs typeface="Trebuchet MS" pitchFamily="34" charset="-120"/>
              </a:rPr>
              <a:t>SI Qayta Ishlash</a:t>
            </a:r>
            <a:endParaRPr lang="en-US" sz="1300" dirty="0"/>
          </a:p>
        </p:txBody>
      </p:sp>
      <p:sp>
        <p:nvSpPr>
          <p:cNvPr id="20" name="Text 18"/>
          <p:cNvSpPr/>
          <p:nvPr/>
        </p:nvSpPr>
        <p:spPr>
          <a:xfrm>
            <a:off x="2532888" y="2651760"/>
            <a:ext cx="1737360" cy="210312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CV modellari diqqatni aniqlaydi; NLP matnlarni baholaydi; ML modellari qiziqish darajasini baholaydi va traektoriyalarni bashorat qiladi.</a:t>
            </a:r>
            <a:endParaRPr lang="en-US" sz="1100" dirty="0"/>
          </a:p>
        </p:txBody>
      </p:sp>
      <p:sp>
        <p:nvSpPr>
          <p:cNvPr id="21" name="Shape 19"/>
          <p:cNvSpPr/>
          <p:nvPr/>
        </p:nvSpPr>
        <p:spPr>
          <a:xfrm>
            <a:off x="6537960" y="2103120"/>
            <a:ext cx="320040" cy="109728"/>
          </a:xfrm>
          <a:prstGeom prst="rect">
            <a:avLst/>
          </a:prstGeom>
          <a:solidFill>
            <a:srgbClr val="8FA4C4"/>
          </a:solidFill>
          <a:ln/>
        </p:spPr>
      </p:sp>
      <p:sp>
        <p:nvSpPr>
          <p:cNvPr id="22" name="Text 20"/>
          <p:cNvSpPr/>
          <p:nvPr/>
        </p:nvSpPr>
        <p:spPr>
          <a:xfrm>
            <a:off x="6803136" y="1993392"/>
            <a:ext cx="182880" cy="320040"/>
          </a:xfrm>
          <a:prstGeom prst="rect">
            <a:avLst/>
          </a:prstGeom>
          <a:noFill/>
          <a:ln/>
        </p:spPr>
        <p:txBody>
          <a:bodyPr wrap="square" lIns="0" tIns="0" rIns="0" bIns="0" rtlCol="0" anchor="ctr"/>
          <a:lstStyle/>
          <a:p>
            <a:pPr indent="0" marL="0">
              <a:buNone/>
            </a:pPr>
            <a:r>
              <a:rPr lang="en-US" sz="1400" dirty="0">
                <a:solidFill>
                  <a:srgbClr val="8FA4C4"/>
                </a:solidFill>
              </a:rPr>
              <a:t>▶</a:t>
            </a:r>
            <a:endParaRPr lang="en-US" sz="1400" dirty="0"/>
          </a:p>
        </p:txBody>
      </p:sp>
      <p:sp>
        <p:nvSpPr>
          <p:cNvPr id="23" name="Shape 21"/>
          <p:cNvSpPr/>
          <p:nvPr/>
        </p:nvSpPr>
        <p:spPr>
          <a:xfrm>
            <a:off x="4654296" y="1280160"/>
            <a:ext cx="1920240" cy="3566160"/>
          </a:xfrm>
          <a:prstGeom prst="rect">
            <a:avLst/>
          </a:prstGeom>
          <a:solidFill>
            <a:srgbClr val="F0F4FA"/>
          </a:solidFill>
          <a:ln/>
          <a:effectLst>
            <a:outerShdw sx="100000" sy="100000" kx="0" ky="0" algn="bl" rotWithShape="0" blurRad="101600" dist="38100" dir="8100000">
              <a:srgbClr val="000000">
                <a:alpha val="10000"/>
              </a:srgbClr>
            </a:outerShdw>
          </a:effectLst>
        </p:spPr>
      </p:sp>
      <p:sp>
        <p:nvSpPr>
          <p:cNvPr id="24" name="Shape 22"/>
          <p:cNvSpPr/>
          <p:nvPr/>
        </p:nvSpPr>
        <p:spPr>
          <a:xfrm>
            <a:off x="4654296" y="1280160"/>
            <a:ext cx="1920240" cy="54864"/>
          </a:xfrm>
          <a:prstGeom prst="rect">
            <a:avLst/>
          </a:prstGeom>
          <a:solidFill>
            <a:srgbClr val="00C9B1"/>
          </a:solidFill>
          <a:ln/>
        </p:spPr>
      </p:sp>
      <p:sp>
        <p:nvSpPr>
          <p:cNvPr id="25" name="Shape 23"/>
          <p:cNvSpPr/>
          <p:nvPr/>
        </p:nvSpPr>
        <p:spPr>
          <a:xfrm>
            <a:off x="5294376" y="1371600"/>
            <a:ext cx="640080" cy="640080"/>
          </a:xfrm>
          <a:prstGeom prst="oval">
            <a:avLst/>
          </a:prstGeom>
          <a:solidFill>
            <a:srgbClr val="00C9B1"/>
          </a:solidFill>
          <a:ln/>
        </p:spPr>
      </p:sp>
      <p:sp>
        <p:nvSpPr>
          <p:cNvPr id="26" name="Text 24"/>
          <p:cNvSpPr/>
          <p:nvPr/>
        </p:nvSpPr>
        <p:spPr>
          <a:xfrm>
            <a:off x="5294376" y="13716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03</a:t>
            </a:r>
            <a:endParaRPr lang="en-US" sz="1800" dirty="0"/>
          </a:p>
        </p:txBody>
      </p:sp>
      <p:sp>
        <p:nvSpPr>
          <p:cNvPr id="27" name="Text 25"/>
          <p:cNvSpPr/>
          <p:nvPr/>
        </p:nvSpPr>
        <p:spPr>
          <a:xfrm>
            <a:off x="4745736" y="2103120"/>
            <a:ext cx="1737360" cy="457200"/>
          </a:xfrm>
          <a:prstGeom prst="rect">
            <a:avLst/>
          </a:prstGeom>
          <a:noFill/>
          <a:ln/>
        </p:spPr>
        <p:txBody>
          <a:bodyPr wrap="square" rtlCol="0" anchor="ctr"/>
          <a:lstStyle/>
          <a:p>
            <a:pPr algn="ctr" indent="0" marL="0">
              <a:buNone/>
            </a:pPr>
            <a:r>
              <a:rPr lang="en-US" sz="1300" b="1" dirty="0">
                <a:solidFill>
                  <a:srgbClr val="2C3E5A"/>
                </a:solidFill>
                <a:latin typeface="Trebuchet MS" pitchFamily="34" charset="0"/>
                <a:ea typeface="Trebuchet MS" pitchFamily="34" charset="-122"/>
                <a:cs typeface="Trebuchet MS" pitchFamily="34" charset="-120"/>
              </a:rPr>
              <a:t>O'qituvchi Paneli</a:t>
            </a:r>
            <a:endParaRPr lang="en-US" sz="1300" dirty="0"/>
          </a:p>
        </p:txBody>
      </p:sp>
      <p:sp>
        <p:nvSpPr>
          <p:cNvPr id="28" name="Text 26"/>
          <p:cNvSpPr/>
          <p:nvPr/>
        </p:nvSpPr>
        <p:spPr>
          <a:xfrm>
            <a:off x="4745736" y="2651760"/>
            <a:ext cx="1737360" cy="210312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Jonli diqqat xaritasi, uy vazifasi holati, belgilangan o'quvchilar va haftalik SI hisobotlar real vaqtda yetkaziladi.</a:t>
            </a:r>
            <a:endParaRPr lang="en-US" sz="1100" dirty="0"/>
          </a:p>
        </p:txBody>
      </p:sp>
      <p:sp>
        <p:nvSpPr>
          <p:cNvPr id="29" name="Shape 27"/>
          <p:cNvSpPr/>
          <p:nvPr/>
        </p:nvSpPr>
        <p:spPr>
          <a:xfrm>
            <a:off x="6867144" y="1280160"/>
            <a:ext cx="1920240" cy="3566160"/>
          </a:xfrm>
          <a:prstGeom prst="rect">
            <a:avLst/>
          </a:prstGeom>
          <a:solidFill>
            <a:srgbClr val="F0F4FA"/>
          </a:solidFill>
          <a:ln/>
          <a:effectLst>
            <a:outerShdw sx="100000" sy="100000" kx="0" ky="0" algn="bl" rotWithShape="0" blurRad="101600" dist="38100" dir="8100000">
              <a:srgbClr val="000000">
                <a:alpha val="10000"/>
              </a:srgbClr>
            </a:outerShdw>
          </a:effectLst>
        </p:spPr>
      </p:sp>
      <p:sp>
        <p:nvSpPr>
          <p:cNvPr id="30" name="Shape 28"/>
          <p:cNvSpPr/>
          <p:nvPr/>
        </p:nvSpPr>
        <p:spPr>
          <a:xfrm>
            <a:off x="6867144" y="1280160"/>
            <a:ext cx="1920240" cy="54864"/>
          </a:xfrm>
          <a:prstGeom prst="rect">
            <a:avLst/>
          </a:prstGeom>
          <a:solidFill>
            <a:srgbClr val="F5A623"/>
          </a:solidFill>
          <a:ln/>
        </p:spPr>
      </p:sp>
      <p:sp>
        <p:nvSpPr>
          <p:cNvPr id="31" name="Shape 29"/>
          <p:cNvSpPr/>
          <p:nvPr/>
        </p:nvSpPr>
        <p:spPr>
          <a:xfrm>
            <a:off x="7507224" y="1371600"/>
            <a:ext cx="640080" cy="640080"/>
          </a:xfrm>
          <a:prstGeom prst="oval">
            <a:avLst/>
          </a:prstGeom>
          <a:solidFill>
            <a:srgbClr val="F5A623"/>
          </a:solidFill>
          <a:ln/>
        </p:spPr>
      </p:sp>
      <p:sp>
        <p:nvSpPr>
          <p:cNvPr id="32" name="Text 30"/>
          <p:cNvSpPr/>
          <p:nvPr/>
        </p:nvSpPr>
        <p:spPr>
          <a:xfrm>
            <a:off x="7507224" y="13716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04</a:t>
            </a:r>
            <a:endParaRPr lang="en-US" sz="1800" dirty="0"/>
          </a:p>
        </p:txBody>
      </p:sp>
      <p:sp>
        <p:nvSpPr>
          <p:cNvPr id="33" name="Text 31"/>
          <p:cNvSpPr/>
          <p:nvPr/>
        </p:nvSpPr>
        <p:spPr>
          <a:xfrm>
            <a:off x="6958584" y="2103120"/>
            <a:ext cx="1737360" cy="457200"/>
          </a:xfrm>
          <a:prstGeom prst="rect">
            <a:avLst/>
          </a:prstGeom>
          <a:noFill/>
          <a:ln/>
        </p:spPr>
        <p:txBody>
          <a:bodyPr wrap="square" rtlCol="0" anchor="ctr"/>
          <a:lstStyle/>
          <a:p>
            <a:pPr algn="ctr" indent="0" marL="0">
              <a:buNone/>
            </a:pPr>
            <a:r>
              <a:rPr lang="en-US" sz="1300" b="1" dirty="0">
                <a:solidFill>
                  <a:srgbClr val="2C3E5A"/>
                </a:solidFill>
                <a:latin typeface="Trebuchet MS" pitchFamily="34" charset="0"/>
                <a:ea typeface="Trebuchet MS" pitchFamily="34" charset="-122"/>
                <a:cs typeface="Trebuchet MS" pitchFamily="34" charset="-120"/>
              </a:rPr>
              <a:t>O'quvchi Tahlillari</a:t>
            </a:r>
            <a:endParaRPr lang="en-US" sz="1300" dirty="0"/>
          </a:p>
        </p:txBody>
      </p:sp>
      <p:sp>
        <p:nvSpPr>
          <p:cNvPr id="34" name="Text 32"/>
          <p:cNvSpPr/>
          <p:nvPr/>
        </p:nvSpPr>
        <p:spPr>
          <a:xfrm>
            <a:off x="6958584" y="2651760"/>
            <a:ext cx="1737360" cy="210312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Har bir o'quvchi shaxsiylashtirilgan fikr-mulohaza oladi: nima yaxshilanishi kerak, o'quv uslubi tavsiyas va rivojlanish grafiklari.</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C9B1"/>
          </a:solidFill>
          <a:ln/>
        </p:spPr>
      </p:sp>
      <p:sp>
        <p:nvSpPr>
          <p:cNvPr id="3" name="Text 1"/>
          <p:cNvSpPr/>
          <p:nvPr/>
        </p:nvSpPr>
        <p:spPr>
          <a:xfrm>
            <a:off x="274320" y="182880"/>
            <a:ext cx="8686800" cy="594360"/>
          </a:xfrm>
          <a:prstGeom prst="rect">
            <a:avLst/>
          </a:prstGeom>
          <a:noFill/>
          <a:ln/>
        </p:spPr>
        <p:txBody>
          <a:bodyPr wrap="square" lIns="0" tIns="0" rIns="0" bIns="0" rtlCol="0" anchor="ctr"/>
          <a:lstStyle/>
          <a:p>
            <a:pPr indent="0" marL="0">
              <a:buNone/>
            </a:pPr>
            <a:r>
              <a:rPr lang="en-US" sz="2800" b="1" dirty="0">
                <a:solidFill>
                  <a:srgbClr val="0A1628"/>
                </a:solidFill>
                <a:latin typeface="Trebuchet MS" pitchFamily="34" charset="0"/>
                <a:ea typeface="Trebuchet MS" pitchFamily="34" charset="-122"/>
                <a:cs typeface="Trebuchet MS" pitchFamily="34" charset="-120"/>
              </a:rPr>
              <a:t>Ilmiy Tadqiqotlarga Asoslangan Texnologiya</a:t>
            </a:r>
            <a:endParaRPr lang="en-US" sz="2800" dirty="0"/>
          </a:p>
        </p:txBody>
      </p:sp>
      <p:sp>
        <p:nvSpPr>
          <p:cNvPr id="4" name="Text 2"/>
          <p:cNvSpPr/>
          <p:nvPr/>
        </p:nvSpPr>
        <p:spPr>
          <a:xfrm>
            <a:off x="274320" y="795528"/>
            <a:ext cx="8686800" cy="365760"/>
          </a:xfrm>
          <a:prstGeom prst="rect">
            <a:avLst/>
          </a:prstGeom>
          <a:noFill/>
          <a:ln/>
        </p:spPr>
        <p:txBody>
          <a:bodyPr wrap="square" rtlCol="0" anchor="ctr"/>
          <a:lstStyle/>
          <a:p>
            <a:pPr indent="0" marL="0">
              <a:buNone/>
            </a:pPr>
            <a:r>
              <a:rPr lang="en-US" sz="1300" i="1" dirty="0">
                <a:solidFill>
                  <a:srgbClr val="8FA4C4"/>
                </a:solidFill>
                <a:latin typeface="Calibri" pitchFamily="34" charset="0"/>
                <a:ea typeface="Calibri" pitchFamily="34" charset="-122"/>
                <a:cs typeface="Calibri" pitchFamily="34" charset="-120"/>
              </a:rPr>
              <a:t>TalimZ yetakchi ta'lim muassasalarining isbotlangan ML va NLP tadqiqotlari asosida qurilgan</a:t>
            </a:r>
            <a:endParaRPr lang="en-US" sz="1300" dirty="0"/>
          </a:p>
        </p:txBody>
      </p:sp>
      <p:sp>
        <p:nvSpPr>
          <p:cNvPr id="5" name="Shape 3"/>
          <p:cNvSpPr/>
          <p:nvPr/>
        </p:nvSpPr>
        <p:spPr>
          <a:xfrm>
            <a:off x="228600" y="1280160"/>
            <a:ext cx="4297680" cy="13258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4"/>
          <p:cNvSpPr/>
          <p:nvPr/>
        </p:nvSpPr>
        <p:spPr>
          <a:xfrm>
            <a:off x="228600" y="1280160"/>
            <a:ext cx="4297680" cy="54864"/>
          </a:xfrm>
          <a:prstGeom prst="rect">
            <a:avLst/>
          </a:prstGeom>
          <a:solidFill>
            <a:srgbClr val="00C9B1"/>
          </a:solidFill>
          <a:ln/>
        </p:spPr>
      </p:sp>
      <p:sp>
        <p:nvSpPr>
          <p:cNvPr id="7" name="Shape 5"/>
          <p:cNvSpPr/>
          <p:nvPr/>
        </p:nvSpPr>
        <p:spPr>
          <a:xfrm>
            <a:off x="338328" y="1389888"/>
            <a:ext cx="502920" cy="502920"/>
          </a:xfrm>
          <a:prstGeom prst="oval">
            <a:avLst/>
          </a:prstGeom>
          <a:solidFill>
            <a:srgbClr val="00C9B1"/>
          </a:solidFill>
          <a:ln/>
        </p:spPr>
      </p:sp>
      <p:pic>
        <p:nvPicPr>
          <p:cNvPr id="8" name="Image 0" descr="preencoded.png">    </p:cNvPr>
          <p:cNvPicPr>
            <a:picLocks noChangeAspect="1"/>
          </p:cNvPicPr>
          <p:nvPr/>
        </p:nvPicPr>
        <p:blipFill>
          <a:blip r:embed="rId1"/>
          <a:stretch>
            <a:fillRect/>
          </a:stretch>
        </p:blipFill>
        <p:spPr>
          <a:xfrm>
            <a:off x="374904" y="1426464"/>
            <a:ext cx="429768" cy="429768"/>
          </a:xfrm>
          <a:prstGeom prst="rect">
            <a:avLst/>
          </a:prstGeom>
        </p:spPr>
      </p:pic>
      <p:sp>
        <p:nvSpPr>
          <p:cNvPr id="9" name="Text 6"/>
          <p:cNvSpPr/>
          <p:nvPr/>
        </p:nvSpPr>
        <p:spPr>
          <a:xfrm>
            <a:off x="978408" y="1371600"/>
            <a:ext cx="3456432" cy="384048"/>
          </a:xfrm>
          <a:prstGeom prst="rect">
            <a:avLst/>
          </a:prstGeom>
          <a:noFill/>
          <a:ln/>
        </p:spPr>
        <p:txBody>
          <a:bodyPr wrap="square" lIns="0" tIns="0" rIns="0" bIns="0" rtlCol="0" anchor="ctr"/>
          <a:lstStyle/>
          <a:p>
            <a:pPr indent="0" marL="0">
              <a:buNone/>
            </a:pPr>
            <a:r>
              <a:rPr lang="en-US" sz="1300" b="1" dirty="0">
                <a:solidFill>
                  <a:srgbClr val="2C3E5A"/>
                </a:solidFill>
                <a:latin typeface="Trebuchet MS" pitchFamily="34" charset="0"/>
                <a:ea typeface="Trebuchet MS" pitchFamily="34" charset="-122"/>
                <a:cs typeface="Trebuchet MS" pitchFamily="34" charset="-120"/>
              </a:rPr>
              <a:t>O'quvchi Samaradorligini Bashorat Qilish</a:t>
            </a:r>
            <a:endParaRPr lang="en-US" sz="1300" dirty="0"/>
          </a:p>
        </p:txBody>
      </p:sp>
      <p:sp>
        <p:nvSpPr>
          <p:cNvPr id="10" name="Text 7"/>
          <p:cNvSpPr/>
          <p:nvPr/>
        </p:nvSpPr>
        <p:spPr>
          <a:xfrm>
            <a:off x="978408" y="1783080"/>
            <a:ext cx="3456432" cy="77724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ML modellari o'quvchi baholarini bashorat qilishda 72–96% aniqlikka erishadi (Alkan va b., 2025). Random Forest va Gradient Boosting akademik ma'lumotlar uchun eng samarali usullar ekani isbotlangan.</a:t>
            </a:r>
            <a:endParaRPr lang="en-US" sz="1100" dirty="0"/>
          </a:p>
        </p:txBody>
      </p:sp>
      <p:sp>
        <p:nvSpPr>
          <p:cNvPr id="11" name="Shape 8"/>
          <p:cNvSpPr/>
          <p:nvPr/>
        </p:nvSpPr>
        <p:spPr>
          <a:xfrm>
            <a:off x="4754880" y="1280160"/>
            <a:ext cx="4297680" cy="13258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2" name="Shape 9"/>
          <p:cNvSpPr/>
          <p:nvPr/>
        </p:nvSpPr>
        <p:spPr>
          <a:xfrm>
            <a:off x="4754880" y="1280160"/>
            <a:ext cx="4297680" cy="54864"/>
          </a:xfrm>
          <a:prstGeom prst="rect">
            <a:avLst/>
          </a:prstGeom>
          <a:solidFill>
            <a:srgbClr val="1D90F5"/>
          </a:solidFill>
          <a:ln/>
        </p:spPr>
      </p:sp>
      <p:sp>
        <p:nvSpPr>
          <p:cNvPr id="13" name="Shape 10"/>
          <p:cNvSpPr/>
          <p:nvPr/>
        </p:nvSpPr>
        <p:spPr>
          <a:xfrm>
            <a:off x="4864608" y="1389888"/>
            <a:ext cx="502920" cy="502920"/>
          </a:xfrm>
          <a:prstGeom prst="oval">
            <a:avLst/>
          </a:prstGeom>
          <a:solidFill>
            <a:srgbClr val="1D90F5"/>
          </a:solidFill>
          <a:ln/>
        </p:spPr>
      </p:sp>
      <p:pic>
        <p:nvPicPr>
          <p:cNvPr id="14" name="Image 1" descr="preencoded.png">    </p:cNvPr>
          <p:cNvPicPr>
            <a:picLocks noChangeAspect="1"/>
          </p:cNvPicPr>
          <p:nvPr/>
        </p:nvPicPr>
        <p:blipFill>
          <a:blip r:embed="rId2"/>
          <a:stretch>
            <a:fillRect/>
          </a:stretch>
        </p:blipFill>
        <p:spPr>
          <a:xfrm>
            <a:off x="4901184" y="1426464"/>
            <a:ext cx="429768" cy="429768"/>
          </a:xfrm>
          <a:prstGeom prst="rect">
            <a:avLst/>
          </a:prstGeom>
        </p:spPr>
      </p:pic>
      <p:sp>
        <p:nvSpPr>
          <p:cNvPr id="15" name="Text 11"/>
          <p:cNvSpPr/>
          <p:nvPr/>
        </p:nvSpPr>
        <p:spPr>
          <a:xfrm>
            <a:off x="5504688" y="1371600"/>
            <a:ext cx="3456432" cy="384048"/>
          </a:xfrm>
          <a:prstGeom prst="rect">
            <a:avLst/>
          </a:prstGeom>
          <a:noFill/>
          <a:ln/>
        </p:spPr>
        <p:txBody>
          <a:bodyPr wrap="square" lIns="0" tIns="0" rIns="0" bIns="0" rtlCol="0" anchor="ctr"/>
          <a:lstStyle/>
          <a:p>
            <a:pPr indent="0" marL="0">
              <a:buNone/>
            </a:pPr>
            <a:r>
              <a:rPr lang="en-US" sz="1300" b="1" dirty="0">
                <a:solidFill>
                  <a:srgbClr val="2C3E5A"/>
                </a:solidFill>
                <a:latin typeface="Trebuchet MS" pitchFamily="34" charset="0"/>
                <a:ea typeface="Trebuchet MS" pitchFamily="34" charset="-122"/>
                <a:cs typeface="Trebuchet MS" pitchFamily="34" charset="-120"/>
              </a:rPr>
              <a:t>SI Baholash Aniqligi</a:t>
            </a:r>
            <a:endParaRPr lang="en-US" sz="1300" dirty="0"/>
          </a:p>
        </p:txBody>
      </p:sp>
      <p:sp>
        <p:nvSpPr>
          <p:cNvPr id="16" name="Text 12"/>
          <p:cNvSpPr/>
          <p:nvPr/>
        </p:nvSpPr>
        <p:spPr>
          <a:xfrm>
            <a:off x="5504688" y="1783080"/>
            <a:ext cx="3456432" cy="77724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Learnosity Feedback Aide QWK ko'rsatkichi 0.88 ga erishdi (0.8 = 'yaxshi' deb hisoblanadi). SI baholash bir xil sifatda vaqtni 80% qisqartiradi.</a:t>
            </a:r>
            <a:endParaRPr lang="en-US" sz="1100" dirty="0"/>
          </a:p>
        </p:txBody>
      </p:sp>
      <p:sp>
        <p:nvSpPr>
          <p:cNvPr id="17" name="Shape 13"/>
          <p:cNvSpPr/>
          <p:nvPr/>
        </p:nvSpPr>
        <p:spPr>
          <a:xfrm>
            <a:off x="228600" y="2743200"/>
            <a:ext cx="4297680" cy="13258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8" name="Shape 14"/>
          <p:cNvSpPr/>
          <p:nvPr/>
        </p:nvSpPr>
        <p:spPr>
          <a:xfrm>
            <a:off x="228600" y="2743200"/>
            <a:ext cx="4297680" cy="54864"/>
          </a:xfrm>
          <a:prstGeom prst="rect">
            <a:avLst/>
          </a:prstGeom>
          <a:solidFill>
            <a:srgbClr val="F5A623"/>
          </a:solidFill>
          <a:ln/>
        </p:spPr>
      </p:sp>
      <p:sp>
        <p:nvSpPr>
          <p:cNvPr id="19" name="Shape 15"/>
          <p:cNvSpPr/>
          <p:nvPr/>
        </p:nvSpPr>
        <p:spPr>
          <a:xfrm>
            <a:off x="338328" y="2852928"/>
            <a:ext cx="502920" cy="502920"/>
          </a:xfrm>
          <a:prstGeom prst="oval">
            <a:avLst/>
          </a:prstGeom>
          <a:solidFill>
            <a:srgbClr val="F5A623"/>
          </a:solidFill>
          <a:ln/>
        </p:spPr>
      </p:sp>
      <p:pic>
        <p:nvPicPr>
          <p:cNvPr id="20" name="Image 2" descr="preencoded.png">    </p:cNvPr>
          <p:cNvPicPr>
            <a:picLocks noChangeAspect="1"/>
          </p:cNvPicPr>
          <p:nvPr/>
        </p:nvPicPr>
        <p:blipFill>
          <a:blip r:embed="rId3"/>
          <a:stretch>
            <a:fillRect/>
          </a:stretch>
        </p:blipFill>
        <p:spPr>
          <a:xfrm>
            <a:off x="374904" y="2889504"/>
            <a:ext cx="429768" cy="429768"/>
          </a:xfrm>
          <a:prstGeom prst="rect">
            <a:avLst/>
          </a:prstGeom>
        </p:spPr>
      </p:pic>
      <p:sp>
        <p:nvSpPr>
          <p:cNvPr id="21" name="Text 16"/>
          <p:cNvSpPr/>
          <p:nvPr/>
        </p:nvSpPr>
        <p:spPr>
          <a:xfrm>
            <a:off x="978408" y="2834640"/>
            <a:ext cx="3456432" cy="384048"/>
          </a:xfrm>
          <a:prstGeom prst="rect">
            <a:avLst/>
          </a:prstGeom>
          <a:noFill/>
          <a:ln/>
        </p:spPr>
        <p:txBody>
          <a:bodyPr wrap="square" lIns="0" tIns="0" rIns="0" bIns="0" rtlCol="0" anchor="ctr"/>
          <a:lstStyle/>
          <a:p>
            <a:pPr indent="0" marL="0">
              <a:buNone/>
            </a:pPr>
            <a:r>
              <a:rPr lang="en-US" sz="1300" b="1" dirty="0">
                <a:solidFill>
                  <a:srgbClr val="2C3E5A"/>
                </a:solidFill>
                <a:latin typeface="Trebuchet MS" pitchFamily="34" charset="0"/>
                <a:ea typeface="Trebuchet MS" pitchFamily="34" charset="-122"/>
                <a:cs typeface="Trebuchet MS" pitchFamily="34" charset="-120"/>
              </a:rPr>
              <a:t>Erta Aralashuv Natija Beradi</a:t>
            </a:r>
            <a:endParaRPr lang="en-US" sz="1300" dirty="0"/>
          </a:p>
        </p:txBody>
      </p:sp>
      <p:sp>
        <p:nvSpPr>
          <p:cNvPr id="22" name="Text 17"/>
          <p:cNvSpPr/>
          <p:nvPr/>
        </p:nvSpPr>
        <p:spPr>
          <a:xfrm>
            <a:off x="978408" y="3246120"/>
            <a:ext cx="3456432" cy="77724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Georgia State Universiteti: har o'quvchi uchun 800+ xavf omilini tahlil qilib bitiruvchilik darajasini 23% oshirdi. Bashorat tahlilini joriy etgan universitetlarda ushlab qolish darajasi 15–20% ko'tarildi (McKinsey).</a:t>
            </a:r>
            <a:endParaRPr lang="en-US" sz="1100" dirty="0"/>
          </a:p>
        </p:txBody>
      </p:sp>
      <p:sp>
        <p:nvSpPr>
          <p:cNvPr id="23" name="Shape 18"/>
          <p:cNvSpPr/>
          <p:nvPr/>
        </p:nvSpPr>
        <p:spPr>
          <a:xfrm>
            <a:off x="4754880" y="2743200"/>
            <a:ext cx="4297680" cy="13258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4" name="Shape 19"/>
          <p:cNvSpPr/>
          <p:nvPr/>
        </p:nvSpPr>
        <p:spPr>
          <a:xfrm>
            <a:off x="4754880" y="2743200"/>
            <a:ext cx="4297680" cy="54864"/>
          </a:xfrm>
          <a:prstGeom prst="rect">
            <a:avLst/>
          </a:prstGeom>
          <a:solidFill>
            <a:srgbClr val="2ECC71"/>
          </a:solidFill>
          <a:ln/>
        </p:spPr>
      </p:sp>
      <p:sp>
        <p:nvSpPr>
          <p:cNvPr id="25" name="Shape 20"/>
          <p:cNvSpPr/>
          <p:nvPr/>
        </p:nvSpPr>
        <p:spPr>
          <a:xfrm>
            <a:off x="4864608" y="2852928"/>
            <a:ext cx="502920" cy="502920"/>
          </a:xfrm>
          <a:prstGeom prst="oval">
            <a:avLst/>
          </a:prstGeom>
          <a:solidFill>
            <a:srgbClr val="2ECC71"/>
          </a:solidFill>
          <a:ln/>
        </p:spPr>
      </p:sp>
      <p:pic>
        <p:nvPicPr>
          <p:cNvPr id="26" name="Image 3" descr="preencoded.png">    </p:cNvPr>
          <p:cNvPicPr>
            <a:picLocks noChangeAspect="1"/>
          </p:cNvPicPr>
          <p:nvPr/>
        </p:nvPicPr>
        <p:blipFill>
          <a:blip r:embed="rId4"/>
          <a:stretch>
            <a:fillRect/>
          </a:stretch>
        </p:blipFill>
        <p:spPr>
          <a:xfrm>
            <a:off x="4901184" y="2889504"/>
            <a:ext cx="429768" cy="429768"/>
          </a:xfrm>
          <a:prstGeom prst="rect">
            <a:avLst/>
          </a:prstGeom>
        </p:spPr>
      </p:pic>
      <p:sp>
        <p:nvSpPr>
          <p:cNvPr id="27" name="Text 21"/>
          <p:cNvSpPr/>
          <p:nvPr/>
        </p:nvSpPr>
        <p:spPr>
          <a:xfrm>
            <a:off x="5504688" y="2834640"/>
            <a:ext cx="3456432" cy="384048"/>
          </a:xfrm>
          <a:prstGeom prst="rect">
            <a:avLst/>
          </a:prstGeom>
          <a:noFill/>
          <a:ln/>
        </p:spPr>
        <p:txBody>
          <a:bodyPr wrap="square" lIns="0" tIns="0" rIns="0" bIns="0" rtlCol="0" anchor="ctr"/>
          <a:lstStyle/>
          <a:p>
            <a:pPr indent="0" marL="0">
              <a:buNone/>
            </a:pPr>
            <a:r>
              <a:rPr lang="en-US" sz="1300" b="1" dirty="0">
                <a:solidFill>
                  <a:srgbClr val="2C3E5A"/>
                </a:solidFill>
                <a:latin typeface="Trebuchet MS" pitchFamily="34" charset="0"/>
                <a:ea typeface="Trebuchet MS" pitchFamily="34" charset="-122"/>
                <a:cs typeface="Trebuchet MS" pitchFamily="34" charset="-120"/>
              </a:rPr>
              <a:t>O'qituvchi Vaqtini Tejash</a:t>
            </a:r>
            <a:endParaRPr lang="en-US" sz="1300" dirty="0"/>
          </a:p>
        </p:txBody>
      </p:sp>
      <p:sp>
        <p:nvSpPr>
          <p:cNvPr id="28" name="Text 22"/>
          <p:cNvSpPr/>
          <p:nvPr/>
        </p:nvSpPr>
        <p:spPr>
          <a:xfrm>
            <a:off x="5504688" y="3246120"/>
            <a:ext cx="3456432" cy="777240"/>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SI vositalari o'qituvchilarga haftasiga o'rtacha 5.9 soatni tejaydi — bu yiliga 6 to'liq haftaga teng. O'quvchilarning 89.7% si darhol SI fikr-mulohazasi samaradorligini oshirishini bildirdi.</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D90F5"/>
          </a:solidFill>
          <a:ln/>
        </p:spPr>
      </p:sp>
      <p:sp>
        <p:nvSpPr>
          <p:cNvPr id="3" name="Text 1"/>
          <p:cNvSpPr/>
          <p:nvPr/>
        </p:nvSpPr>
        <p:spPr>
          <a:xfrm>
            <a:off x="274320" y="182880"/>
            <a:ext cx="8686800" cy="594360"/>
          </a:xfrm>
          <a:prstGeom prst="rect">
            <a:avLst/>
          </a:prstGeom>
          <a:noFill/>
          <a:ln/>
        </p:spPr>
        <p:txBody>
          <a:bodyPr wrap="square" lIns="0" tIns="0" rIns="0" bIns="0" rtlCol="0" anchor="ctr"/>
          <a:lstStyle/>
          <a:p>
            <a:pPr indent="0" marL="0">
              <a:buNone/>
            </a:pPr>
            <a:r>
              <a:rPr lang="en-US" sz="2800" b="1" dirty="0">
                <a:solidFill>
                  <a:srgbClr val="0A1628"/>
                </a:solidFill>
                <a:latin typeface="Trebuchet MS" pitchFamily="34" charset="0"/>
                <a:ea typeface="Trebuchet MS" pitchFamily="34" charset="-122"/>
                <a:cs typeface="Trebuchet MS" pitchFamily="34" charset="-120"/>
              </a:rPr>
              <a:t>Bozor Imkoniyati</a:t>
            </a:r>
            <a:endParaRPr lang="en-US" sz="2800" dirty="0"/>
          </a:p>
        </p:txBody>
      </p:sp>
      <p:sp>
        <p:nvSpPr>
          <p:cNvPr id="4" name="Text 2"/>
          <p:cNvSpPr/>
          <p:nvPr/>
        </p:nvSpPr>
        <p:spPr>
          <a:xfrm>
            <a:off x="274320" y="795528"/>
            <a:ext cx="8686800" cy="365760"/>
          </a:xfrm>
          <a:prstGeom prst="rect">
            <a:avLst/>
          </a:prstGeom>
          <a:noFill/>
          <a:ln/>
        </p:spPr>
        <p:txBody>
          <a:bodyPr wrap="square" rtlCol="0" anchor="ctr"/>
          <a:lstStyle/>
          <a:p>
            <a:pPr indent="0" marL="0">
              <a:buNone/>
            </a:pPr>
            <a:r>
              <a:rPr lang="en-US" sz="1300" i="1" dirty="0">
                <a:solidFill>
                  <a:srgbClr val="8FA4C4"/>
                </a:solidFill>
                <a:latin typeface="Calibri" pitchFamily="34" charset="0"/>
                <a:ea typeface="Calibri" pitchFamily="34" charset="-122"/>
                <a:cs typeface="Calibri" pitchFamily="34" charset="-120"/>
              </a:rPr>
              <a:t>Ulkan global bozor — Markaziy Osiyoda aniq va kam xizmat ko'rsatilgan nish</a:t>
            </a:r>
            <a:endParaRPr lang="en-US" sz="1300" dirty="0"/>
          </a:p>
        </p:txBody>
      </p:sp>
      <p:graphicFrame>
        <p:nvGraphicFramePr>
          <p:cNvPr id="5" name="Chart 0" descr=""/>
          <p:cNvGraphicFramePr/>
          <p:nvPr/>
        </p:nvGraphicFramePr>
        <p:xfrm>
          <a:off x="228600" y="1280160"/>
          <a:ext cx="502920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669280" y="1371600"/>
            <a:ext cx="914400" cy="914400"/>
          </a:xfrm>
          <a:prstGeom prst="oval">
            <a:avLst/>
          </a:prstGeom>
          <a:solidFill>
            <a:srgbClr val="1D90F5">
              <a:alpha val="85000"/>
            </a:srgbClr>
          </a:solidFill>
          <a:ln/>
        </p:spPr>
      </p:sp>
      <p:sp>
        <p:nvSpPr>
          <p:cNvPr id="7" name="Shape 4"/>
          <p:cNvSpPr/>
          <p:nvPr/>
        </p:nvSpPr>
        <p:spPr>
          <a:xfrm>
            <a:off x="5669280" y="2560320"/>
            <a:ext cx="804672" cy="804672"/>
          </a:xfrm>
          <a:prstGeom prst="oval">
            <a:avLst/>
          </a:prstGeom>
          <a:solidFill>
            <a:srgbClr val="00C9B1">
              <a:alpha val="85000"/>
            </a:srgbClr>
          </a:solidFill>
          <a:ln/>
        </p:spPr>
      </p:sp>
      <p:sp>
        <p:nvSpPr>
          <p:cNvPr id="8" name="Shape 5"/>
          <p:cNvSpPr/>
          <p:nvPr/>
        </p:nvSpPr>
        <p:spPr>
          <a:xfrm>
            <a:off x="5669280" y="3749040"/>
            <a:ext cx="694944" cy="694944"/>
          </a:xfrm>
          <a:prstGeom prst="oval">
            <a:avLst/>
          </a:prstGeom>
          <a:solidFill>
            <a:srgbClr val="F5A623">
              <a:alpha val="85000"/>
            </a:srgbClr>
          </a:solidFill>
          <a:ln/>
        </p:spPr>
      </p:sp>
      <p:sp>
        <p:nvSpPr>
          <p:cNvPr id="9" name="Shape 6"/>
          <p:cNvSpPr/>
          <p:nvPr/>
        </p:nvSpPr>
        <p:spPr>
          <a:xfrm>
            <a:off x="6858000" y="1417320"/>
            <a:ext cx="2011680" cy="10058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0" name="Shape 7"/>
          <p:cNvSpPr/>
          <p:nvPr/>
        </p:nvSpPr>
        <p:spPr>
          <a:xfrm>
            <a:off x="6858000" y="1417320"/>
            <a:ext cx="54864" cy="1005840"/>
          </a:xfrm>
          <a:prstGeom prst="rect">
            <a:avLst/>
          </a:prstGeom>
          <a:solidFill>
            <a:srgbClr val="1D90F5"/>
          </a:solidFill>
          <a:ln/>
        </p:spPr>
      </p:sp>
      <p:sp>
        <p:nvSpPr>
          <p:cNvPr id="11" name="Text 8"/>
          <p:cNvSpPr/>
          <p:nvPr/>
        </p:nvSpPr>
        <p:spPr>
          <a:xfrm>
            <a:off x="6995160" y="1463040"/>
            <a:ext cx="640080" cy="347472"/>
          </a:xfrm>
          <a:prstGeom prst="rect">
            <a:avLst/>
          </a:prstGeom>
          <a:noFill/>
          <a:ln/>
        </p:spPr>
        <p:txBody>
          <a:bodyPr wrap="square" lIns="0" tIns="0" rIns="0" bIns="0" rtlCol="0" anchor="ctr"/>
          <a:lstStyle/>
          <a:p>
            <a:pPr indent="0" marL="0">
              <a:buNone/>
            </a:pPr>
            <a:r>
              <a:rPr lang="en-US" sz="1800" b="1" dirty="0">
                <a:solidFill>
                  <a:srgbClr val="1D90F5"/>
                </a:solidFill>
                <a:latin typeface="Trebuchet MS" pitchFamily="34" charset="0"/>
                <a:ea typeface="Trebuchet MS" pitchFamily="34" charset="-122"/>
                <a:cs typeface="Trebuchet MS" pitchFamily="34" charset="-120"/>
              </a:rPr>
              <a:t>TAM</a:t>
            </a:r>
            <a:endParaRPr lang="en-US" sz="1800" dirty="0"/>
          </a:p>
        </p:txBody>
      </p:sp>
      <p:sp>
        <p:nvSpPr>
          <p:cNvPr id="12" name="Text 9"/>
          <p:cNvSpPr/>
          <p:nvPr/>
        </p:nvSpPr>
        <p:spPr>
          <a:xfrm>
            <a:off x="6995160" y="1783080"/>
            <a:ext cx="1828800" cy="347472"/>
          </a:xfrm>
          <a:prstGeom prst="rect">
            <a:avLst/>
          </a:prstGeom>
          <a:noFill/>
          <a:ln/>
        </p:spPr>
        <p:txBody>
          <a:bodyPr wrap="square" lIns="0" tIns="0" rIns="0" bIns="0" rtlCol="0" anchor="ctr"/>
          <a:lstStyle/>
          <a:p>
            <a:pPr indent="0" marL="0">
              <a:buNone/>
            </a:pPr>
            <a:r>
              <a:rPr lang="en-US" sz="1400" b="1" dirty="0">
                <a:solidFill>
                  <a:srgbClr val="2C3E5A"/>
                </a:solidFill>
                <a:latin typeface="Trebuchet MS" pitchFamily="34" charset="0"/>
                <a:ea typeface="Trebuchet MS" pitchFamily="34" charset="-122"/>
                <a:cs typeface="Trebuchet MS" pitchFamily="34" charset="-120"/>
              </a:rPr>
              <a:t>$41 mlrd</a:t>
            </a:r>
            <a:endParaRPr lang="en-US" sz="1400" dirty="0"/>
          </a:p>
        </p:txBody>
      </p:sp>
      <p:sp>
        <p:nvSpPr>
          <p:cNvPr id="13" name="Text 10"/>
          <p:cNvSpPr/>
          <p:nvPr/>
        </p:nvSpPr>
        <p:spPr>
          <a:xfrm>
            <a:off x="6995160" y="2103120"/>
            <a:ext cx="1828800" cy="274320"/>
          </a:xfrm>
          <a:prstGeom prst="rect">
            <a:avLst/>
          </a:prstGeom>
          <a:noFill/>
          <a:ln/>
        </p:spPr>
        <p:txBody>
          <a:bodyPr wrap="square" lIns="0" tIns="0" rIns="0" bIns="0" rtlCol="0" anchor="ctr"/>
          <a:lstStyle/>
          <a:p>
            <a:pPr indent="0" marL="0">
              <a:buNone/>
            </a:pPr>
            <a:r>
              <a:rPr lang="en-US" sz="1000" dirty="0">
                <a:solidFill>
                  <a:srgbClr val="8FA4C4"/>
                </a:solidFill>
                <a:latin typeface="Calibri" pitchFamily="34" charset="0"/>
                <a:ea typeface="Calibri" pitchFamily="34" charset="-122"/>
                <a:cs typeface="Calibri" pitchFamily="34" charset="-120"/>
              </a:rPr>
              <a:t>Global SI-ta'lim (2030)</a:t>
            </a:r>
            <a:endParaRPr lang="en-US" sz="1000" dirty="0"/>
          </a:p>
        </p:txBody>
      </p:sp>
      <p:sp>
        <p:nvSpPr>
          <p:cNvPr id="14" name="Shape 11"/>
          <p:cNvSpPr/>
          <p:nvPr/>
        </p:nvSpPr>
        <p:spPr>
          <a:xfrm>
            <a:off x="6858000" y="2606040"/>
            <a:ext cx="2011680" cy="10058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5" name="Shape 12"/>
          <p:cNvSpPr/>
          <p:nvPr/>
        </p:nvSpPr>
        <p:spPr>
          <a:xfrm>
            <a:off x="6858000" y="2606040"/>
            <a:ext cx="54864" cy="1005840"/>
          </a:xfrm>
          <a:prstGeom prst="rect">
            <a:avLst/>
          </a:prstGeom>
          <a:solidFill>
            <a:srgbClr val="00C9B1"/>
          </a:solidFill>
          <a:ln/>
        </p:spPr>
      </p:sp>
      <p:sp>
        <p:nvSpPr>
          <p:cNvPr id="16" name="Text 13"/>
          <p:cNvSpPr/>
          <p:nvPr/>
        </p:nvSpPr>
        <p:spPr>
          <a:xfrm>
            <a:off x="6995160" y="2651760"/>
            <a:ext cx="640080" cy="347472"/>
          </a:xfrm>
          <a:prstGeom prst="rect">
            <a:avLst/>
          </a:prstGeom>
          <a:noFill/>
          <a:ln/>
        </p:spPr>
        <p:txBody>
          <a:bodyPr wrap="square" lIns="0" tIns="0" rIns="0" bIns="0" rtlCol="0" anchor="ctr"/>
          <a:lstStyle/>
          <a:p>
            <a:pPr indent="0" marL="0">
              <a:buNone/>
            </a:pPr>
            <a:r>
              <a:rPr lang="en-US" sz="1800" b="1" dirty="0">
                <a:solidFill>
                  <a:srgbClr val="00C9B1"/>
                </a:solidFill>
                <a:latin typeface="Trebuchet MS" pitchFamily="34" charset="0"/>
                <a:ea typeface="Trebuchet MS" pitchFamily="34" charset="-122"/>
                <a:cs typeface="Trebuchet MS" pitchFamily="34" charset="-120"/>
              </a:rPr>
              <a:t>SAM</a:t>
            </a:r>
            <a:endParaRPr lang="en-US" sz="1800" dirty="0"/>
          </a:p>
        </p:txBody>
      </p:sp>
      <p:sp>
        <p:nvSpPr>
          <p:cNvPr id="17" name="Text 14"/>
          <p:cNvSpPr/>
          <p:nvPr/>
        </p:nvSpPr>
        <p:spPr>
          <a:xfrm>
            <a:off x="6995160" y="2971800"/>
            <a:ext cx="1828800" cy="347472"/>
          </a:xfrm>
          <a:prstGeom prst="rect">
            <a:avLst/>
          </a:prstGeom>
          <a:noFill/>
          <a:ln/>
        </p:spPr>
        <p:txBody>
          <a:bodyPr wrap="square" lIns="0" tIns="0" rIns="0" bIns="0" rtlCol="0" anchor="ctr"/>
          <a:lstStyle/>
          <a:p>
            <a:pPr indent="0" marL="0">
              <a:buNone/>
            </a:pPr>
            <a:r>
              <a:rPr lang="en-US" sz="1400" b="1" dirty="0">
                <a:solidFill>
                  <a:srgbClr val="2C3E5A"/>
                </a:solidFill>
                <a:latin typeface="Trebuchet MS" pitchFamily="34" charset="0"/>
                <a:ea typeface="Trebuchet MS" pitchFamily="34" charset="-122"/>
                <a:cs typeface="Trebuchet MS" pitchFamily="34" charset="-120"/>
              </a:rPr>
              <a:t>$3.2 mlrd</a:t>
            </a:r>
            <a:endParaRPr lang="en-US" sz="1400" dirty="0"/>
          </a:p>
        </p:txBody>
      </p:sp>
      <p:sp>
        <p:nvSpPr>
          <p:cNvPr id="18" name="Text 15"/>
          <p:cNvSpPr/>
          <p:nvPr/>
        </p:nvSpPr>
        <p:spPr>
          <a:xfrm>
            <a:off x="6995160" y="3291840"/>
            <a:ext cx="1828800" cy="274320"/>
          </a:xfrm>
          <a:prstGeom prst="rect">
            <a:avLst/>
          </a:prstGeom>
          <a:noFill/>
          <a:ln/>
        </p:spPr>
        <p:txBody>
          <a:bodyPr wrap="square" lIns="0" tIns="0" rIns="0" bIns="0" rtlCol="0" anchor="ctr"/>
          <a:lstStyle/>
          <a:p>
            <a:pPr indent="0" marL="0">
              <a:buNone/>
            </a:pPr>
            <a:r>
              <a:rPr lang="en-US" sz="1000" dirty="0">
                <a:solidFill>
                  <a:srgbClr val="8FA4C4"/>
                </a:solidFill>
                <a:latin typeface="Calibri" pitchFamily="34" charset="0"/>
                <a:ea typeface="Calibri" pitchFamily="34" charset="-122"/>
                <a:cs typeface="Calibri" pitchFamily="34" charset="-120"/>
              </a:rPr>
              <a:t>Osiyo-Tinch okeani K-12 SI platformalari</a:t>
            </a:r>
            <a:endParaRPr lang="en-US" sz="1000" dirty="0"/>
          </a:p>
        </p:txBody>
      </p:sp>
      <p:sp>
        <p:nvSpPr>
          <p:cNvPr id="19" name="Shape 16"/>
          <p:cNvSpPr/>
          <p:nvPr/>
        </p:nvSpPr>
        <p:spPr>
          <a:xfrm>
            <a:off x="6858000" y="3794760"/>
            <a:ext cx="2011680" cy="10058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0" name="Shape 17"/>
          <p:cNvSpPr/>
          <p:nvPr/>
        </p:nvSpPr>
        <p:spPr>
          <a:xfrm>
            <a:off x="6858000" y="3794760"/>
            <a:ext cx="54864" cy="1005840"/>
          </a:xfrm>
          <a:prstGeom prst="rect">
            <a:avLst/>
          </a:prstGeom>
          <a:solidFill>
            <a:srgbClr val="F5A623"/>
          </a:solidFill>
          <a:ln/>
        </p:spPr>
      </p:sp>
      <p:sp>
        <p:nvSpPr>
          <p:cNvPr id="21" name="Text 18"/>
          <p:cNvSpPr/>
          <p:nvPr/>
        </p:nvSpPr>
        <p:spPr>
          <a:xfrm>
            <a:off x="6995160" y="3840480"/>
            <a:ext cx="640080" cy="347472"/>
          </a:xfrm>
          <a:prstGeom prst="rect">
            <a:avLst/>
          </a:prstGeom>
          <a:noFill/>
          <a:ln/>
        </p:spPr>
        <p:txBody>
          <a:bodyPr wrap="square" lIns="0" tIns="0" rIns="0" bIns="0" rtlCol="0" anchor="ctr"/>
          <a:lstStyle/>
          <a:p>
            <a:pPr indent="0" marL="0">
              <a:buNone/>
            </a:pPr>
            <a:r>
              <a:rPr lang="en-US" sz="1800" b="1" dirty="0">
                <a:solidFill>
                  <a:srgbClr val="F5A623"/>
                </a:solidFill>
                <a:latin typeface="Trebuchet MS" pitchFamily="34" charset="0"/>
                <a:ea typeface="Trebuchet MS" pitchFamily="34" charset="-122"/>
                <a:cs typeface="Trebuchet MS" pitchFamily="34" charset="-120"/>
              </a:rPr>
              <a:t>SOM</a:t>
            </a:r>
            <a:endParaRPr lang="en-US" sz="1800" dirty="0"/>
          </a:p>
        </p:txBody>
      </p:sp>
      <p:sp>
        <p:nvSpPr>
          <p:cNvPr id="22" name="Text 19"/>
          <p:cNvSpPr/>
          <p:nvPr/>
        </p:nvSpPr>
        <p:spPr>
          <a:xfrm>
            <a:off x="6995160" y="4160520"/>
            <a:ext cx="1828800" cy="347472"/>
          </a:xfrm>
          <a:prstGeom prst="rect">
            <a:avLst/>
          </a:prstGeom>
          <a:noFill/>
          <a:ln/>
        </p:spPr>
        <p:txBody>
          <a:bodyPr wrap="square" lIns="0" tIns="0" rIns="0" bIns="0" rtlCol="0" anchor="ctr"/>
          <a:lstStyle/>
          <a:p>
            <a:pPr indent="0" marL="0">
              <a:buNone/>
            </a:pPr>
            <a:r>
              <a:rPr lang="en-US" sz="1400" b="1" dirty="0">
                <a:solidFill>
                  <a:srgbClr val="2C3E5A"/>
                </a:solidFill>
                <a:latin typeface="Trebuchet MS" pitchFamily="34" charset="0"/>
                <a:ea typeface="Trebuchet MS" pitchFamily="34" charset="-122"/>
                <a:cs typeface="Trebuchet MS" pitchFamily="34" charset="-120"/>
              </a:rPr>
              <a:t>$85 mln</a:t>
            </a:r>
            <a:endParaRPr lang="en-US" sz="1400" dirty="0"/>
          </a:p>
        </p:txBody>
      </p:sp>
      <p:sp>
        <p:nvSpPr>
          <p:cNvPr id="23" name="Text 20"/>
          <p:cNvSpPr/>
          <p:nvPr/>
        </p:nvSpPr>
        <p:spPr>
          <a:xfrm>
            <a:off x="6995160" y="4480560"/>
            <a:ext cx="1828800" cy="274320"/>
          </a:xfrm>
          <a:prstGeom prst="rect">
            <a:avLst/>
          </a:prstGeom>
          <a:noFill/>
          <a:ln/>
        </p:spPr>
        <p:txBody>
          <a:bodyPr wrap="square" lIns="0" tIns="0" rIns="0" bIns="0" rtlCol="0" anchor="ctr"/>
          <a:lstStyle/>
          <a:p>
            <a:pPr indent="0" marL="0">
              <a:buNone/>
            </a:pPr>
            <a:r>
              <a:rPr lang="en-US" sz="1000" dirty="0">
                <a:solidFill>
                  <a:srgbClr val="8FA4C4"/>
                </a:solidFill>
                <a:latin typeface="Calibri" pitchFamily="34" charset="0"/>
                <a:ea typeface="Calibri" pitchFamily="34" charset="-122"/>
                <a:cs typeface="Calibri" pitchFamily="34" charset="-120"/>
              </a:rPr>
              <a:t>Markaziy Osiyo (O'z, Qoz, Qir) 2028 yilga</a:t>
            </a:r>
            <a:endParaRPr lang="en-US" sz="1000" dirty="0"/>
          </a:p>
        </p:txBody>
      </p:sp>
      <p:sp>
        <p:nvSpPr>
          <p:cNvPr id="24" name="Text 21"/>
          <p:cNvSpPr/>
          <p:nvPr/>
        </p:nvSpPr>
        <p:spPr>
          <a:xfrm>
            <a:off x="228600" y="4754880"/>
            <a:ext cx="8686800" cy="274320"/>
          </a:xfrm>
          <a:prstGeom prst="rect">
            <a:avLst/>
          </a:prstGeom>
          <a:noFill/>
          <a:ln/>
        </p:spPr>
        <p:txBody>
          <a:bodyPr wrap="square" rtlCol="0" anchor="ctr"/>
          <a:lstStyle/>
          <a:p>
            <a:pPr algn="ctr" indent="0" marL="0">
              <a:buNone/>
            </a:pPr>
            <a:r>
              <a:rPr lang="en-US" sz="1100" i="1" dirty="0">
                <a:solidFill>
                  <a:srgbClr val="8FA4C4"/>
                </a:solidFill>
                <a:latin typeface="Calibri" pitchFamily="34" charset="0"/>
                <a:ea typeface="Calibri" pitchFamily="34" charset="-122"/>
                <a:cs typeface="Calibri" pitchFamily="34" charset="-120"/>
              </a:rPr>
              <a:t>CAGR: 42.8% (2025–2030) | K-12 eng tez o'sayotgan segment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ECC71"/>
          </a:solidFill>
          <a:ln/>
        </p:spPr>
      </p:sp>
      <p:sp>
        <p:nvSpPr>
          <p:cNvPr id="3" name="Text 1"/>
          <p:cNvSpPr/>
          <p:nvPr/>
        </p:nvSpPr>
        <p:spPr>
          <a:xfrm>
            <a:off x="274320" y="182880"/>
            <a:ext cx="8686800" cy="594360"/>
          </a:xfrm>
          <a:prstGeom prst="rect">
            <a:avLst/>
          </a:prstGeom>
          <a:noFill/>
          <a:ln/>
        </p:spPr>
        <p:txBody>
          <a:bodyPr wrap="square" lIns="0" tIns="0" rIns="0" bIns="0" rtlCol="0" anchor="ctr"/>
          <a:lstStyle/>
          <a:p>
            <a:pPr indent="0" marL="0">
              <a:buNone/>
            </a:pPr>
            <a:r>
              <a:rPr lang="en-US" sz="2800" b="1" dirty="0">
                <a:solidFill>
                  <a:srgbClr val="0A1628"/>
                </a:solidFill>
                <a:latin typeface="Trebuchet MS" pitchFamily="34" charset="0"/>
                <a:ea typeface="Trebuchet MS" pitchFamily="34" charset="-122"/>
                <a:cs typeface="Trebuchet MS" pitchFamily="34" charset="-120"/>
              </a:rPr>
              <a:t>Monetizatsiya Strategiyasi</a:t>
            </a:r>
            <a:endParaRPr lang="en-US" sz="2800" dirty="0"/>
          </a:p>
        </p:txBody>
      </p:sp>
      <p:sp>
        <p:nvSpPr>
          <p:cNvPr id="4" name="Text 2"/>
          <p:cNvSpPr/>
          <p:nvPr/>
        </p:nvSpPr>
        <p:spPr>
          <a:xfrm>
            <a:off x="274320" y="795528"/>
            <a:ext cx="8686800" cy="365760"/>
          </a:xfrm>
          <a:prstGeom prst="rect">
            <a:avLst/>
          </a:prstGeom>
          <a:noFill/>
          <a:ln/>
        </p:spPr>
        <p:txBody>
          <a:bodyPr wrap="square" rtlCol="0" anchor="ctr"/>
          <a:lstStyle/>
          <a:p>
            <a:pPr indent="0" marL="0">
              <a:buNone/>
            </a:pPr>
            <a:r>
              <a:rPr lang="en-US" sz="1300" i="1" dirty="0">
                <a:solidFill>
                  <a:srgbClr val="8FA4C4"/>
                </a:solidFill>
                <a:latin typeface="Calibri" pitchFamily="34" charset="0"/>
                <a:ea typeface="Calibri" pitchFamily="34" charset="-122"/>
                <a:cs typeface="Calibri" pitchFamily="34" charset="-120"/>
              </a:rPr>
              <a:t>Ikki manba — maktab asosiy, ota-ona premium — 8.5M ota-ona bozori</a:t>
            </a:r>
            <a:endParaRPr lang="en-US" sz="1300" dirty="0"/>
          </a:p>
        </p:txBody>
      </p:sp>
      <p:sp>
        <p:nvSpPr>
          <p:cNvPr id="5" name="Shape 3"/>
          <p:cNvSpPr/>
          <p:nvPr/>
        </p:nvSpPr>
        <p:spPr>
          <a:xfrm>
            <a:off x="228600" y="1207008"/>
            <a:ext cx="4160520" cy="3611880"/>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6" name="Shape 4"/>
          <p:cNvSpPr/>
          <p:nvPr/>
        </p:nvSpPr>
        <p:spPr>
          <a:xfrm>
            <a:off x="228600" y="1207008"/>
            <a:ext cx="4160520" cy="54864"/>
          </a:xfrm>
          <a:prstGeom prst="rect">
            <a:avLst/>
          </a:prstGeom>
          <a:solidFill>
            <a:srgbClr val="00C9B1"/>
          </a:solidFill>
          <a:ln/>
        </p:spPr>
      </p:sp>
      <p:sp>
        <p:nvSpPr>
          <p:cNvPr id="7" name="Shape 5"/>
          <p:cNvSpPr/>
          <p:nvPr/>
        </p:nvSpPr>
        <p:spPr>
          <a:xfrm>
            <a:off x="1691640" y="1298448"/>
            <a:ext cx="1188720" cy="1188720"/>
          </a:xfrm>
          <a:prstGeom prst="oval">
            <a:avLst/>
          </a:prstGeom>
          <a:solidFill>
            <a:srgbClr val="00C9B1"/>
          </a:solidFill>
          <a:ln/>
        </p:spPr>
      </p:sp>
      <p:pic>
        <p:nvPicPr>
          <p:cNvPr id="8" name="Image 0" descr="preencoded.png">    </p:cNvPr>
          <p:cNvPicPr>
            <a:picLocks noChangeAspect="1"/>
          </p:cNvPicPr>
          <p:nvPr/>
        </p:nvPicPr>
        <p:blipFill>
          <a:blip r:embed="rId1"/>
          <a:stretch>
            <a:fillRect/>
          </a:stretch>
        </p:blipFill>
        <p:spPr>
          <a:xfrm>
            <a:off x="1746504" y="1353312"/>
            <a:ext cx="1078992" cy="1078992"/>
          </a:xfrm>
          <a:prstGeom prst="rect">
            <a:avLst/>
          </a:prstGeom>
        </p:spPr>
      </p:pic>
      <p:sp>
        <p:nvSpPr>
          <p:cNvPr id="9" name="Text 6"/>
          <p:cNvSpPr/>
          <p:nvPr/>
        </p:nvSpPr>
        <p:spPr>
          <a:xfrm>
            <a:off x="320040" y="2606040"/>
            <a:ext cx="3977640" cy="384048"/>
          </a:xfrm>
          <a:prstGeom prst="rect">
            <a:avLst/>
          </a:prstGeom>
          <a:noFill/>
          <a:ln/>
        </p:spPr>
        <p:txBody>
          <a:bodyPr wrap="square" lIns="0" tIns="0" rIns="0" bIns="0" rtlCol="0" anchor="ctr"/>
          <a:lstStyle/>
          <a:p>
            <a:pPr algn="ctr" indent="0" marL="0">
              <a:buNone/>
            </a:pPr>
            <a:r>
              <a:rPr lang="en-US" sz="1800" b="1" dirty="0">
                <a:solidFill>
                  <a:srgbClr val="2C3E5A"/>
                </a:solidFill>
                <a:latin typeface="Trebuchet MS" pitchFamily="34" charset="0"/>
                <a:ea typeface="Trebuchet MS" pitchFamily="34" charset="-122"/>
                <a:cs typeface="Trebuchet MS" pitchFamily="34" charset="-120"/>
              </a:rPr>
              <a:t>O'quvchi Tarifi</a:t>
            </a:r>
            <a:endParaRPr lang="en-US" sz="1800" dirty="0"/>
          </a:p>
        </p:txBody>
      </p:sp>
      <p:sp>
        <p:nvSpPr>
          <p:cNvPr id="10" name="Text 7"/>
          <p:cNvSpPr/>
          <p:nvPr/>
        </p:nvSpPr>
        <p:spPr>
          <a:xfrm>
            <a:off x="320040" y="2944368"/>
            <a:ext cx="3977640" cy="685800"/>
          </a:xfrm>
          <a:prstGeom prst="rect">
            <a:avLst/>
          </a:prstGeom>
          <a:noFill/>
          <a:ln/>
        </p:spPr>
        <p:txBody>
          <a:bodyPr wrap="square" lIns="0" tIns="0" rIns="0" bIns="0" rtlCol="0" anchor="ctr"/>
          <a:lstStyle/>
          <a:p>
            <a:pPr algn="ctr" indent="0" marL="0">
              <a:buNone/>
            </a:pPr>
            <a:r>
              <a:rPr lang="en-US" sz="5400" b="1" dirty="0">
                <a:solidFill>
                  <a:srgbClr val="00C9B1"/>
                </a:solidFill>
                <a:latin typeface="Trebuchet MS" pitchFamily="34" charset="0"/>
                <a:ea typeface="Trebuchet MS" pitchFamily="34" charset="-122"/>
                <a:cs typeface="Trebuchet MS" pitchFamily="34" charset="-120"/>
              </a:rPr>
              <a:t>$1</a:t>
            </a:r>
            <a:endParaRPr lang="en-US" sz="5400" dirty="0"/>
          </a:p>
        </p:txBody>
      </p:sp>
      <p:sp>
        <p:nvSpPr>
          <p:cNvPr id="11" name="Text 8"/>
          <p:cNvSpPr/>
          <p:nvPr/>
        </p:nvSpPr>
        <p:spPr>
          <a:xfrm>
            <a:off x="320040" y="3611880"/>
            <a:ext cx="3977640" cy="274320"/>
          </a:xfrm>
          <a:prstGeom prst="rect">
            <a:avLst/>
          </a:prstGeom>
          <a:noFill/>
          <a:ln/>
        </p:spPr>
        <p:txBody>
          <a:bodyPr wrap="square" rtlCol="0" anchor="ctr"/>
          <a:lstStyle/>
          <a:p>
            <a:pPr algn="ctr" indent="0" marL="0">
              <a:buNone/>
            </a:pPr>
            <a:r>
              <a:rPr lang="en-US" sz="1200" dirty="0">
                <a:solidFill>
                  <a:srgbClr val="8FA4C4"/>
                </a:solidFill>
                <a:latin typeface="Calibri" pitchFamily="34" charset="0"/>
                <a:ea typeface="Calibri" pitchFamily="34" charset="-122"/>
                <a:cs typeface="Calibri" pitchFamily="34" charset="-120"/>
              </a:rPr>
              <a:t>har bir o'quvchi uchun / oyiga</a:t>
            </a:r>
            <a:endParaRPr lang="en-US" sz="1200" dirty="0"/>
          </a:p>
        </p:txBody>
      </p:sp>
      <p:sp>
        <p:nvSpPr>
          <p:cNvPr id="12" name="Text 9"/>
          <p:cNvSpPr/>
          <p:nvPr/>
        </p:nvSpPr>
        <p:spPr>
          <a:xfrm>
            <a:off x="320040" y="3904488"/>
            <a:ext cx="3977640" cy="256032"/>
          </a:xfrm>
          <a:prstGeom prst="rect">
            <a:avLst/>
          </a:prstGeom>
          <a:noFill/>
          <a:ln/>
        </p:spPr>
        <p:txBody>
          <a:bodyPr wrap="square" rtlCol="0" anchor="ctr"/>
          <a:lstStyle/>
          <a:p>
            <a:pPr algn="ctr" indent="0" marL="0">
              <a:buNone/>
            </a:pPr>
            <a:r>
              <a:rPr lang="en-US" sz="1100" i="1" dirty="0">
                <a:solidFill>
                  <a:srgbClr val="2C3E5A"/>
                </a:solidFill>
                <a:latin typeface="Calibri" pitchFamily="34" charset="0"/>
                <a:ea typeface="Calibri" pitchFamily="34" charset="-122"/>
                <a:cs typeface="Calibri" pitchFamily="34" charset="-120"/>
              </a:rPr>
              <a:t>Maktab to'laydi  ·  O'quvchi uchun bepul</a:t>
            </a:r>
            <a:endParaRPr lang="en-US" sz="1100" dirty="0"/>
          </a:p>
        </p:txBody>
      </p:sp>
      <p:sp>
        <p:nvSpPr>
          <p:cNvPr id="13" name="Shape 10"/>
          <p:cNvSpPr/>
          <p:nvPr/>
        </p:nvSpPr>
        <p:spPr>
          <a:xfrm>
            <a:off x="320040" y="4206240"/>
            <a:ext cx="3977640" cy="475488"/>
          </a:xfrm>
          <a:prstGeom prst="rect">
            <a:avLst/>
          </a:prstGeom>
          <a:solidFill>
            <a:srgbClr val="E8FBF6"/>
          </a:solidFill>
          <a:ln/>
        </p:spPr>
      </p:sp>
      <p:sp>
        <p:nvSpPr>
          <p:cNvPr id="14" name="Text 11"/>
          <p:cNvSpPr/>
          <p:nvPr/>
        </p:nvSpPr>
        <p:spPr>
          <a:xfrm>
            <a:off x="384048" y="4233672"/>
            <a:ext cx="3840480" cy="384048"/>
          </a:xfrm>
          <a:prstGeom prst="rect">
            <a:avLst/>
          </a:prstGeom>
          <a:noFill/>
          <a:ln/>
        </p:spPr>
        <p:txBody>
          <a:bodyPr wrap="square" rtlCol="0" anchor="ctr"/>
          <a:lstStyle/>
          <a:p>
            <a:pPr algn="ctr" indent="0" marL="0">
              <a:buNone/>
            </a:pPr>
            <a:r>
              <a:rPr lang="en-US" sz="1200" b="1" dirty="0">
                <a:solidFill>
                  <a:srgbClr val="00C9B1"/>
                </a:solidFill>
                <a:latin typeface="Trebuchet MS" pitchFamily="34" charset="0"/>
                <a:ea typeface="Trebuchet MS" pitchFamily="34" charset="-122"/>
                <a:cs typeface="Trebuchet MS" pitchFamily="34" charset="-120"/>
              </a:rPr>
              <a:t>350 o'quvchili maktab  →  $350/oy</a:t>
            </a:r>
            <a:endParaRPr lang="en-US" sz="1200" dirty="0"/>
          </a:p>
        </p:txBody>
      </p:sp>
      <p:sp>
        <p:nvSpPr>
          <p:cNvPr id="15" name="Shape 12"/>
          <p:cNvSpPr/>
          <p:nvPr/>
        </p:nvSpPr>
        <p:spPr>
          <a:xfrm>
            <a:off x="4754880" y="1207008"/>
            <a:ext cx="4160520" cy="3611880"/>
          </a:xfrm>
          <a:prstGeom prst="rect">
            <a:avLst/>
          </a:prstGeom>
          <a:solidFill>
            <a:srgbClr val="FFFFFF"/>
          </a:solidFill>
          <a:ln/>
          <a:effectLst>
            <a:outerShdw sx="100000" sy="100000" kx="0" ky="0" algn="bl" rotWithShape="0" blurRad="203200" dist="38100" dir="8100000">
              <a:srgbClr val="000000">
                <a:alpha val="18000"/>
              </a:srgbClr>
            </a:outerShdw>
          </a:effectLst>
        </p:spPr>
      </p:sp>
      <p:sp>
        <p:nvSpPr>
          <p:cNvPr id="16" name="Shape 13"/>
          <p:cNvSpPr/>
          <p:nvPr/>
        </p:nvSpPr>
        <p:spPr>
          <a:xfrm>
            <a:off x="4754880" y="1207008"/>
            <a:ext cx="4160520" cy="54864"/>
          </a:xfrm>
          <a:prstGeom prst="rect">
            <a:avLst/>
          </a:prstGeom>
          <a:solidFill>
            <a:srgbClr val="F5A623"/>
          </a:solidFill>
          <a:ln/>
        </p:spPr>
      </p:sp>
      <p:sp>
        <p:nvSpPr>
          <p:cNvPr id="17" name="Shape 14"/>
          <p:cNvSpPr/>
          <p:nvPr/>
        </p:nvSpPr>
        <p:spPr>
          <a:xfrm>
            <a:off x="8119872" y="1207008"/>
            <a:ext cx="795528" cy="292608"/>
          </a:xfrm>
          <a:prstGeom prst="rect">
            <a:avLst/>
          </a:prstGeom>
          <a:solidFill>
            <a:srgbClr val="FF6B6B"/>
          </a:solidFill>
          <a:ln/>
        </p:spPr>
      </p:sp>
      <p:sp>
        <p:nvSpPr>
          <p:cNvPr id="18" name="Text 15"/>
          <p:cNvSpPr/>
          <p:nvPr/>
        </p:nvSpPr>
        <p:spPr>
          <a:xfrm>
            <a:off x="8119872" y="1207008"/>
            <a:ext cx="79552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YANGI</a:t>
            </a:r>
            <a:endParaRPr lang="en-US" sz="900" dirty="0"/>
          </a:p>
        </p:txBody>
      </p:sp>
      <p:sp>
        <p:nvSpPr>
          <p:cNvPr id="19" name="Shape 16"/>
          <p:cNvSpPr/>
          <p:nvPr/>
        </p:nvSpPr>
        <p:spPr>
          <a:xfrm>
            <a:off x="6217920" y="1298448"/>
            <a:ext cx="1188720" cy="1188720"/>
          </a:xfrm>
          <a:prstGeom prst="oval">
            <a:avLst/>
          </a:prstGeom>
          <a:solidFill>
            <a:srgbClr val="F5A623"/>
          </a:solidFill>
          <a:ln/>
        </p:spPr>
      </p:sp>
      <p:pic>
        <p:nvPicPr>
          <p:cNvPr id="20" name="Image 1" descr="preencoded.png">    </p:cNvPr>
          <p:cNvPicPr>
            <a:picLocks noChangeAspect="1"/>
          </p:cNvPicPr>
          <p:nvPr/>
        </p:nvPicPr>
        <p:blipFill>
          <a:blip r:embed="rId2"/>
          <a:stretch>
            <a:fillRect/>
          </a:stretch>
        </p:blipFill>
        <p:spPr>
          <a:xfrm>
            <a:off x="6272784" y="1353312"/>
            <a:ext cx="1078992" cy="1078992"/>
          </a:xfrm>
          <a:prstGeom prst="rect">
            <a:avLst/>
          </a:prstGeom>
        </p:spPr>
      </p:pic>
      <p:sp>
        <p:nvSpPr>
          <p:cNvPr id="21" name="Text 17"/>
          <p:cNvSpPr/>
          <p:nvPr/>
        </p:nvSpPr>
        <p:spPr>
          <a:xfrm>
            <a:off x="4846320" y="2606040"/>
            <a:ext cx="3977640" cy="384048"/>
          </a:xfrm>
          <a:prstGeom prst="rect">
            <a:avLst/>
          </a:prstGeom>
          <a:noFill/>
          <a:ln/>
        </p:spPr>
        <p:txBody>
          <a:bodyPr wrap="square" lIns="0" tIns="0" rIns="0" bIns="0" rtlCol="0" anchor="ctr"/>
          <a:lstStyle/>
          <a:p>
            <a:pPr algn="ctr" indent="0" marL="0">
              <a:buNone/>
            </a:pPr>
            <a:r>
              <a:rPr lang="en-US" sz="1800" b="1" dirty="0">
                <a:solidFill>
                  <a:srgbClr val="2C3E5A"/>
                </a:solidFill>
                <a:latin typeface="Trebuchet MS" pitchFamily="34" charset="0"/>
                <a:ea typeface="Trebuchet MS" pitchFamily="34" charset="-122"/>
                <a:cs typeface="Trebuchet MS" pitchFamily="34" charset="-120"/>
              </a:rPr>
              <a:t>Ota-ona Premium</a:t>
            </a:r>
            <a:endParaRPr lang="en-US" sz="1800" dirty="0"/>
          </a:p>
        </p:txBody>
      </p:sp>
      <p:sp>
        <p:nvSpPr>
          <p:cNvPr id="22" name="Text 18"/>
          <p:cNvSpPr/>
          <p:nvPr/>
        </p:nvSpPr>
        <p:spPr>
          <a:xfrm>
            <a:off x="4846320" y="2944368"/>
            <a:ext cx="3977640" cy="685800"/>
          </a:xfrm>
          <a:prstGeom prst="rect">
            <a:avLst/>
          </a:prstGeom>
          <a:noFill/>
          <a:ln/>
        </p:spPr>
        <p:txBody>
          <a:bodyPr wrap="square" lIns="0" tIns="0" rIns="0" bIns="0" rtlCol="0" anchor="ctr"/>
          <a:lstStyle/>
          <a:p>
            <a:pPr algn="ctr" indent="0" marL="0">
              <a:buNone/>
            </a:pPr>
            <a:r>
              <a:rPr lang="en-US" sz="5400" b="1" dirty="0">
                <a:solidFill>
                  <a:srgbClr val="F5A623"/>
                </a:solidFill>
                <a:latin typeface="Trebuchet MS" pitchFamily="34" charset="0"/>
                <a:ea typeface="Trebuchet MS" pitchFamily="34" charset="-122"/>
                <a:cs typeface="Trebuchet MS" pitchFamily="34" charset="-120"/>
              </a:rPr>
              <a:t>$5</a:t>
            </a:r>
            <a:endParaRPr lang="en-US" sz="5400" dirty="0"/>
          </a:p>
        </p:txBody>
      </p:sp>
      <p:sp>
        <p:nvSpPr>
          <p:cNvPr id="23" name="Text 19"/>
          <p:cNvSpPr/>
          <p:nvPr/>
        </p:nvSpPr>
        <p:spPr>
          <a:xfrm>
            <a:off x="4846320" y="3611880"/>
            <a:ext cx="3977640" cy="274320"/>
          </a:xfrm>
          <a:prstGeom prst="rect">
            <a:avLst/>
          </a:prstGeom>
          <a:noFill/>
          <a:ln/>
        </p:spPr>
        <p:txBody>
          <a:bodyPr wrap="square" rtlCol="0" anchor="ctr"/>
          <a:lstStyle/>
          <a:p>
            <a:pPr algn="ctr" indent="0" marL="0">
              <a:buNone/>
            </a:pPr>
            <a:r>
              <a:rPr lang="en-US" sz="1200" dirty="0">
                <a:solidFill>
                  <a:srgbClr val="8FA4C4"/>
                </a:solidFill>
                <a:latin typeface="Calibri" pitchFamily="34" charset="0"/>
                <a:ea typeface="Calibri" pitchFamily="34" charset="-122"/>
                <a:cs typeface="Calibri" pitchFamily="34" charset="-120"/>
              </a:rPr>
              <a:t>ota-ona uchun / oyiga  —  IXTIYORIY</a:t>
            </a:r>
            <a:endParaRPr lang="en-US" sz="1200" dirty="0"/>
          </a:p>
        </p:txBody>
      </p:sp>
      <p:sp>
        <p:nvSpPr>
          <p:cNvPr id="24" name="Shape 20"/>
          <p:cNvSpPr/>
          <p:nvPr/>
        </p:nvSpPr>
        <p:spPr>
          <a:xfrm>
            <a:off x="4892040" y="3959352"/>
            <a:ext cx="164592" cy="164592"/>
          </a:xfrm>
          <a:prstGeom prst="oval">
            <a:avLst/>
          </a:prstGeom>
          <a:solidFill>
            <a:srgbClr val="F5A623"/>
          </a:solidFill>
          <a:ln/>
        </p:spPr>
      </p:sp>
      <p:sp>
        <p:nvSpPr>
          <p:cNvPr id="25" name="Text 21"/>
          <p:cNvSpPr/>
          <p:nvPr/>
        </p:nvSpPr>
        <p:spPr>
          <a:xfrm>
            <a:off x="5138928" y="3931920"/>
            <a:ext cx="3703320" cy="237744"/>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Real vaqtda farzand diqqat darajasi</a:t>
            </a:r>
            <a:endParaRPr lang="en-US" sz="1100" dirty="0"/>
          </a:p>
        </p:txBody>
      </p:sp>
      <p:sp>
        <p:nvSpPr>
          <p:cNvPr id="26" name="Shape 22"/>
          <p:cNvSpPr/>
          <p:nvPr/>
        </p:nvSpPr>
        <p:spPr>
          <a:xfrm>
            <a:off x="4892040" y="4206240"/>
            <a:ext cx="164592" cy="164592"/>
          </a:xfrm>
          <a:prstGeom prst="oval">
            <a:avLst/>
          </a:prstGeom>
          <a:solidFill>
            <a:srgbClr val="F5A623"/>
          </a:solidFill>
          <a:ln/>
        </p:spPr>
      </p:sp>
      <p:sp>
        <p:nvSpPr>
          <p:cNvPr id="27" name="Text 23"/>
          <p:cNvSpPr/>
          <p:nvPr/>
        </p:nvSpPr>
        <p:spPr>
          <a:xfrm>
            <a:off x="5138928" y="4178808"/>
            <a:ext cx="3703320" cy="237744"/>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Kunlik/haftalik hisobot (Telegram/SMS)</a:t>
            </a:r>
            <a:endParaRPr lang="en-US" sz="1100" dirty="0"/>
          </a:p>
        </p:txBody>
      </p:sp>
      <p:sp>
        <p:nvSpPr>
          <p:cNvPr id="28" name="Shape 24"/>
          <p:cNvSpPr/>
          <p:nvPr/>
        </p:nvSpPr>
        <p:spPr>
          <a:xfrm>
            <a:off x="4892040" y="4453128"/>
            <a:ext cx="164592" cy="164592"/>
          </a:xfrm>
          <a:prstGeom prst="oval">
            <a:avLst/>
          </a:prstGeom>
          <a:solidFill>
            <a:srgbClr val="F5A623"/>
          </a:solidFill>
          <a:ln/>
        </p:spPr>
      </p:sp>
      <p:sp>
        <p:nvSpPr>
          <p:cNvPr id="29" name="Text 25"/>
          <p:cNvSpPr/>
          <p:nvPr/>
        </p:nvSpPr>
        <p:spPr>
          <a:xfrm>
            <a:off x="5138928" y="4425696"/>
            <a:ext cx="3703320" cy="237744"/>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Zaif mavzular xaritasi + bashorat</a:t>
            </a:r>
            <a:endParaRPr lang="en-US" sz="1100" dirty="0"/>
          </a:p>
        </p:txBody>
      </p:sp>
      <p:sp>
        <p:nvSpPr>
          <p:cNvPr id="30" name="Shape 26"/>
          <p:cNvSpPr/>
          <p:nvPr/>
        </p:nvSpPr>
        <p:spPr>
          <a:xfrm>
            <a:off x="4892040" y="4700016"/>
            <a:ext cx="164592" cy="164592"/>
          </a:xfrm>
          <a:prstGeom prst="oval">
            <a:avLst/>
          </a:prstGeom>
          <a:solidFill>
            <a:srgbClr val="F5A623"/>
          </a:solidFill>
          <a:ln/>
        </p:spPr>
      </p:sp>
      <p:sp>
        <p:nvSpPr>
          <p:cNvPr id="31" name="Text 27"/>
          <p:cNvSpPr/>
          <p:nvPr/>
        </p:nvSpPr>
        <p:spPr>
          <a:xfrm>
            <a:off x="5138928" y="4672584"/>
            <a:ext cx="3703320" cy="237744"/>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Uy vazifasi bildirish + o'qituvchi chat</a:t>
            </a:r>
            <a:endParaRPr lang="en-US" sz="1100" dirty="0"/>
          </a:p>
        </p:txBody>
      </p:sp>
      <p:sp>
        <p:nvSpPr>
          <p:cNvPr id="32" name="Shape 28"/>
          <p:cNvSpPr/>
          <p:nvPr/>
        </p:nvSpPr>
        <p:spPr>
          <a:xfrm>
            <a:off x="228600" y="4892040"/>
            <a:ext cx="8686800" cy="246888"/>
          </a:xfrm>
          <a:prstGeom prst="rect">
            <a:avLst/>
          </a:prstGeom>
          <a:solidFill>
            <a:srgbClr val="F0FCF9"/>
          </a:solidFill>
          <a:ln/>
        </p:spPr>
      </p:sp>
      <p:sp>
        <p:nvSpPr>
          <p:cNvPr id="33" name="Shape 29"/>
          <p:cNvSpPr/>
          <p:nvPr/>
        </p:nvSpPr>
        <p:spPr>
          <a:xfrm>
            <a:off x="228600" y="4892040"/>
            <a:ext cx="36576" cy="246888"/>
          </a:xfrm>
          <a:prstGeom prst="rect">
            <a:avLst/>
          </a:prstGeom>
          <a:solidFill>
            <a:srgbClr val="00C9B1"/>
          </a:solidFill>
          <a:ln/>
        </p:spPr>
      </p:sp>
      <p:sp>
        <p:nvSpPr>
          <p:cNvPr id="34" name="Text 30"/>
          <p:cNvSpPr/>
          <p:nvPr/>
        </p:nvSpPr>
        <p:spPr>
          <a:xfrm>
            <a:off x="329184" y="4910328"/>
            <a:ext cx="8412480" cy="219456"/>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1 maktab:  350×$1=$350  +  105 ota-ona×$5=$525  →  JAMI $875/oy  (oldingi modeldan 2.3x ko'p)</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5A623"/>
          </a:solidFill>
          <a:ln/>
        </p:spPr>
      </p:sp>
      <p:sp>
        <p:nvSpPr>
          <p:cNvPr id="3" name="Text 1"/>
          <p:cNvSpPr/>
          <p:nvPr/>
        </p:nvSpPr>
        <p:spPr>
          <a:xfrm>
            <a:off x="274320" y="182880"/>
            <a:ext cx="8686800" cy="594360"/>
          </a:xfrm>
          <a:prstGeom prst="rect">
            <a:avLst/>
          </a:prstGeom>
          <a:noFill/>
          <a:ln/>
        </p:spPr>
        <p:txBody>
          <a:bodyPr wrap="square" lIns="0" tIns="0" rIns="0" bIns="0" rtlCol="0" anchor="ctr"/>
          <a:lstStyle/>
          <a:p>
            <a:pPr indent="0" marL="0">
              <a:buNone/>
            </a:pPr>
            <a:r>
              <a:rPr lang="en-US" sz="2800" b="1" dirty="0">
                <a:solidFill>
                  <a:srgbClr val="0A1628"/>
                </a:solidFill>
                <a:latin typeface="Trebuchet MS" pitchFamily="34" charset="0"/>
                <a:ea typeface="Trebuchet MS" pitchFamily="34" charset="-122"/>
                <a:cs typeface="Trebuchet MS" pitchFamily="34" charset="-120"/>
              </a:rPr>
              <a:t>Moliyaviy Prognoz</a:t>
            </a:r>
            <a:endParaRPr lang="en-US" sz="2800" dirty="0"/>
          </a:p>
        </p:txBody>
      </p:sp>
      <p:sp>
        <p:nvSpPr>
          <p:cNvPr id="4" name="Text 2"/>
          <p:cNvSpPr/>
          <p:nvPr/>
        </p:nvSpPr>
        <p:spPr>
          <a:xfrm>
            <a:off x="274320" y="795528"/>
            <a:ext cx="8686800" cy="365760"/>
          </a:xfrm>
          <a:prstGeom prst="rect">
            <a:avLst/>
          </a:prstGeom>
          <a:noFill/>
          <a:ln/>
        </p:spPr>
        <p:txBody>
          <a:bodyPr wrap="square" rtlCol="0" anchor="ctr"/>
          <a:lstStyle/>
          <a:p>
            <a:pPr indent="0" marL="0">
              <a:buNone/>
            </a:pPr>
            <a:r>
              <a:rPr lang="en-US" sz="1300" i="1" dirty="0">
                <a:solidFill>
                  <a:srgbClr val="8FA4C4"/>
                </a:solidFill>
                <a:latin typeface="Calibri" pitchFamily="34" charset="0"/>
                <a:ea typeface="Calibri" pitchFamily="34" charset="-122"/>
                <a:cs typeface="Calibri" pitchFamily="34" charset="-120"/>
              </a:rPr>
              <a:t>$1/o'quvchi + $5/ota-ona premium (30% qamrov) — real maktab raqamlariga asoslangan</a:t>
            </a:r>
            <a:endParaRPr lang="en-US" sz="1300" dirty="0"/>
          </a:p>
        </p:txBody>
      </p:sp>
      <p:sp>
        <p:nvSpPr>
          <p:cNvPr id="5" name="Shape 3"/>
          <p:cNvSpPr/>
          <p:nvPr/>
        </p:nvSpPr>
        <p:spPr>
          <a:xfrm>
            <a:off x="228600" y="1207008"/>
            <a:ext cx="8686800" cy="347472"/>
          </a:xfrm>
          <a:prstGeom prst="rect">
            <a:avLst/>
          </a:prstGeom>
          <a:solidFill>
            <a:srgbClr val="FFFBF0"/>
          </a:solidFill>
          <a:ln/>
        </p:spPr>
      </p:sp>
      <p:sp>
        <p:nvSpPr>
          <p:cNvPr id="6" name="Shape 4"/>
          <p:cNvSpPr/>
          <p:nvPr/>
        </p:nvSpPr>
        <p:spPr>
          <a:xfrm>
            <a:off x="228600" y="1207008"/>
            <a:ext cx="36576" cy="347472"/>
          </a:xfrm>
          <a:prstGeom prst="rect">
            <a:avLst/>
          </a:prstGeom>
          <a:solidFill>
            <a:srgbClr val="F5A623"/>
          </a:solidFill>
          <a:ln/>
        </p:spPr>
      </p:sp>
      <p:sp>
        <p:nvSpPr>
          <p:cNvPr id="7" name="Text 5"/>
          <p:cNvSpPr/>
          <p:nvPr/>
        </p:nvSpPr>
        <p:spPr>
          <a:xfrm>
            <a:off x="329184" y="1234440"/>
            <a:ext cx="8412480" cy="27432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1 maktab × 350 o'q × $1 = $350  +  105 ota-ona × $5 = $525  →  $875/oy/maktab   |   Oldingi $375 ga nisbatan 2.3x o'sdi</a:t>
            </a:r>
            <a:endParaRPr lang="en-US" sz="1050" dirty="0"/>
          </a:p>
        </p:txBody>
      </p:sp>
      <p:graphicFrame>
        <p:nvGraphicFramePr>
          <p:cNvPr id="8" name="Chart 0" descr=""/>
          <p:cNvGraphicFramePr/>
          <p:nvPr/>
        </p:nvGraphicFramePr>
        <p:xfrm>
          <a:off x="228600" y="1627632"/>
          <a:ext cx="5577840" cy="265176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Chart 1" descr=""/>
          <p:cNvGraphicFramePr/>
          <p:nvPr/>
        </p:nvGraphicFramePr>
        <p:xfrm>
          <a:off x="228600" y="4343400"/>
          <a:ext cx="5577840" cy="73152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5989320" y="1627632"/>
            <a:ext cx="2926080" cy="3447288"/>
          </a:xfrm>
          <a:prstGeom prst="rect">
            <a:avLst/>
          </a:prstGeom>
          <a:solidFill>
            <a:srgbClr val="F0F4FA"/>
          </a:solidFill>
          <a:ln/>
        </p:spPr>
      </p:sp>
      <p:sp>
        <p:nvSpPr>
          <p:cNvPr id="11" name="Shape 7"/>
          <p:cNvSpPr/>
          <p:nvPr/>
        </p:nvSpPr>
        <p:spPr>
          <a:xfrm>
            <a:off x="5989320" y="1627632"/>
            <a:ext cx="2926080" cy="45720"/>
          </a:xfrm>
          <a:prstGeom prst="rect">
            <a:avLst/>
          </a:prstGeom>
          <a:solidFill>
            <a:srgbClr val="F5A623"/>
          </a:solidFill>
          <a:ln/>
        </p:spPr>
      </p:sp>
      <p:sp>
        <p:nvSpPr>
          <p:cNvPr id="12" name="Text 8"/>
          <p:cNvSpPr/>
          <p:nvPr/>
        </p:nvSpPr>
        <p:spPr>
          <a:xfrm>
            <a:off x="6080760" y="1673352"/>
            <a:ext cx="2743200" cy="320040"/>
          </a:xfrm>
          <a:prstGeom prst="rect">
            <a:avLst/>
          </a:prstGeom>
          <a:noFill/>
          <a:ln/>
        </p:spPr>
        <p:txBody>
          <a:bodyPr wrap="square" rtlCol="0" anchor="ctr"/>
          <a:lstStyle/>
          <a:p>
            <a:pPr algn="ctr" indent="0" marL="0">
              <a:buNone/>
            </a:pPr>
            <a:r>
              <a:rPr lang="en-US" sz="1200" b="1" dirty="0">
                <a:solidFill>
                  <a:srgbClr val="2C3E5A"/>
                </a:solidFill>
                <a:latin typeface="Trebuchet MS" pitchFamily="34" charset="0"/>
                <a:ea typeface="Trebuchet MS" pitchFamily="34" charset="-122"/>
                <a:cs typeface="Trebuchet MS" pitchFamily="34" charset="-120"/>
              </a:rPr>
              <a:t>Yillik jadval ($K)</a:t>
            </a:r>
            <a:endParaRPr lang="en-US" sz="1200" dirty="0"/>
          </a:p>
        </p:txBody>
      </p:sp>
      <p:sp>
        <p:nvSpPr>
          <p:cNvPr id="13" name="Shape 9"/>
          <p:cNvSpPr/>
          <p:nvPr/>
        </p:nvSpPr>
        <p:spPr>
          <a:xfrm>
            <a:off x="6035040" y="2029968"/>
            <a:ext cx="475488" cy="274320"/>
          </a:xfrm>
          <a:prstGeom prst="rect">
            <a:avLst/>
          </a:prstGeom>
          <a:solidFill>
            <a:srgbClr val="2C3E5A"/>
          </a:solidFill>
          <a:ln/>
        </p:spPr>
      </p:sp>
      <p:sp>
        <p:nvSpPr>
          <p:cNvPr id="14" name="Text 10"/>
          <p:cNvSpPr/>
          <p:nvPr/>
        </p:nvSpPr>
        <p:spPr>
          <a:xfrm>
            <a:off x="6035040" y="2029968"/>
            <a:ext cx="47548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Yil</a:t>
            </a:r>
            <a:endParaRPr lang="en-US" sz="900" dirty="0"/>
          </a:p>
        </p:txBody>
      </p:sp>
      <p:sp>
        <p:nvSpPr>
          <p:cNvPr id="15" name="Shape 11"/>
          <p:cNvSpPr/>
          <p:nvPr/>
        </p:nvSpPr>
        <p:spPr>
          <a:xfrm>
            <a:off x="6565392" y="2029968"/>
            <a:ext cx="694944" cy="274320"/>
          </a:xfrm>
          <a:prstGeom prst="rect">
            <a:avLst/>
          </a:prstGeom>
          <a:solidFill>
            <a:srgbClr val="2C3E5A"/>
          </a:solidFill>
          <a:ln/>
        </p:spPr>
      </p:sp>
      <p:sp>
        <p:nvSpPr>
          <p:cNvPr id="16" name="Text 12"/>
          <p:cNvSpPr/>
          <p:nvPr/>
        </p:nvSpPr>
        <p:spPr>
          <a:xfrm>
            <a:off x="6565392" y="2029968"/>
            <a:ext cx="694944"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Daromad</a:t>
            </a:r>
            <a:endParaRPr lang="en-US" sz="900" dirty="0"/>
          </a:p>
        </p:txBody>
      </p:sp>
      <p:sp>
        <p:nvSpPr>
          <p:cNvPr id="17" name="Shape 13"/>
          <p:cNvSpPr/>
          <p:nvPr/>
        </p:nvSpPr>
        <p:spPr>
          <a:xfrm>
            <a:off x="7296912" y="2029968"/>
            <a:ext cx="694944" cy="274320"/>
          </a:xfrm>
          <a:prstGeom prst="rect">
            <a:avLst/>
          </a:prstGeom>
          <a:solidFill>
            <a:srgbClr val="2C3E5A"/>
          </a:solidFill>
          <a:ln/>
        </p:spPr>
      </p:sp>
      <p:sp>
        <p:nvSpPr>
          <p:cNvPr id="18" name="Text 14"/>
          <p:cNvSpPr/>
          <p:nvPr/>
        </p:nvSpPr>
        <p:spPr>
          <a:xfrm>
            <a:off x="7296912" y="2029968"/>
            <a:ext cx="694944"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Chiqim</a:t>
            </a:r>
            <a:endParaRPr lang="en-US" sz="900" dirty="0"/>
          </a:p>
        </p:txBody>
      </p:sp>
      <p:sp>
        <p:nvSpPr>
          <p:cNvPr id="19" name="Shape 15"/>
          <p:cNvSpPr/>
          <p:nvPr/>
        </p:nvSpPr>
        <p:spPr>
          <a:xfrm>
            <a:off x="8028432" y="2029968"/>
            <a:ext cx="694944" cy="274320"/>
          </a:xfrm>
          <a:prstGeom prst="rect">
            <a:avLst/>
          </a:prstGeom>
          <a:solidFill>
            <a:srgbClr val="2C3E5A"/>
          </a:solidFill>
          <a:ln/>
        </p:spPr>
      </p:sp>
      <p:sp>
        <p:nvSpPr>
          <p:cNvPr id="20" name="Text 16"/>
          <p:cNvSpPr/>
          <p:nvPr/>
        </p:nvSpPr>
        <p:spPr>
          <a:xfrm>
            <a:off x="8028432" y="2029968"/>
            <a:ext cx="694944"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Trebuchet MS" pitchFamily="34" charset="0"/>
                <a:ea typeface="Trebuchet MS" pitchFamily="34" charset="-122"/>
                <a:cs typeface="Trebuchet MS" pitchFamily="34" charset="-120"/>
              </a:rPr>
              <a:t>Foyda</a:t>
            </a:r>
            <a:endParaRPr lang="en-US" sz="900" dirty="0"/>
          </a:p>
        </p:txBody>
      </p:sp>
      <p:sp>
        <p:nvSpPr>
          <p:cNvPr id="21" name="Shape 17"/>
          <p:cNvSpPr/>
          <p:nvPr/>
        </p:nvSpPr>
        <p:spPr>
          <a:xfrm>
            <a:off x="6035040" y="2331720"/>
            <a:ext cx="475488" cy="320040"/>
          </a:xfrm>
          <a:prstGeom prst="rect">
            <a:avLst/>
          </a:prstGeom>
          <a:solidFill>
            <a:srgbClr val="FFFFFF"/>
          </a:solidFill>
          <a:ln/>
        </p:spPr>
      </p:sp>
      <p:sp>
        <p:nvSpPr>
          <p:cNvPr id="22" name="Text 18"/>
          <p:cNvSpPr/>
          <p:nvPr/>
        </p:nvSpPr>
        <p:spPr>
          <a:xfrm>
            <a:off x="6035040" y="2331720"/>
            <a:ext cx="475488" cy="320040"/>
          </a:xfrm>
          <a:prstGeom prst="rect">
            <a:avLst/>
          </a:prstGeom>
          <a:noFill/>
          <a:ln/>
        </p:spPr>
        <p:txBody>
          <a:bodyPr wrap="square" lIns="0" tIns="0" rIns="0" bIns="0" rtlCol="0" anchor="ctr"/>
          <a:lstStyle/>
          <a:p>
            <a:pPr algn="ctr" indent="0" marL="0">
              <a:buNone/>
            </a:pPr>
            <a:r>
              <a:rPr lang="en-US" sz="950" b="1" dirty="0">
                <a:solidFill>
                  <a:srgbClr val="2C3E5A"/>
                </a:solidFill>
                <a:latin typeface="Trebuchet MS" pitchFamily="34" charset="0"/>
                <a:ea typeface="Trebuchet MS" pitchFamily="34" charset="-122"/>
                <a:cs typeface="Trebuchet MS" pitchFamily="34" charset="-120"/>
              </a:rPr>
              <a:t>2025</a:t>
            </a:r>
            <a:endParaRPr lang="en-US" sz="950" dirty="0"/>
          </a:p>
        </p:txBody>
      </p:sp>
      <p:sp>
        <p:nvSpPr>
          <p:cNvPr id="23" name="Shape 19"/>
          <p:cNvSpPr/>
          <p:nvPr/>
        </p:nvSpPr>
        <p:spPr>
          <a:xfrm>
            <a:off x="6565392" y="2331720"/>
            <a:ext cx="694944" cy="320040"/>
          </a:xfrm>
          <a:prstGeom prst="rect">
            <a:avLst/>
          </a:prstGeom>
          <a:solidFill>
            <a:srgbClr val="FFFFFF"/>
          </a:solidFill>
          <a:ln/>
        </p:spPr>
      </p:sp>
      <p:sp>
        <p:nvSpPr>
          <p:cNvPr id="24" name="Text 20"/>
          <p:cNvSpPr/>
          <p:nvPr/>
        </p:nvSpPr>
        <p:spPr>
          <a:xfrm>
            <a:off x="6565392" y="2331720"/>
            <a:ext cx="694944" cy="320040"/>
          </a:xfrm>
          <a:prstGeom prst="rect">
            <a:avLst/>
          </a:prstGeom>
          <a:noFill/>
          <a:ln/>
        </p:spPr>
        <p:txBody>
          <a:bodyPr wrap="square" lIns="0" tIns="0" rIns="0" bIns="0" rtlCol="0" anchor="ctr"/>
          <a:lstStyle/>
          <a:p>
            <a:pPr algn="ctr" indent="0" marL="0">
              <a:buNone/>
            </a:pPr>
            <a:r>
              <a:rPr lang="en-US" sz="800" dirty="0">
                <a:solidFill>
                  <a:srgbClr val="2C3E5A"/>
                </a:solidFill>
                <a:latin typeface="Calibri" pitchFamily="34" charset="0"/>
                <a:ea typeface="Calibri" pitchFamily="34" charset="-122"/>
                <a:cs typeface="Calibri" pitchFamily="34" charset="-120"/>
              </a:rPr>
              <a:t>210</a:t>
            </a:r>
            <a:endParaRPr lang="en-US" sz="800" dirty="0"/>
          </a:p>
        </p:txBody>
      </p:sp>
      <p:sp>
        <p:nvSpPr>
          <p:cNvPr id="25" name="Shape 21"/>
          <p:cNvSpPr/>
          <p:nvPr/>
        </p:nvSpPr>
        <p:spPr>
          <a:xfrm>
            <a:off x="7296912" y="2331720"/>
            <a:ext cx="694944" cy="320040"/>
          </a:xfrm>
          <a:prstGeom prst="rect">
            <a:avLst/>
          </a:prstGeom>
          <a:solidFill>
            <a:srgbClr val="FFFFFF"/>
          </a:solidFill>
          <a:ln/>
        </p:spPr>
      </p:sp>
      <p:sp>
        <p:nvSpPr>
          <p:cNvPr id="26" name="Text 22"/>
          <p:cNvSpPr/>
          <p:nvPr/>
        </p:nvSpPr>
        <p:spPr>
          <a:xfrm>
            <a:off x="7296912" y="2331720"/>
            <a:ext cx="694944" cy="320040"/>
          </a:xfrm>
          <a:prstGeom prst="rect">
            <a:avLst/>
          </a:prstGeom>
          <a:noFill/>
          <a:ln/>
        </p:spPr>
        <p:txBody>
          <a:bodyPr wrap="square" lIns="0" tIns="0" rIns="0" bIns="0" rtlCol="0" anchor="ctr"/>
          <a:lstStyle/>
          <a:p>
            <a:pPr algn="ctr" indent="0" marL="0">
              <a:buNone/>
            </a:pPr>
            <a:r>
              <a:rPr lang="en-US" sz="800" dirty="0">
                <a:solidFill>
                  <a:srgbClr val="2C3E5A"/>
                </a:solidFill>
                <a:latin typeface="Calibri" pitchFamily="34" charset="0"/>
                <a:ea typeface="Calibri" pitchFamily="34" charset="-122"/>
                <a:cs typeface="Calibri" pitchFamily="34" charset="-120"/>
              </a:rPr>
              <a:t>130</a:t>
            </a:r>
            <a:endParaRPr lang="en-US" sz="800" dirty="0"/>
          </a:p>
        </p:txBody>
      </p:sp>
      <p:sp>
        <p:nvSpPr>
          <p:cNvPr id="27" name="Shape 23"/>
          <p:cNvSpPr/>
          <p:nvPr/>
        </p:nvSpPr>
        <p:spPr>
          <a:xfrm>
            <a:off x="8028432" y="2331720"/>
            <a:ext cx="694944" cy="320040"/>
          </a:xfrm>
          <a:prstGeom prst="rect">
            <a:avLst/>
          </a:prstGeom>
          <a:solidFill>
            <a:srgbClr val="FFFFFF"/>
          </a:solidFill>
          <a:ln/>
        </p:spPr>
      </p:sp>
      <p:sp>
        <p:nvSpPr>
          <p:cNvPr id="28" name="Text 24"/>
          <p:cNvSpPr/>
          <p:nvPr/>
        </p:nvSpPr>
        <p:spPr>
          <a:xfrm>
            <a:off x="8028432" y="2331720"/>
            <a:ext cx="694944" cy="320040"/>
          </a:xfrm>
          <a:prstGeom prst="rect">
            <a:avLst/>
          </a:prstGeom>
          <a:noFill/>
          <a:ln/>
        </p:spPr>
        <p:txBody>
          <a:bodyPr wrap="square" lIns="0" tIns="0" rIns="0" bIns="0" rtlCol="0" anchor="ctr"/>
          <a:lstStyle/>
          <a:p>
            <a:pPr algn="ctr" indent="0" marL="0">
              <a:buNone/>
            </a:pPr>
            <a:r>
              <a:rPr lang="en-US" sz="800" dirty="0">
                <a:solidFill>
                  <a:srgbClr val="2ECC71"/>
                </a:solidFill>
                <a:latin typeface="Calibri" pitchFamily="34" charset="0"/>
                <a:ea typeface="Calibri" pitchFamily="34" charset="-122"/>
                <a:cs typeface="Calibri" pitchFamily="34" charset="-120"/>
              </a:rPr>
              <a:t>+80</a:t>
            </a:r>
            <a:endParaRPr lang="en-US" sz="800" dirty="0"/>
          </a:p>
        </p:txBody>
      </p:sp>
      <p:sp>
        <p:nvSpPr>
          <p:cNvPr id="29" name="Shape 25"/>
          <p:cNvSpPr/>
          <p:nvPr/>
        </p:nvSpPr>
        <p:spPr>
          <a:xfrm>
            <a:off x="6035040" y="2670048"/>
            <a:ext cx="475488" cy="320040"/>
          </a:xfrm>
          <a:prstGeom prst="rect">
            <a:avLst/>
          </a:prstGeom>
          <a:solidFill>
            <a:srgbClr val="F0F4FA"/>
          </a:solidFill>
          <a:ln/>
        </p:spPr>
      </p:sp>
      <p:sp>
        <p:nvSpPr>
          <p:cNvPr id="30" name="Text 26"/>
          <p:cNvSpPr/>
          <p:nvPr/>
        </p:nvSpPr>
        <p:spPr>
          <a:xfrm>
            <a:off x="6035040" y="2670048"/>
            <a:ext cx="475488" cy="320040"/>
          </a:xfrm>
          <a:prstGeom prst="rect">
            <a:avLst/>
          </a:prstGeom>
          <a:noFill/>
          <a:ln/>
        </p:spPr>
        <p:txBody>
          <a:bodyPr wrap="square" lIns="0" tIns="0" rIns="0" bIns="0" rtlCol="0" anchor="ctr"/>
          <a:lstStyle/>
          <a:p>
            <a:pPr algn="ctr" indent="0" marL="0">
              <a:buNone/>
            </a:pPr>
            <a:r>
              <a:rPr lang="en-US" sz="950" b="1" dirty="0">
                <a:solidFill>
                  <a:srgbClr val="2C3E5A"/>
                </a:solidFill>
                <a:latin typeface="Trebuchet MS" pitchFamily="34" charset="0"/>
                <a:ea typeface="Trebuchet MS" pitchFamily="34" charset="-122"/>
                <a:cs typeface="Trebuchet MS" pitchFamily="34" charset="-120"/>
              </a:rPr>
              <a:t>2026</a:t>
            </a:r>
            <a:endParaRPr lang="en-US" sz="950" dirty="0"/>
          </a:p>
        </p:txBody>
      </p:sp>
      <p:sp>
        <p:nvSpPr>
          <p:cNvPr id="31" name="Shape 27"/>
          <p:cNvSpPr/>
          <p:nvPr/>
        </p:nvSpPr>
        <p:spPr>
          <a:xfrm>
            <a:off x="6565392" y="2670048"/>
            <a:ext cx="694944" cy="320040"/>
          </a:xfrm>
          <a:prstGeom prst="rect">
            <a:avLst/>
          </a:prstGeom>
          <a:solidFill>
            <a:srgbClr val="F0F4FA"/>
          </a:solidFill>
          <a:ln/>
        </p:spPr>
      </p:sp>
      <p:sp>
        <p:nvSpPr>
          <p:cNvPr id="32" name="Text 28"/>
          <p:cNvSpPr/>
          <p:nvPr/>
        </p:nvSpPr>
        <p:spPr>
          <a:xfrm>
            <a:off x="6565392" y="2670048"/>
            <a:ext cx="694944" cy="320040"/>
          </a:xfrm>
          <a:prstGeom prst="rect">
            <a:avLst/>
          </a:prstGeom>
          <a:noFill/>
          <a:ln/>
        </p:spPr>
        <p:txBody>
          <a:bodyPr wrap="square" lIns="0" tIns="0" rIns="0" bIns="0" rtlCol="0" anchor="ctr"/>
          <a:lstStyle/>
          <a:p>
            <a:pPr algn="ctr" indent="0" marL="0">
              <a:buNone/>
            </a:pPr>
            <a:r>
              <a:rPr lang="en-US" sz="800" dirty="0">
                <a:solidFill>
                  <a:srgbClr val="2C3E5A"/>
                </a:solidFill>
                <a:latin typeface="Calibri" pitchFamily="34" charset="0"/>
                <a:ea typeface="Calibri" pitchFamily="34" charset="-122"/>
                <a:cs typeface="Calibri" pitchFamily="34" charset="-120"/>
              </a:rPr>
              <a:t>1,575</a:t>
            </a:r>
            <a:endParaRPr lang="en-US" sz="800" dirty="0"/>
          </a:p>
        </p:txBody>
      </p:sp>
      <p:sp>
        <p:nvSpPr>
          <p:cNvPr id="33" name="Shape 29"/>
          <p:cNvSpPr/>
          <p:nvPr/>
        </p:nvSpPr>
        <p:spPr>
          <a:xfrm>
            <a:off x="7296912" y="2670048"/>
            <a:ext cx="694944" cy="320040"/>
          </a:xfrm>
          <a:prstGeom prst="rect">
            <a:avLst/>
          </a:prstGeom>
          <a:solidFill>
            <a:srgbClr val="F0F4FA"/>
          </a:solidFill>
          <a:ln/>
        </p:spPr>
      </p:sp>
      <p:sp>
        <p:nvSpPr>
          <p:cNvPr id="34" name="Text 30"/>
          <p:cNvSpPr/>
          <p:nvPr/>
        </p:nvSpPr>
        <p:spPr>
          <a:xfrm>
            <a:off x="7296912" y="2670048"/>
            <a:ext cx="694944" cy="320040"/>
          </a:xfrm>
          <a:prstGeom prst="rect">
            <a:avLst/>
          </a:prstGeom>
          <a:noFill/>
          <a:ln/>
        </p:spPr>
        <p:txBody>
          <a:bodyPr wrap="square" lIns="0" tIns="0" rIns="0" bIns="0" rtlCol="0" anchor="ctr"/>
          <a:lstStyle/>
          <a:p>
            <a:pPr algn="ctr" indent="0" marL="0">
              <a:buNone/>
            </a:pPr>
            <a:r>
              <a:rPr lang="en-US" sz="800" dirty="0">
                <a:solidFill>
                  <a:srgbClr val="2C3E5A"/>
                </a:solidFill>
                <a:latin typeface="Calibri" pitchFamily="34" charset="0"/>
                <a:ea typeface="Calibri" pitchFamily="34" charset="-122"/>
                <a:cs typeface="Calibri" pitchFamily="34" charset="-120"/>
              </a:rPr>
              <a:t>350</a:t>
            </a:r>
            <a:endParaRPr lang="en-US" sz="800" dirty="0"/>
          </a:p>
        </p:txBody>
      </p:sp>
      <p:sp>
        <p:nvSpPr>
          <p:cNvPr id="35" name="Shape 31"/>
          <p:cNvSpPr/>
          <p:nvPr/>
        </p:nvSpPr>
        <p:spPr>
          <a:xfrm>
            <a:off x="8028432" y="2670048"/>
            <a:ext cx="694944" cy="320040"/>
          </a:xfrm>
          <a:prstGeom prst="rect">
            <a:avLst/>
          </a:prstGeom>
          <a:solidFill>
            <a:srgbClr val="F0F4FA"/>
          </a:solidFill>
          <a:ln/>
        </p:spPr>
      </p:sp>
      <p:sp>
        <p:nvSpPr>
          <p:cNvPr id="36" name="Text 32"/>
          <p:cNvSpPr/>
          <p:nvPr/>
        </p:nvSpPr>
        <p:spPr>
          <a:xfrm>
            <a:off x="8028432" y="2670048"/>
            <a:ext cx="694944" cy="320040"/>
          </a:xfrm>
          <a:prstGeom prst="rect">
            <a:avLst/>
          </a:prstGeom>
          <a:noFill/>
          <a:ln/>
        </p:spPr>
        <p:txBody>
          <a:bodyPr wrap="square" lIns="0" tIns="0" rIns="0" bIns="0" rtlCol="0" anchor="ctr"/>
          <a:lstStyle/>
          <a:p>
            <a:pPr algn="ctr" indent="0" marL="0">
              <a:buNone/>
            </a:pPr>
            <a:r>
              <a:rPr lang="en-US" sz="800" dirty="0">
                <a:solidFill>
                  <a:srgbClr val="2ECC71"/>
                </a:solidFill>
                <a:latin typeface="Calibri" pitchFamily="34" charset="0"/>
                <a:ea typeface="Calibri" pitchFamily="34" charset="-122"/>
                <a:cs typeface="Calibri" pitchFamily="34" charset="-120"/>
              </a:rPr>
              <a:t>+1.2M</a:t>
            </a:r>
            <a:endParaRPr lang="en-US" sz="800" dirty="0"/>
          </a:p>
        </p:txBody>
      </p:sp>
      <p:sp>
        <p:nvSpPr>
          <p:cNvPr id="37" name="Shape 33"/>
          <p:cNvSpPr/>
          <p:nvPr/>
        </p:nvSpPr>
        <p:spPr>
          <a:xfrm>
            <a:off x="6035040" y="3008376"/>
            <a:ext cx="475488" cy="320040"/>
          </a:xfrm>
          <a:prstGeom prst="rect">
            <a:avLst/>
          </a:prstGeom>
          <a:solidFill>
            <a:srgbClr val="FFFFFF"/>
          </a:solidFill>
          <a:ln/>
        </p:spPr>
      </p:sp>
      <p:sp>
        <p:nvSpPr>
          <p:cNvPr id="38" name="Text 34"/>
          <p:cNvSpPr/>
          <p:nvPr/>
        </p:nvSpPr>
        <p:spPr>
          <a:xfrm>
            <a:off x="6035040" y="3008376"/>
            <a:ext cx="475488" cy="320040"/>
          </a:xfrm>
          <a:prstGeom prst="rect">
            <a:avLst/>
          </a:prstGeom>
          <a:noFill/>
          <a:ln/>
        </p:spPr>
        <p:txBody>
          <a:bodyPr wrap="square" lIns="0" tIns="0" rIns="0" bIns="0" rtlCol="0" anchor="ctr"/>
          <a:lstStyle/>
          <a:p>
            <a:pPr algn="ctr" indent="0" marL="0">
              <a:buNone/>
            </a:pPr>
            <a:r>
              <a:rPr lang="en-US" sz="950" b="1" dirty="0">
                <a:solidFill>
                  <a:srgbClr val="2C3E5A"/>
                </a:solidFill>
                <a:latin typeface="Trebuchet MS" pitchFamily="34" charset="0"/>
                <a:ea typeface="Trebuchet MS" pitchFamily="34" charset="-122"/>
                <a:cs typeface="Trebuchet MS" pitchFamily="34" charset="-120"/>
              </a:rPr>
              <a:t>2027</a:t>
            </a:r>
            <a:endParaRPr lang="en-US" sz="950" dirty="0"/>
          </a:p>
        </p:txBody>
      </p:sp>
      <p:sp>
        <p:nvSpPr>
          <p:cNvPr id="39" name="Shape 35"/>
          <p:cNvSpPr/>
          <p:nvPr/>
        </p:nvSpPr>
        <p:spPr>
          <a:xfrm>
            <a:off x="6565392" y="3008376"/>
            <a:ext cx="694944" cy="320040"/>
          </a:xfrm>
          <a:prstGeom prst="rect">
            <a:avLst/>
          </a:prstGeom>
          <a:solidFill>
            <a:srgbClr val="FFFFFF"/>
          </a:solidFill>
          <a:ln/>
        </p:spPr>
      </p:sp>
      <p:sp>
        <p:nvSpPr>
          <p:cNvPr id="40" name="Text 36"/>
          <p:cNvSpPr/>
          <p:nvPr/>
        </p:nvSpPr>
        <p:spPr>
          <a:xfrm>
            <a:off x="6565392" y="3008376"/>
            <a:ext cx="694944" cy="320040"/>
          </a:xfrm>
          <a:prstGeom prst="rect">
            <a:avLst/>
          </a:prstGeom>
          <a:noFill/>
          <a:ln/>
        </p:spPr>
        <p:txBody>
          <a:bodyPr wrap="square" lIns="0" tIns="0" rIns="0" bIns="0" rtlCol="0" anchor="ctr"/>
          <a:lstStyle/>
          <a:p>
            <a:pPr algn="ctr" indent="0" marL="0">
              <a:buNone/>
            </a:pPr>
            <a:r>
              <a:rPr lang="en-US" sz="800" dirty="0">
                <a:solidFill>
                  <a:srgbClr val="2C3E5A"/>
                </a:solidFill>
                <a:latin typeface="Calibri" pitchFamily="34" charset="0"/>
                <a:ea typeface="Calibri" pitchFamily="34" charset="-122"/>
                <a:cs typeface="Calibri" pitchFamily="34" charset="-120"/>
              </a:rPr>
              <a:t>5,250</a:t>
            </a:r>
            <a:endParaRPr lang="en-US" sz="800" dirty="0"/>
          </a:p>
        </p:txBody>
      </p:sp>
      <p:sp>
        <p:nvSpPr>
          <p:cNvPr id="41" name="Shape 37"/>
          <p:cNvSpPr/>
          <p:nvPr/>
        </p:nvSpPr>
        <p:spPr>
          <a:xfrm>
            <a:off x="7296912" y="3008376"/>
            <a:ext cx="694944" cy="320040"/>
          </a:xfrm>
          <a:prstGeom prst="rect">
            <a:avLst/>
          </a:prstGeom>
          <a:solidFill>
            <a:srgbClr val="FFFFFF"/>
          </a:solidFill>
          <a:ln/>
        </p:spPr>
      </p:sp>
      <p:sp>
        <p:nvSpPr>
          <p:cNvPr id="42" name="Text 38"/>
          <p:cNvSpPr/>
          <p:nvPr/>
        </p:nvSpPr>
        <p:spPr>
          <a:xfrm>
            <a:off x="7296912" y="3008376"/>
            <a:ext cx="694944" cy="320040"/>
          </a:xfrm>
          <a:prstGeom prst="rect">
            <a:avLst/>
          </a:prstGeom>
          <a:noFill/>
          <a:ln/>
        </p:spPr>
        <p:txBody>
          <a:bodyPr wrap="square" lIns="0" tIns="0" rIns="0" bIns="0" rtlCol="0" anchor="ctr"/>
          <a:lstStyle/>
          <a:p>
            <a:pPr algn="ctr" indent="0" marL="0">
              <a:buNone/>
            </a:pPr>
            <a:r>
              <a:rPr lang="en-US" sz="800" dirty="0">
                <a:solidFill>
                  <a:srgbClr val="2C3E5A"/>
                </a:solidFill>
                <a:latin typeface="Calibri" pitchFamily="34" charset="0"/>
                <a:ea typeface="Calibri" pitchFamily="34" charset="-122"/>
                <a:cs typeface="Calibri" pitchFamily="34" charset="-120"/>
              </a:rPr>
              <a:t>1,200</a:t>
            </a:r>
            <a:endParaRPr lang="en-US" sz="800" dirty="0"/>
          </a:p>
        </p:txBody>
      </p:sp>
      <p:sp>
        <p:nvSpPr>
          <p:cNvPr id="43" name="Shape 39"/>
          <p:cNvSpPr/>
          <p:nvPr/>
        </p:nvSpPr>
        <p:spPr>
          <a:xfrm>
            <a:off x="8028432" y="3008376"/>
            <a:ext cx="694944" cy="320040"/>
          </a:xfrm>
          <a:prstGeom prst="rect">
            <a:avLst/>
          </a:prstGeom>
          <a:solidFill>
            <a:srgbClr val="FFFFFF"/>
          </a:solidFill>
          <a:ln/>
        </p:spPr>
      </p:sp>
      <p:sp>
        <p:nvSpPr>
          <p:cNvPr id="44" name="Text 40"/>
          <p:cNvSpPr/>
          <p:nvPr/>
        </p:nvSpPr>
        <p:spPr>
          <a:xfrm>
            <a:off x="8028432" y="3008376"/>
            <a:ext cx="694944" cy="320040"/>
          </a:xfrm>
          <a:prstGeom prst="rect">
            <a:avLst/>
          </a:prstGeom>
          <a:noFill/>
          <a:ln/>
        </p:spPr>
        <p:txBody>
          <a:bodyPr wrap="square" lIns="0" tIns="0" rIns="0" bIns="0" rtlCol="0" anchor="ctr"/>
          <a:lstStyle/>
          <a:p>
            <a:pPr algn="ctr" indent="0" marL="0">
              <a:buNone/>
            </a:pPr>
            <a:r>
              <a:rPr lang="en-US" sz="800" dirty="0">
                <a:solidFill>
                  <a:srgbClr val="2ECC71"/>
                </a:solidFill>
                <a:latin typeface="Calibri" pitchFamily="34" charset="0"/>
                <a:ea typeface="Calibri" pitchFamily="34" charset="-122"/>
                <a:cs typeface="Calibri" pitchFamily="34" charset="-120"/>
              </a:rPr>
              <a:t>+4M</a:t>
            </a:r>
            <a:endParaRPr lang="en-US" sz="800" dirty="0"/>
          </a:p>
        </p:txBody>
      </p:sp>
      <p:sp>
        <p:nvSpPr>
          <p:cNvPr id="45" name="Shape 41"/>
          <p:cNvSpPr/>
          <p:nvPr/>
        </p:nvSpPr>
        <p:spPr>
          <a:xfrm>
            <a:off x="6035040" y="3346704"/>
            <a:ext cx="475488" cy="320040"/>
          </a:xfrm>
          <a:prstGeom prst="rect">
            <a:avLst/>
          </a:prstGeom>
          <a:solidFill>
            <a:srgbClr val="F0F4FA"/>
          </a:solidFill>
          <a:ln/>
        </p:spPr>
      </p:sp>
      <p:sp>
        <p:nvSpPr>
          <p:cNvPr id="46" name="Text 42"/>
          <p:cNvSpPr/>
          <p:nvPr/>
        </p:nvSpPr>
        <p:spPr>
          <a:xfrm>
            <a:off x="6035040" y="3346704"/>
            <a:ext cx="475488" cy="320040"/>
          </a:xfrm>
          <a:prstGeom prst="rect">
            <a:avLst/>
          </a:prstGeom>
          <a:noFill/>
          <a:ln/>
        </p:spPr>
        <p:txBody>
          <a:bodyPr wrap="square" lIns="0" tIns="0" rIns="0" bIns="0" rtlCol="0" anchor="ctr"/>
          <a:lstStyle/>
          <a:p>
            <a:pPr algn="ctr" indent="0" marL="0">
              <a:buNone/>
            </a:pPr>
            <a:r>
              <a:rPr lang="en-US" sz="950" b="1" dirty="0">
                <a:solidFill>
                  <a:srgbClr val="2C3E5A"/>
                </a:solidFill>
                <a:latin typeface="Trebuchet MS" pitchFamily="34" charset="0"/>
                <a:ea typeface="Trebuchet MS" pitchFamily="34" charset="-122"/>
                <a:cs typeface="Trebuchet MS" pitchFamily="34" charset="-120"/>
              </a:rPr>
              <a:t>2028</a:t>
            </a:r>
            <a:endParaRPr lang="en-US" sz="950" dirty="0"/>
          </a:p>
        </p:txBody>
      </p:sp>
      <p:sp>
        <p:nvSpPr>
          <p:cNvPr id="47" name="Shape 43"/>
          <p:cNvSpPr/>
          <p:nvPr/>
        </p:nvSpPr>
        <p:spPr>
          <a:xfrm>
            <a:off x="6565392" y="3346704"/>
            <a:ext cx="694944" cy="320040"/>
          </a:xfrm>
          <a:prstGeom prst="rect">
            <a:avLst/>
          </a:prstGeom>
          <a:solidFill>
            <a:srgbClr val="F0F4FA"/>
          </a:solidFill>
          <a:ln/>
        </p:spPr>
      </p:sp>
      <p:sp>
        <p:nvSpPr>
          <p:cNvPr id="48" name="Text 44"/>
          <p:cNvSpPr/>
          <p:nvPr/>
        </p:nvSpPr>
        <p:spPr>
          <a:xfrm>
            <a:off x="6565392" y="3346704"/>
            <a:ext cx="694944" cy="320040"/>
          </a:xfrm>
          <a:prstGeom prst="rect">
            <a:avLst/>
          </a:prstGeom>
          <a:noFill/>
          <a:ln/>
        </p:spPr>
        <p:txBody>
          <a:bodyPr wrap="square" lIns="0" tIns="0" rIns="0" bIns="0" rtlCol="0" anchor="ctr"/>
          <a:lstStyle/>
          <a:p>
            <a:pPr algn="ctr" indent="0" marL="0">
              <a:buNone/>
            </a:pPr>
            <a:r>
              <a:rPr lang="en-US" sz="800" dirty="0">
                <a:solidFill>
                  <a:srgbClr val="2C3E5A"/>
                </a:solidFill>
                <a:latin typeface="Calibri" pitchFamily="34" charset="0"/>
                <a:ea typeface="Calibri" pitchFamily="34" charset="-122"/>
                <a:cs typeface="Calibri" pitchFamily="34" charset="-120"/>
              </a:rPr>
              <a:t>15.7M</a:t>
            </a:r>
            <a:endParaRPr lang="en-US" sz="800" dirty="0"/>
          </a:p>
        </p:txBody>
      </p:sp>
      <p:sp>
        <p:nvSpPr>
          <p:cNvPr id="49" name="Shape 45"/>
          <p:cNvSpPr/>
          <p:nvPr/>
        </p:nvSpPr>
        <p:spPr>
          <a:xfrm>
            <a:off x="7296912" y="3346704"/>
            <a:ext cx="694944" cy="320040"/>
          </a:xfrm>
          <a:prstGeom prst="rect">
            <a:avLst/>
          </a:prstGeom>
          <a:solidFill>
            <a:srgbClr val="F0F4FA"/>
          </a:solidFill>
          <a:ln/>
        </p:spPr>
      </p:sp>
      <p:sp>
        <p:nvSpPr>
          <p:cNvPr id="50" name="Text 46"/>
          <p:cNvSpPr/>
          <p:nvPr/>
        </p:nvSpPr>
        <p:spPr>
          <a:xfrm>
            <a:off x="7296912" y="3346704"/>
            <a:ext cx="694944" cy="320040"/>
          </a:xfrm>
          <a:prstGeom prst="rect">
            <a:avLst/>
          </a:prstGeom>
          <a:noFill/>
          <a:ln/>
        </p:spPr>
        <p:txBody>
          <a:bodyPr wrap="square" lIns="0" tIns="0" rIns="0" bIns="0" rtlCol="0" anchor="ctr"/>
          <a:lstStyle/>
          <a:p>
            <a:pPr algn="ctr" indent="0" marL="0">
              <a:buNone/>
            </a:pPr>
            <a:r>
              <a:rPr lang="en-US" sz="800" dirty="0">
                <a:solidFill>
                  <a:srgbClr val="2C3E5A"/>
                </a:solidFill>
                <a:latin typeface="Calibri" pitchFamily="34" charset="0"/>
                <a:ea typeface="Calibri" pitchFamily="34" charset="-122"/>
                <a:cs typeface="Calibri" pitchFamily="34" charset="-120"/>
              </a:rPr>
              <a:t>4,000</a:t>
            </a:r>
            <a:endParaRPr lang="en-US" sz="800" dirty="0"/>
          </a:p>
        </p:txBody>
      </p:sp>
      <p:sp>
        <p:nvSpPr>
          <p:cNvPr id="51" name="Shape 47"/>
          <p:cNvSpPr/>
          <p:nvPr/>
        </p:nvSpPr>
        <p:spPr>
          <a:xfrm>
            <a:off x="8028432" y="3346704"/>
            <a:ext cx="694944" cy="320040"/>
          </a:xfrm>
          <a:prstGeom prst="rect">
            <a:avLst/>
          </a:prstGeom>
          <a:solidFill>
            <a:srgbClr val="F0F4FA"/>
          </a:solidFill>
          <a:ln/>
        </p:spPr>
      </p:sp>
      <p:sp>
        <p:nvSpPr>
          <p:cNvPr id="52" name="Text 48"/>
          <p:cNvSpPr/>
          <p:nvPr/>
        </p:nvSpPr>
        <p:spPr>
          <a:xfrm>
            <a:off x="8028432" y="3346704"/>
            <a:ext cx="694944" cy="320040"/>
          </a:xfrm>
          <a:prstGeom prst="rect">
            <a:avLst/>
          </a:prstGeom>
          <a:noFill/>
          <a:ln/>
        </p:spPr>
        <p:txBody>
          <a:bodyPr wrap="square" lIns="0" tIns="0" rIns="0" bIns="0" rtlCol="0" anchor="ctr"/>
          <a:lstStyle/>
          <a:p>
            <a:pPr algn="ctr" indent="0" marL="0">
              <a:buNone/>
            </a:pPr>
            <a:r>
              <a:rPr lang="en-US" sz="800" dirty="0">
                <a:solidFill>
                  <a:srgbClr val="2ECC71"/>
                </a:solidFill>
                <a:latin typeface="Calibri" pitchFamily="34" charset="0"/>
                <a:ea typeface="Calibri" pitchFamily="34" charset="-122"/>
                <a:cs typeface="Calibri" pitchFamily="34" charset="-120"/>
              </a:rPr>
              <a:t>+11.7M</a:t>
            </a:r>
            <a:endParaRPr lang="en-US" sz="800" dirty="0"/>
          </a:p>
        </p:txBody>
      </p:sp>
      <p:sp>
        <p:nvSpPr>
          <p:cNvPr id="53" name="Shape 49"/>
          <p:cNvSpPr/>
          <p:nvPr/>
        </p:nvSpPr>
        <p:spPr>
          <a:xfrm>
            <a:off x="6035040" y="3685032"/>
            <a:ext cx="475488" cy="320040"/>
          </a:xfrm>
          <a:prstGeom prst="rect">
            <a:avLst/>
          </a:prstGeom>
          <a:solidFill>
            <a:srgbClr val="FFFFFF"/>
          </a:solidFill>
          <a:ln/>
        </p:spPr>
      </p:sp>
      <p:sp>
        <p:nvSpPr>
          <p:cNvPr id="54" name="Text 50"/>
          <p:cNvSpPr/>
          <p:nvPr/>
        </p:nvSpPr>
        <p:spPr>
          <a:xfrm>
            <a:off x="6035040" y="3685032"/>
            <a:ext cx="475488" cy="320040"/>
          </a:xfrm>
          <a:prstGeom prst="rect">
            <a:avLst/>
          </a:prstGeom>
          <a:noFill/>
          <a:ln/>
        </p:spPr>
        <p:txBody>
          <a:bodyPr wrap="square" lIns="0" tIns="0" rIns="0" bIns="0" rtlCol="0" anchor="ctr"/>
          <a:lstStyle/>
          <a:p>
            <a:pPr algn="ctr" indent="0" marL="0">
              <a:buNone/>
            </a:pPr>
            <a:r>
              <a:rPr lang="en-US" sz="950" b="1" dirty="0">
                <a:solidFill>
                  <a:srgbClr val="2C3E5A"/>
                </a:solidFill>
                <a:latin typeface="Trebuchet MS" pitchFamily="34" charset="0"/>
                <a:ea typeface="Trebuchet MS" pitchFamily="34" charset="-122"/>
                <a:cs typeface="Trebuchet MS" pitchFamily="34" charset="-120"/>
              </a:rPr>
              <a:t>2029</a:t>
            </a:r>
            <a:endParaRPr lang="en-US" sz="950" dirty="0"/>
          </a:p>
        </p:txBody>
      </p:sp>
      <p:sp>
        <p:nvSpPr>
          <p:cNvPr id="55" name="Shape 51"/>
          <p:cNvSpPr/>
          <p:nvPr/>
        </p:nvSpPr>
        <p:spPr>
          <a:xfrm>
            <a:off x="6565392" y="3685032"/>
            <a:ext cx="694944" cy="320040"/>
          </a:xfrm>
          <a:prstGeom prst="rect">
            <a:avLst/>
          </a:prstGeom>
          <a:solidFill>
            <a:srgbClr val="FFFFFF"/>
          </a:solidFill>
          <a:ln/>
        </p:spPr>
      </p:sp>
      <p:sp>
        <p:nvSpPr>
          <p:cNvPr id="56" name="Text 52"/>
          <p:cNvSpPr/>
          <p:nvPr/>
        </p:nvSpPr>
        <p:spPr>
          <a:xfrm>
            <a:off x="6565392" y="3685032"/>
            <a:ext cx="694944" cy="320040"/>
          </a:xfrm>
          <a:prstGeom prst="rect">
            <a:avLst/>
          </a:prstGeom>
          <a:noFill/>
          <a:ln/>
        </p:spPr>
        <p:txBody>
          <a:bodyPr wrap="square" lIns="0" tIns="0" rIns="0" bIns="0" rtlCol="0" anchor="ctr"/>
          <a:lstStyle/>
          <a:p>
            <a:pPr algn="ctr" indent="0" marL="0">
              <a:buNone/>
            </a:pPr>
            <a:r>
              <a:rPr lang="en-US" sz="800" dirty="0">
                <a:solidFill>
                  <a:srgbClr val="2C3E5A"/>
                </a:solidFill>
                <a:latin typeface="Calibri" pitchFamily="34" charset="0"/>
                <a:ea typeface="Calibri" pitchFamily="34" charset="-122"/>
                <a:cs typeface="Calibri" pitchFamily="34" charset="-120"/>
              </a:rPr>
              <a:t>31.5M</a:t>
            </a:r>
            <a:endParaRPr lang="en-US" sz="800" dirty="0"/>
          </a:p>
        </p:txBody>
      </p:sp>
      <p:sp>
        <p:nvSpPr>
          <p:cNvPr id="57" name="Shape 53"/>
          <p:cNvSpPr/>
          <p:nvPr/>
        </p:nvSpPr>
        <p:spPr>
          <a:xfrm>
            <a:off x="7296912" y="3685032"/>
            <a:ext cx="694944" cy="320040"/>
          </a:xfrm>
          <a:prstGeom prst="rect">
            <a:avLst/>
          </a:prstGeom>
          <a:solidFill>
            <a:srgbClr val="FFFFFF"/>
          </a:solidFill>
          <a:ln/>
        </p:spPr>
      </p:sp>
      <p:sp>
        <p:nvSpPr>
          <p:cNvPr id="58" name="Text 54"/>
          <p:cNvSpPr/>
          <p:nvPr/>
        </p:nvSpPr>
        <p:spPr>
          <a:xfrm>
            <a:off x="7296912" y="3685032"/>
            <a:ext cx="694944" cy="320040"/>
          </a:xfrm>
          <a:prstGeom prst="rect">
            <a:avLst/>
          </a:prstGeom>
          <a:noFill/>
          <a:ln/>
        </p:spPr>
        <p:txBody>
          <a:bodyPr wrap="square" lIns="0" tIns="0" rIns="0" bIns="0" rtlCol="0" anchor="ctr"/>
          <a:lstStyle/>
          <a:p>
            <a:pPr algn="ctr" indent="0" marL="0">
              <a:buNone/>
            </a:pPr>
            <a:r>
              <a:rPr lang="en-US" sz="800" dirty="0">
                <a:solidFill>
                  <a:srgbClr val="2C3E5A"/>
                </a:solidFill>
                <a:latin typeface="Calibri" pitchFamily="34" charset="0"/>
                <a:ea typeface="Calibri" pitchFamily="34" charset="-122"/>
                <a:cs typeface="Calibri" pitchFamily="34" charset="-120"/>
              </a:rPr>
              <a:t>9,000</a:t>
            </a:r>
            <a:endParaRPr lang="en-US" sz="800" dirty="0"/>
          </a:p>
        </p:txBody>
      </p:sp>
      <p:sp>
        <p:nvSpPr>
          <p:cNvPr id="59" name="Shape 55"/>
          <p:cNvSpPr/>
          <p:nvPr/>
        </p:nvSpPr>
        <p:spPr>
          <a:xfrm>
            <a:off x="8028432" y="3685032"/>
            <a:ext cx="694944" cy="320040"/>
          </a:xfrm>
          <a:prstGeom prst="rect">
            <a:avLst/>
          </a:prstGeom>
          <a:solidFill>
            <a:srgbClr val="FFFFFF"/>
          </a:solidFill>
          <a:ln/>
        </p:spPr>
      </p:sp>
      <p:sp>
        <p:nvSpPr>
          <p:cNvPr id="60" name="Text 56"/>
          <p:cNvSpPr/>
          <p:nvPr/>
        </p:nvSpPr>
        <p:spPr>
          <a:xfrm>
            <a:off x="8028432" y="3685032"/>
            <a:ext cx="694944" cy="320040"/>
          </a:xfrm>
          <a:prstGeom prst="rect">
            <a:avLst/>
          </a:prstGeom>
          <a:noFill/>
          <a:ln/>
        </p:spPr>
        <p:txBody>
          <a:bodyPr wrap="square" lIns="0" tIns="0" rIns="0" bIns="0" rtlCol="0" anchor="ctr"/>
          <a:lstStyle/>
          <a:p>
            <a:pPr algn="ctr" indent="0" marL="0">
              <a:buNone/>
            </a:pPr>
            <a:r>
              <a:rPr lang="en-US" sz="800" dirty="0">
                <a:solidFill>
                  <a:srgbClr val="2ECC71"/>
                </a:solidFill>
                <a:latin typeface="Calibri" pitchFamily="34" charset="0"/>
                <a:ea typeface="Calibri" pitchFamily="34" charset="-122"/>
                <a:cs typeface="Calibri" pitchFamily="34" charset="-120"/>
              </a:rPr>
              <a:t>+22.5M</a:t>
            </a:r>
            <a:endParaRPr lang="en-US" sz="800" dirty="0"/>
          </a:p>
        </p:txBody>
      </p:sp>
      <p:sp>
        <p:nvSpPr>
          <p:cNvPr id="61" name="Shape 57"/>
          <p:cNvSpPr/>
          <p:nvPr/>
        </p:nvSpPr>
        <p:spPr>
          <a:xfrm>
            <a:off x="6035040" y="4023360"/>
            <a:ext cx="475488" cy="320040"/>
          </a:xfrm>
          <a:prstGeom prst="rect">
            <a:avLst/>
          </a:prstGeom>
          <a:solidFill>
            <a:srgbClr val="F0F4FA"/>
          </a:solidFill>
          <a:ln/>
        </p:spPr>
      </p:sp>
      <p:sp>
        <p:nvSpPr>
          <p:cNvPr id="62" name="Text 58"/>
          <p:cNvSpPr/>
          <p:nvPr/>
        </p:nvSpPr>
        <p:spPr>
          <a:xfrm>
            <a:off x="6035040" y="4023360"/>
            <a:ext cx="475488" cy="320040"/>
          </a:xfrm>
          <a:prstGeom prst="rect">
            <a:avLst/>
          </a:prstGeom>
          <a:noFill/>
          <a:ln/>
        </p:spPr>
        <p:txBody>
          <a:bodyPr wrap="square" lIns="0" tIns="0" rIns="0" bIns="0" rtlCol="0" anchor="ctr"/>
          <a:lstStyle/>
          <a:p>
            <a:pPr algn="ctr" indent="0" marL="0">
              <a:buNone/>
            </a:pPr>
            <a:r>
              <a:rPr lang="en-US" sz="950" b="1" dirty="0">
                <a:solidFill>
                  <a:srgbClr val="2C3E5A"/>
                </a:solidFill>
                <a:latin typeface="Trebuchet MS" pitchFamily="34" charset="0"/>
                <a:ea typeface="Trebuchet MS" pitchFamily="34" charset="-122"/>
                <a:cs typeface="Trebuchet MS" pitchFamily="34" charset="-120"/>
              </a:rPr>
              <a:t>2030</a:t>
            </a:r>
            <a:endParaRPr lang="en-US" sz="950" dirty="0"/>
          </a:p>
        </p:txBody>
      </p:sp>
      <p:sp>
        <p:nvSpPr>
          <p:cNvPr id="63" name="Shape 59"/>
          <p:cNvSpPr/>
          <p:nvPr/>
        </p:nvSpPr>
        <p:spPr>
          <a:xfrm>
            <a:off x="6565392" y="4023360"/>
            <a:ext cx="694944" cy="320040"/>
          </a:xfrm>
          <a:prstGeom prst="rect">
            <a:avLst/>
          </a:prstGeom>
          <a:solidFill>
            <a:srgbClr val="F0F4FA"/>
          </a:solidFill>
          <a:ln/>
        </p:spPr>
      </p:sp>
      <p:sp>
        <p:nvSpPr>
          <p:cNvPr id="64" name="Text 60"/>
          <p:cNvSpPr/>
          <p:nvPr/>
        </p:nvSpPr>
        <p:spPr>
          <a:xfrm>
            <a:off x="6565392" y="4023360"/>
            <a:ext cx="694944" cy="320040"/>
          </a:xfrm>
          <a:prstGeom prst="rect">
            <a:avLst/>
          </a:prstGeom>
          <a:noFill/>
          <a:ln/>
        </p:spPr>
        <p:txBody>
          <a:bodyPr wrap="square" lIns="0" tIns="0" rIns="0" bIns="0" rtlCol="0" anchor="ctr"/>
          <a:lstStyle/>
          <a:p>
            <a:pPr algn="ctr" indent="0" marL="0">
              <a:buNone/>
            </a:pPr>
            <a:r>
              <a:rPr lang="en-US" sz="800" dirty="0">
                <a:solidFill>
                  <a:srgbClr val="2C3E5A"/>
                </a:solidFill>
                <a:latin typeface="Calibri" pitchFamily="34" charset="0"/>
                <a:ea typeface="Calibri" pitchFamily="34" charset="-122"/>
                <a:cs typeface="Calibri" pitchFamily="34" charset="-120"/>
              </a:rPr>
              <a:t>52.5M</a:t>
            </a:r>
            <a:endParaRPr lang="en-US" sz="800" dirty="0"/>
          </a:p>
        </p:txBody>
      </p:sp>
      <p:sp>
        <p:nvSpPr>
          <p:cNvPr id="65" name="Shape 61"/>
          <p:cNvSpPr/>
          <p:nvPr/>
        </p:nvSpPr>
        <p:spPr>
          <a:xfrm>
            <a:off x="7296912" y="4023360"/>
            <a:ext cx="694944" cy="320040"/>
          </a:xfrm>
          <a:prstGeom prst="rect">
            <a:avLst/>
          </a:prstGeom>
          <a:solidFill>
            <a:srgbClr val="F0F4FA"/>
          </a:solidFill>
          <a:ln/>
        </p:spPr>
      </p:sp>
      <p:sp>
        <p:nvSpPr>
          <p:cNvPr id="66" name="Text 62"/>
          <p:cNvSpPr/>
          <p:nvPr/>
        </p:nvSpPr>
        <p:spPr>
          <a:xfrm>
            <a:off x="7296912" y="4023360"/>
            <a:ext cx="694944" cy="320040"/>
          </a:xfrm>
          <a:prstGeom prst="rect">
            <a:avLst/>
          </a:prstGeom>
          <a:noFill/>
          <a:ln/>
        </p:spPr>
        <p:txBody>
          <a:bodyPr wrap="square" lIns="0" tIns="0" rIns="0" bIns="0" rtlCol="0" anchor="ctr"/>
          <a:lstStyle/>
          <a:p>
            <a:pPr algn="ctr" indent="0" marL="0">
              <a:buNone/>
            </a:pPr>
            <a:r>
              <a:rPr lang="en-US" sz="800" dirty="0">
                <a:solidFill>
                  <a:srgbClr val="2C3E5A"/>
                </a:solidFill>
                <a:latin typeface="Calibri" pitchFamily="34" charset="0"/>
                <a:ea typeface="Calibri" pitchFamily="34" charset="-122"/>
                <a:cs typeface="Calibri" pitchFamily="34" charset="-120"/>
              </a:rPr>
              <a:t>15K</a:t>
            </a:r>
            <a:endParaRPr lang="en-US" sz="800" dirty="0"/>
          </a:p>
        </p:txBody>
      </p:sp>
      <p:sp>
        <p:nvSpPr>
          <p:cNvPr id="67" name="Shape 63"/>
          <p:cNvSpPr/>
          <p:nvPr/>
        </p:nvSpPr>
        <p:spPr>
          <a:xfrm>
            <a:off x="8028432" y="4023360"/>
            <a:ext cx="694944" cy="320040"/>
          </a:xfrm>
          <a:prstGeom prst="rect">
            <a:avLst/>
          </a:prstGeom>
          <a:solidFill>
            <a:srgbClr val="F0F4FA"/>
          </a:solidFill>
          <a:ln/>
        </p:spPr>
      </p:sp>
      <p:sp>
        <p:nvSpPr>
          <p:cNvPr id="68" name="Text 64"/>
          <p:cNvSpPr/>
          <p:nvPr/>
        </p:nvSpPr>
        <p:spPr>
          <a:xfrm>
            <a:off x="8028432" y="4023360"/>
            <a:ext cx="694944" cy="320040"/>
          </a:xfrm>
          <a:prstGeom prst="rect">
            <a:avLst/>
          </a:prstGeom>
          <a:noFill/>
          <a:ln/>
        </p:spPr>
        <p:txBody>
          <a:bodyPr wrap="square" lIns="0" tIns="0" rIns="0" bIns="0" rtlCol="0" anchor="ctr"/>
          <a:lstStyle/>
          <a:p>
            <a:pPr algn="ctr" indent="0" marL="0">
              <a:buNone/>
            </a:pPr>
            <a:r>
              <a:rPr lang="en-US" sz="800" dirty="0">
                <a:solidFill>
                  <a:srgbClr val="2ECC71"/>
                </a:solidFill>
                <a:latin typeface="Calibri" pitchFamily="34" charset="0"/>
                <a:ea typeface="Calibri" pitchFamily="34" charset="-122"/>
                <a:cs typeface="Calibri" pitchFamily="34" charset="-120"/>
              </a:rPr>
              <a:t>+37.5M</a:t>
            </a:r>
            <a:endParaRPr lang="en-US" sz="800" dirty="0"/>
          </a:p>
        </p:txBody>
      </p:sp>
      <p:sp>
        <p:nvSpPr>
          <p:cNvPr id="69" name="Shape 65"/>
          <p:cNvSpPr/>
          <p:nvPr/>
        </p:nvSpPr>
        <p:spPr>
          <a:xfrm>
            <a:off x="6016752" y="4407408"/>
            <a:ext cx="2834640" cy="292608"/>
          </a:xfrm>
          <a:prstGeom prst="rect">
            <a:avLst/>
          </a:prstGeom>
          <a:solidFill>
            <a:srgbClr val="FFF8E1"/>
          </a:solidFill>
          <a:ln/>
        </p:spPr>
      </p:sp>
      <p:sp>
        <p:nvSpPr>
          <p:cNvPr id="70" name="Shape 66"/>
          <p:cNvSpPr/>
          <p:nvPr/>
        </p:nvSpPr>
        <p:spPr>
          <a:xfrm>
            <a:off x="6016752" y="4407408"/>
            <a:ext cx="36576" cy="292608"/>
          </a:xfrm>
          <a:prstGeom prst="rect">
            <a:avLst/>
          </a:prstGeom>
          <a:solidFill>
            <a:srgbClr val="F5A623"/>
          </a:solidFill>
          <a:ln/>
        </p:spPr>
      </p:sp>
      <p:sp>
        <p:nvSpPr>
          <p:cNvPr id="71" name="Text 67"/>
          <p:cNvSpPr/>
          <p:nvPr/>
        </p:nvSpPr>
        <p:spPr>
          <a:xfrm>
            <a:off x="6080760" y="4434840"/>
            <a:ext cx="2743200" cy="237744"/>
          </a:xfrm>
          <a:prstGeom prst="rect">
            <a:avLst/>
          </a:prstGeom>
          <a:noFill/>
          <a:ln/>
        </p:spPr>
        <p:txBody>
          <a:bodyPr wrap="square" rtlCol="0" anchor="ctr"/>
          <a:lstStyle/>
          <a:p>
            <a:pPr indent="0" marL="0">
              <a:buNone/>
            </a:pPr>
            <a:r>
              <a:rPr lang="en-US" sz="1100" b="1" dirty="0">
                <a:solidFill>
                  <a:srgbClr val="2C3E5A"/>
                </a:solidFill>
                <a:latin typeface="Trebuchet MS" pitchFamily="34" charset="0"/>
                <a:ea typeface="Trebuchet MS" pitchFamily="34" charset="-122"/>
                <a:cs typeface="Trebuchet MS" pitchFamily="34" charset="-120"/>
              </a:rPr>
              <a:t>📍 Break-even: 2025 (1-yildan!)  🚀</a:t>
            </a:r>
            <a:endParaRPr lang="en-US" sz="1100" dirty="0"/>
          </a:p>
        </p:txBody>
      </p:sp>
      <p:sp>
        <p:nvSpPr>
          <p:cNvPr id="72" name="Text 68"/>
          <p:cNvSpPr/>
          <p:nvPr/>
        </p:nvSpPr>
        <p:spPr>
          <a:xfrm>
            <a:off x="6016752" y="4754880"/>
            <a:ext cx="2880360" cy="274320"/>
          </a:xfrm>
          <a:prstGeom prst="rect">
            <a:avLst/>
          </a:prstGeom>
          <a:noFill/>
          <a:ln/>
        </p:spPr>
        <p:txBody>
          <a:bodyPr wrap="square" rtlCol="0" anchor="ctr"/>
          <a:lstStyle/>
          <a:p>
            <a:pPr indent="0" marL="0">
              <a:buNone/>
            </a:pPr>
            <a:r>
              <a:rPr lang="en-US" sz="950" dirty="0">
                <a:solidFill>
                  <a:srgbClr val="00C9B1"/>
                </a:solidFill>
                <a:latin typeface="Calibri" pitchFamily="34" charset="0"/>
                <a:ea typeface="Calibri" pitchFamily="34" charset="-122"/>
                <a:cs typeface="Calibri" pitchFamily="34" charset="-120"/>
              </a:rPr>
              <a:t>Maktablar: 20 → 150 → 500 → 1,500 → 5,000</a:t>
            </a:r>
            <a:endParaRPr lang="en-US" sz="950" dirty="0"/>
          </a:p>
        </p:txBody>
      </p:sp>
      <p:sp>
        <p:nvSpPr>
          <p:cNvPr id="73" name="Text 69"/>
          <p:cNvSpPr/>
          <p:nvPr/>
        </p:nvSpPr>
        <p:spPr>
          <a:xfrm>
            <a:off x="6016752" y="5001768"/>
            <a:ext cx="2880360" cy="256032"/>
          </a:xfrm>
          <a:prstGeom prst="rect">
            <a:avLst/>
          </a:prstGeom>
          <a:noFill/>
          <a:ln/>
        </p:spPr>
        <p:txBody>
          <a:bodyPr wrap="square" rtlCol="0" anchor="ctr"/>
          <a:lstStyle/>
          <a:p>
            <a:pPr indent="0" marL="0">
              <a:buNone/>
            </a:pPr>
            <a:r>
              <a:rPr lang="en-US" sz="900" dirty="0">
                <a:solidFill>
                  <a:srgbClr val="8FA4C4"/>
                </a:solidFill>
                <a:latin typeface="Calibri" pitchFamily="34" charset="0"/>
                <a:ea typeface="Calibri" pitchFamily="34" charset="-122"/>
                <a:cs typeface="Calibri" pitchFamily="34" charset="-120"/>
              </a:rPr>
              <a:t>Bozor: $1/o'quvchi + $5/ota-ona (30%)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E44AD"/>
          </a:solidFill>
          <a:ln/>
        </p:spPr>
      </p:sp>
      <p:sp>
        <p:nvSpPr>
          <p:cNvPr id="3" name="Text 1"/>
          <p:cNvSpPr/>
          <p:nvPr/>
        </p:nvSpPr>
        <p:spPr>
          <a:xfrm>
            <a:off x="274320" y="182880"/>
            <a:ext cx="8686800" cy="594360"/>
          </a:xfrm>
          <a:prstGeom prst="rect">
            <a:avLst/>
          </a:prstGeom>
          <a:noFill/>
          <a:ln/>
        </p:spPr>
        <p:txBody>
          <a:bodyPr wrap="square" lIns="0" tIns="0" rIns="0" bIns="0" rtlCol="0" anchor="ctr"/>
          <a:lstStyle/>
          <a:p>
            <a:pPr indent="0" marL="0">
              <a:buNone/>
            </a:pPr>
            <a:r>
              <a:rPr lang="en-US" sz="2800" b="1" dirty="0">
                <a:solidFill>
                  <a:srgbClr val="0A1628"/>
                </a:solidFill>
                <a:latin typeface="Trebuchet MS" pitchFamily="34" charset="0"/>
                <a:ea typeface="Trebuchet MS" pitchFamily="34" charset="-122"/>
                <a:cs typeface="Trebuchet MS" pitchFamily="34" charset="-120"/>
              </a:rPr>
              <a:t>Raqobat Muhiti</a:t>
            </a:r>
            <a:endParaRPr lang="en-US" sz="2800" dirty="0"/>
          </a:p>
        </p:txBody>
      </p:sp>
      <p:sp>
        <p:nvSpPr>
          <p:cNvPr id="4" name="Text 2"/>
          <p:cNvSpPr/>
          <p:nvPr/>
        </p:nvSpPr>
        <p:spPr>
          <a:xfrm>
            <a:off x="274320" y="795528"/>
            <a:ext cx="8686800" cy="411480"/>
          </a:xfrm>
          <a:prstGeom prst="rect">
            <a:avLst/>
          </a:prstGeom>
          <a:noFill/>
          <a:ln/>
        </p:spPr>
        <p:txBody>
          <a:bodyPr wrap="square" rtlCol="0" anchor="ctr"/>
          <a:lstStyle/>
          <a:p>
            <a:pPr indent="0" marL="0">
              <a:buNone/>
            </a:pPr>
            <a:r>
              <a:rPr lang="en-US" sz="1200" i="1" dirty="0">
                <a:solidFill>
                  <a:srgbClr val="8FA4C4"/>
                </a:solidFill>
                <a:latin typeface="Calibri" pitchFamily="34" charset="0"/>
                <a:ea typeface="Calibri" pitchFamily="34" charset="-122"/>
                <a:cs typeface="Calibri" pitchFamily="34" charset="-120"/>
              </a:rPr>
              <a:t>TalimZ bitta mahalliy platformada 3 ta SI imkoniyatni birlashtiradi — Markaziy Osiyo uchun hech bir raqobatchi buni qilmagan</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28600" y="1298448"/>
          <a:ext cx="8686800" cy="3401568"/>
        </p:xfrm>
        <a:graphic>
          <a:graphicData uri="http://schemas.openxmlformats.org/drawingml/2006/table">
            <a:tbl>
              <a:tblPr/>
              <a:tblGrid>
                <a:gridCol w="1920240"/>
                <a:gridCol w="1353312"/>
                <a:gridCol w="1554480"/>
                <a:gridCol w="1554480"/>
                <a:gridCol w="1188720"/>
                <a:gridCol w="1115568"/>
              </a:tblGrid>
              <a:tr h="485938">
                <a:tc>
                  <a:txBody>
                    <a:bodyPr/>
                    <a:lstStyle/>
                    <a:p>
                      <a:pPr algn="ctr" indent="0" marL="0">
                        <a:buNone/>
                      </a:pPr>
                      <a:r>
                        <a:rPr lang="en-US" sz="1100" b="1" dirty="0">
                          <a:solidFill>
                            <a:srgbClr val="FFFFFF"/>
                          </a:solidFill>
                        </a:rPr>
                        <a:t>Kompaniya</a:t>
                      </a:r>
                      <a:endParaRPr lang="en-US" sz="110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0D3B7E"/>
                    </a:solidFill>
                  </a:tcPr>
                </a:tc>
                <a:tc>
                  <a:txBody>
                    <a:bodyPr/>
                    <a:lstStyle/>
                    <a:p>
                      <a:pPr algn="ctr" indent="0" marL="0">
                        <a:buNone/>
                      </a:pPr>
                      <a:r>
                        <a:rPr lang="en-US" sz="1100" b="1" dirty="0">
                          <a:solidFill>
                            <a:srgbClr val="FFFFFF"/>
                          </a:solidFill>
                        </a:rPr>
                        <a:t>Diqqat monitori</a:t>
                      </a:r>
                      <a:endParaRPr lang="en-US" sz="110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0D3B7E"/>
                    </a:solidFill>
                  </a:tcPr>
                </a:tc>
                <a:tc>
                  <a:txBody>
                    <a:bodyPr/>
                    <a:lstStyle/>
                    <a:p>
                      <a:pPr algn="ctr" indent="0" marL="0">
                        <a:buNone/>
                      </a:pPr>
                      <a:r>
                        <a:rPr lang="en-US" sz="1100" b="1" dirty="0">
                          <a:solidFill>
                            <a:srgbClr val="FFFFFF"/>
                          </a:solidFill>
                        </a:rPr>
                        <a:t>SI Baholash</a:t>
                      </a:r>
                      <a:endParaRPr lang="en-US" sz="110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0D3B7E"/>
                    </a:solidFill>
                  </a:tcPr>
                </a:tc>
                <a:tc>
                  <a:txBody>
                    <a:bodyPr/>
                    <a:lstStyle/>
                    <a:p>
                      <a:pPr algn="ctr" indent="0" marL="0">
                        <a:buNone/>
                      </a:pPr>
                      <a:r>
                        <a:rPr lang="en-US" sz="1100" b="1" dirty="0">
                          <a:solidFill>
                            <a:srgbClr val="FFFFFF"/>
                          </a:solidFill>
                        </a:rPr>
                        <a:t>Salohiyat tahlili</a:t>
                      </a:r>
                      <a:endParaRPr lang="en-US" sz="110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0D3B7E"/>
                    </a:solidFill>
                  </a:tcPr>
                </a:tc>
                <a:tc>
                  <a:txBody>
                    <a:bodyPr/>
                    <a:lstStyle/>
                    <a:p>
                      <a:pPr algn="ctr" indent="0" marL="0">
                        <a:buNone/>
                      </a:pPr>
                      <a:r>
                        <a:rPr lang="en-US" sz="1100" b="1" dirty="0">
                          <a:solidFill>
                            <a:srgbClr val="FFFFFF"/>
                          </a:solidFill>
                        </a:rPr>
                        <a:t>Mahalliy til</a:t>
                      </a:r>
                      <a:endParaRPr lang="en-US" sz="110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0D3B7E"/>
                    </a:solidFill>
                  </a:tcPr>
                </a:tc>
                <a:tc>
                  <a:txBody>
                    <a:bodyPr/>
                    <a:lstStyle/>
                    <a:p>
                      <a:pPr algn="ctr" indent="0" marL="0">
                        <a:buNone/>
                      </a:pPr>
                      <a:r>
                        <a:rPr lang="en-US" sz="1100" b="1" dirty="0">
                          <a:solidFill>
                            <a:srgbClr val="FFFFFF"/>
                          </a:solidFill>
                        </a:rPr>
                        <a:t>Arzon K-12</a:t>
                      </a:r>
                      <a:endParaRPr lang="en-US" sz="110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0D3B7E"/>
                    </a:solidFill>
                  </a:tcPr>
                </a:tc>
              </a:tr>
              <a:tr h="485938">
                <a:tc>
                  <a:txBody>
                    <a:bodyPr/>
                    <a:lstStyle/>
                    <a:p>
                      <a:pPr algn="l" indent="0" marL="0">
                        <a:buNone/>
                      </a:pPr>
                      <a:r>
                        <a:rPr lang="en-US" sz="1050" b="1" dirty="0">
                          <a:solidFill>
                            <a:srgbClr val="00C9B1"/>
                          </a:solidFill>
                        </a:rPr>
                        <a:t>TalimZ ★</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E8F8F4"/>
                    </a:solidFill>
                  </a:tcPr>
                </a:tc>
                <a:tc>
                  <a:txBody>
                    <a:bodyPr/>
                    <a:lstStyle/>
                    <a:p>
                      <a:pPr algn="ctr" indent="0" marL="0">
                        <a:buNone/>
                      </a:pPr>
                      <a:r>
                        <a:rPr lang="en-US" sz="1050" b="1"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E8F8F4"/>
                    </a:solidFill>
                  </a:tcPr>
                </a:tc>
                <a:tc>
                  <a:txBody>
                    <a:bodyPr/>
                    <a:lstStyle/>
                    <a:p>
                      <a:pPr algn="ctr" indent="0" marL="0">
                        <a:buNone/>
                      </a:pPr>
                      <a:r>
                        <a:rPr lang="en-US" sz="1050" b="1"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E8F8F4"/>
                    </a:solidFill>
                  </a:tcPr>
                </a:tc>
                <a:tc>
                  <a:txBody>
                    <a:bodyPr/>
                    <a:lstStyle/>
                    <a:p>
                      <a:pPr algn="ctr" indent="0" marL="0">
                        <a:buNone/>
                      </a:pPr>
                      <a:r>
                        <a:rPr lang="en-US" sz="1050" b="1"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E8F8F4"/>
                    </a:solidFill>
                  </a:tcPr>
                </a:tc>
                <a:tc>
                  <a:txBody>
                    <a:bodyPr/>
                    <a:lstStyle/>
                    <a:p>
                      <a:pPr algn="ctr" indent="0" marL="0">
                        <a:buNone/>
                      </a:pPr>
                      <a:r>
                        <a:rPr lang="en-US" sz="1050" b="1" dirty="0">
                          <a:solidFill>
                            <a:srgbClr val="2C3E5A"/>
                          </a:solidFill>
                        </a:rPr>
                        <a:t>✅ O'zbek/Ru</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E8F8F4"/>
                    </a:solidFill>
                  </a:tcPr>
                </a:tc>
                <a:tc>
                  <a:txBody>
                    <a:bodyPr/>
                    <a:lstStyle/>
                    <a:p>
                      <a:pPr algn="ctr" indent="0" marL="0">
                        <a:buNone/>
                      </a:pPr>
                      <a:r>
                        <a:rPr lang="en-US" sz="1050" b="1"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E8F8F4"/>
                    </a:solidFill>
                  </a:tcPr>
                </a:tc>
              </a:tr>
              <a:tr h="485938">
                <a:tc>
                  <a:txBody>
                    <a:bodyPr/>
                    <a:lstStyle/>
                    <a:p>
                      <a:pPr algn="l" indent="0" marL="0">
                        <a:buNone/>
                      </a:pPr>
                      <a:r>
                        <a:rPr lang="en-US" sz="1050" dirty="0">
                          <a:solidFill>
                            <a:srgbClr val="2C3E5A"/>
                          </a:solidFill>
                        </a:rPr>
                        <a:t>Duolingo</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C3E5A"/>
                          </a:solidFill>
                        </a:rPr>
                        <a:t>✅ (cheklangan)</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r>
              <a:tr h="485938">
                <a:tc>
                  <a:txBody>
                    <a:bodyPr/>
                    <a:lstStyle/>
                    <a:p>
                      <a:pPr algn="l" indent="0" marL="0">
                        <a:buNone/>
                      </a:pPr>
                      <a:r>
                        <a:rPr lang="en-US" sz="1050" dirty="0">
                          <a:solidFill>
                            <a:srgbClr val="2C3E5A"/>
                          </a:solidFill>
                        </a:rPr>
                        <a:t>Khan Academy / Khanmigo</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0F4FA"/>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0F4FA"/>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0F4FA"/>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0F4FA"/>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0F4FA"/>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0F4FA"/>
                    </a:solidFill>
                  </a:tcPr>
                </a:tc>
              </a:tr>
              <a:tr h="485938">
                <a:tc>
                  <a:txBody>
                    <a:bodyPr/>
                    <a:lstStyle/>
                    <a:p>
                      <a:pPr algn="l" indent="0" marL="0">
                        <a:buNone/>
                      </a:pPr>
                      <a:r>
                        <a:rPr lang="en-US" sz="1050" dirty="0">
                          <a:solidFill>
                            <a:srgbClr val="2C3E5A"/>
                          </a:solidFill>
                        </a:rPr>
                        <a:t>Classcraft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C3E5A"/>
                          </a:solidFill>
                        </a:rPr>
                        <a:t>✅ (asosiy)</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r>
              <a:tr h="485938">
                <a:tc>
                  <a:txBody>
                    <a:bodyPr/>
                    <a:lstStyle/>
                    <a:p>
                      <a:pPr algn="l" indent="0" marL="0">
                        <a:buNone/>
                      </a:pPr>
                      <a:r>
                        <a:rPr lang="en-US" sz="1050" dirty="0">
                          <a:solidFill>
                            <a:srgbClr val="2C3E5A"/>
                          </a:solidFill>
                        </a:rPr>
                        <a:t>Squirrel AI</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0F4FA"/>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0F4FA"/>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0F4FA"/>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0F4FA"/>
                    </a:solidFill>
                  </a:tcPr>
                </a:tc>
                <a:tc>
                  <a:txBody>
                    <a:bodyPr/>
                    <a:lstStyle/>
                    <a:p>
                      <a:pPr algn="ctr" indent="0" marL="0">
                        <a:buNone/>
                      </a:pPr>
                      <a:r>
                        <a:rPr lang="en-US" sz="1050" dirty="0">
                          <a:solidFill>
                            <a:srgbClr val="2C3E5A"/>
                          </a:solidFill>
                        </a:rPr>
                        <a:t>❌ (faqat Xitoy)</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0F4FA"/>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0F4FA"/>
                    </a:solidFill>
                  </a:tcPr>
                </a:tc>
              </a:tr>
              <a:tr h="485938">
                <a:tc>
                  <a:txBody>
                    <a:bodyPr/>
                    <a:lstStyle/>
                    <a:p>
                      <a:pPr algn="l" indent="0" marL="0">
                        <a:buNone/>
                      </a:pPr>
                      <a:r>
                        <a:rPr lang="en-US" sz="1050" dirty="0">
                          <a:solidFill>
                            <a:srgbClr val="2C3E5A"/>
                          </a:solidFill>
                        </a:rPr>
                        <a:t>BYJU'S</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C3E5A"/>
                          </a:solidFill>
                        </a:rPr>
                        <a:t>❌</a:t>
                      </a:r>
                      <a:endParaRPr lang="en-US" sz="1050" dirty="0"/>
                    </a:p>
                  </a:txBody>
                  <a:tcPr marL="91440" marR="91440" marT="45720" marB="45720">
                    <a:lnL w="6350" cap="flat" cmpd="sng" algn="ctr">
                      <a:solidFill>
                        <a:srgbClr val="D0DCF0"/>
                      </a:solidFill>
                      <a:prstDash val="solid"/>
                      <a:round/>
                      <a:headEnd type="none" w="med" len="med"/>
                      <a:tailEnd type="none" w="med" len="med"/>
                    </a:lnL>
                    <a:lnR w="6350" cap="flat" cmpd="sng" algn="ctr">
                      <a:solidFill>
                        <a:srgbClr val="D0DCF0"/>
                      </a:solidFill>
                      <a:prstDash val="solid"/>
                      <a:round/>
                      <a:headEnd type="none" w="med" len="med"/>
                      <a:tailEnd type="none" w="med" len="med"/>
                    </a:lnR>
                    <a:lnT w="6350" cap="flat" cmpd="sng" algn="ctr">
                      <a:solidFill>
                        <a:srgbClr val="D0DCF0"/>
                      </a:solidFill>
                      <a:prstDash val="solid"/>
                      <a:round/>
                      <a:headEnd type="none" w="med" len="med"/>
                      <a:tailEnd type="none" w="med" len="med"/>
                    </a:lnT>
                    <a:lnB w="6350" cap="flat" cmpd="sng" algn="ctr">
                      <a:solidFill>
                        <a:srgbClr val="D0DCF0"/>
                      </a:solidFill>
                      <a:prstDash val="solid"/>
                      <a:round/>
                      <a:headEnd type="none" w="med" len="med"/>
                      <a:tailEnd type="none" w="med" len="med"/>
                    </a:lnB>
                    <a:solidFill>
                      <a:srgbClr val="FFFFFF"/>
                    </a:solidFill>
                  </a:tcPr>
                </a:tc>
              </a:tr>
            </a:tbl>
          </a:graphicData>
        </a:graphic>
      </p:graphicFrame>
      <p:sp>
        <p:nvSpPr>
          <p:cNvPr id="6" name="Text 3"/>
          <p:cNvSpPr/>
          <p:nvPr/>
        </p:nvSpPr>
        <p:spPr>
          <a:xfrm>
            <a:off x="228600" y="4773168"/>
            <a:ext cx="8686800" cy="274320"/>
          </a:xfrm>
          <a:prstGeom prst="rect">
            <a:avLst/>
          </a:prstGeom>
          <a:noFill/>
          <a:ln/>
        </p:spPr>
        <p:txBody>
          <a:bodyPr wrap="square" rtlCol="0" anchor="ctr"/>
          <a:lstStyle/>
          <a:p>
            <a:pPr algn="ctr" indent="0" marL="0">
              <a:buNone/>
            </a:pPr>
            <a:r>
              <a:rPr lang="en-US" sz="1100" b="1" dirty="0">
                <a:solidFill>
                  <a:srgbClr val="00C9B1"/>
                </a:solidFill>
                <a:latin typeface="Calibri" pitchFamily="34" charset="0"/>
                <a:ea typeface="Calibri" pitchFamily="34" charset="-122"/>
                <a:cs typeface="Calibri" pitchFamily="34" charset="-120"/>
              </a:rPr>
              <a:t>TalimZ — Markaziy Osiyo sinflari uchun maxsus yaratilgan YAGONA yechim: o'zbek/rus tili, mahalliy o'quv dasturi, mahalliy narxlar.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ECC71"/>
          </a:solidFill>
          <a:ln/>
        </p:spPr>
      </p:sp>
      <p:sp>
        <p:nvSpPr>
          <p:cNvPr id="3" name="Text 1"/>
          <p:cNvSpPr/>
          <p:nvPr/>
        </p:nvSpPr>
        <p:spPr>
          <a:xfrm>
            <a:off x="274320" y="182880"/>
            <a:ext cx="8686800" cy="594360"/>
          </a:xfrm>
          <a:prstGeom prst="rect">
            <a:avLst/>
          </a:prstGeom>
          <a:noFill/>
          <a:ln/>
        </p:spPr>
        <p:txBody>
          <a:bodyPr wrap="square" lIns="0" tIns="0" rIns="0" bIns="0" rtlCol="0" anchor="ctr"/>
          <a:lstStyle/>
          <a:p>
            <a:pPr indent="0" marL="0">
              <a:buNone/>
            </a:pPr>
            <a:r>
              <a:rPr lang="en-US" sz="2800" b="1" dirty="0">
                <a:solidFill>
                  <a:srgbClr val="0A1628"/>
                </a:solidFill>
                <a:latin typeface="Trebuchet MS" pitchFamily="34" charset="0"/>
                <a:ea typeface="Trebuchet MS" pitchFamily="34" charset="-122"/>
                <a:cs typeface="Trebuchet MS" pitchFamily="34" charset="-120"/>
              </a:rPr>
              <a:t>Kutilgan Ta'sir va Natijalar</a:t>
            </a:r>
            <a:endParaRPr lang="en-US" sz="2800" dirty="0"/>
          </a:p>
        </p:txBody>
      </p:sp>
      <p:sp>
        <p:nvSpPr>
          <p:cNvPr id="4" name="Text 2"/>
          <p:cNvSpPr/>
          <p:nvPr/>
        </p:nvSpPr>
        <p:spPr>
          <a:xfrm>
            <a:off x="274320" y="795528"/>
            <a:ext cx="8686800" cy="365760"/>
          </a:xfrm>
          <a:prstGeom prst="rect">
            <a:avLst/>
          </a:prstGeom>
          <a:noFill/>
          <a:ln/>
        </p:spPr>
        <p:txBody>
          <a:bodyPr wrap="square" rtlCol="0" anchor="ctr"/>
          <a:lstStyle/>
          <a:p>
            <a:pPr indent="0" marL="0">
              <a:buNone/>
            </a:pPr>
            <a:r>
              <a:rPr lang="en-US" sz="1200" i="1" dirty="0">
                <a:solidFill>
                  <a:srgbClr val="8FA4C4"/>
                </a:solidFill>
                <a:latin typeface="Calibri" pitchFamily="34" charset="0"/>
                <a:ea typeface="Calibri" pitchFamily="34" charset="-122"/>
                <a:cs typeface="Calibri" pitchFamily="34" charset="-120"/>
              </a:rPr>
              <a:t>O'quvchilar, o'qituvchilar va maktablar uchun o'lchanadigan natijalar — global tadqiqotlar tomonidan tasdiqlangan</a:t>
            </a:r>
            <a:endParaRPr lang="en-US" sz="1200" dirty="0"/>
          </a:p>
        </p:txBody>
      </p:sp>
      <p:sp>
        <p:nvSpPr>
          <p:cNvPr id="5" name="Shape 3"/>
          <p:cNvSpPr/>
          <p:nvPr/>
        </p:nvSpPr>
        <p:spPr>
          <a:xfrm>
            <a:off x="228600" y="1261872"/>
            <a:ext cx="4114800" cy="3611880"/>
          </a:xfrm>
          <a:prstGeom prst="rect">
            <a:avLst/>
          </a:prstGeom>
          <a:solidFill>
            <a:srgbClr val="E8F8F4"/>
          </a:solidFill>
          <a:ln/>
        </p:spPr>
      </p:sp>
      <p:sp>
        <p:nvSpPr>
          <p:cNvPr id="6" name="Shape 4"/>
          <p:cNvSpPr/>
          <p:nvPr/>
        </p:nvSpPr>
        <p:spPr>
          <a:xfrm>
            <a:off x="4800600" y="1261872"/>
            <a:ext cx="4114800" cy="3611880"/>
          </a:xfrm>
          <a:prstGeom prst="rect">
            <a:avLst/>
          </a:prstGeom>
          <a:solidFill>
            <a:srgbClr val="EFF5FF"/>
          </a:solidFill>
          <a:ln/>
        </p:spPr>
      </p:sp>
      <p:sp>
        <p:nvSpPr>
          <p:cNvPr id="7" name="Shape 5"/>
          <p:cNvSpPr/>
          <p:nvPr/>
        </p:nvSpPr>
        <p:spPr>
          <a:xfrm>
            <a:off x="228600" y="1261872"/>
            <a:ext cx="4114800" cy="54864"/>
          </a:xfrm>
          <a:prstGeom prst="rect">
            <a:avLst/>
          </a:prstGeom>
          <a:solidFill>
            <a:srgbClr val="2ECC71"/>
          </a:solidFill>
          <a:ln/>
        </p:spPr>
      </p:sp>
      <p:sp>
        <p:nvSpPr>
          <p:cNvPr id="8" name="Shape 6"/>
          <p:cNvSpPr/>
          <p:nvPr/>
        </p:nvSpPr>
        <p:spPr>
          <a:xfrm>
            <a:off x="4800600" y="1261872"/>
            <a:ext cx="4114800" cy="54864"/>
          </a:xfrm>
          <a:prstGeom prst="rect">
            <a:avLst/>
          </a:prstGeom>
          <a:solidFill>
            <a:srgbClr val="1D90F5"/>
          </a:solidFill>
          <a:ln/>
        </p:spPr>
      </p:sp>
      <p:pic>
        <p:nvPicPr>
          <p:cNvPr id="9" name="Image 0" descr="preencoded.png">    </p:cNvPr>
          <p:cNvPicPr>
            <a:picLocks noChangeAspect="1"/>
          </p:cNvPicPr>
          <p:nvPr/>
        </p:nvPicPr>
        <p:blipFill>
          <a:blip r:embed="rId1"/>
          <a:stretch>
            <a:fillRect/>
          </a:stretch>
        </p:blipFill>
        <p:spPr>
          <a:xfrm>
            <a:off x="347472" y="1371600"/>
            <a:ext cx="457200" cy="457200"/>
          </a:xfrm>
          <a:prstGeom prst="rect">
            <a:avLst/>
          </a:prstGeom>
        </p:spPr>
      </p:pic>
      <p:sp>
        <p:nvSpPr>
          <p:cNvPr id="10" name="Text 7"/>
          <p:cNvSpPr/>
          <p:nvPr/>
        </p:nvSpPr>
        <p:spPr>
          <a:xfrm>
            <a:off x="914400" y="1389888"/>
            <a:ext cx="3200400" cy="411480"/>
          </a:xfrm>
          <a:prstGeom prst="rect">
            <a:avLst/>
          </a:prstGeom>
          <a:noFill/>
          <a:ln/>
        </p:spPr>
        <p:txBody>
          <a:bodyPr wrap="square" lIns="0" tIns="0" rIns="0" bIns="0" rtlCol="0" anchor="ctr"/>
          <a:lstStyle/>
          <a:p>
            <a:pPr indent="0" marL="0">
              <a:buNone/>
            </a:pPr>
            <a:r>
              <a:rPr lang="en-US" sz="1600" b="1" dirty="0">
                <a:solidFill>
                  <a:srgbClr val="2ECC71"/>
                </a:solidFill>
                <a:latin typeface="Trebuchet MS" pitchFamily="34" charset="0"/>
                <a:ea typeface="Trebuchet MS" pitchFamily="34" charset="-122"/>
                <a:cs typeface="Trebuchet MS" pitchFamily="34" charset="-120"/>
              </a:rPr>
              <a:t>O'quvchilar uchun</a:t>
            </a:r>
            <a:endParaRPr lang="en-US" sz="1600" dirty="0"/>
          </a:p>
        </p:txBody>
      </p:sp>
      <p:pic>
        <p:nvPicPr>
          <p:cNvPr id="11" name="Image 1" descr="preencoded.png">    </p:cNvPr>
          <p:cNvPicPr>
            <a:picLocks noChangeAspect="1"/>
          </p:cNvPicPr>
          <p:nvPr/>
        </p:nvPicPr>
        <p:blipFill>
          <a:blip r:embed="rId2"/>
          <a:stretch>
            <a:fillRect/>
          </a:stretch>
        </p:blipFill>
        <p:spPr>
          <a:xfrm>
            <a:off x="4919472" y="1371600"/>
            <a:ext cx="457200" cy="457200"/>
          </a:xfrm>
          <a:prstGeom prst="rect">
            <a:avLst/>
          </a:prstGeom>
        </p:spPr>
      </p:pic>
      <p:sp>
        <p:nvSpPr>
          <p:cNvPr id="12" name="Text 8"/>
          <p:cNvSpPr/>
          <p:nvPr/>
        </p:nvSpPr>
        <p:spPr>
          <a:xfrm>
            <a:off x="5486400" y="1389888"/>
            <a:ext cx="3200400" cy="411480"/>
          </a:xfrm>
          <a:prstGeom prst="rect">
            <a:avLst/>
          </a:prstGeom>
          <a:noFill/>
          <a:ln/>
        </p:spPr>
        <p:txBody>
          <a:bodyPr wrap="square" lIns="0" tIns="0" rIns="0" bIns="0" rtlCol="0" anchor="ctr"/>
          <a:lstStyle/>
          <a:p>
            <a:pPr indent="0" marL="0">
              <a:buNone/>
            </a:pPr>
            <a:r>
              <a:rPr lang="en-US" sz="1600" b="1" dirty="0">
                <a:solidFill>
                  <a:srgbClr val="1D90F5"/>
                </a:solidFill>
                <a:latin typeface="Trebuchet MS" pitchFamily="34" charset="0"/>
                <a:ea typeface="Trebuchet MS" pitchFamily="34" charset="-122"/>
                <a:cs typeface="Trebuchet MS" pitchFamily="34" charset="-120"/>
              </a:rPr>
              <a:t>O'qituvchilar uchun</a:t>
            </a:r>
            <a:endParaRPr lang="en-US" sz="1600" dirty="0"/>
          </a:p>
        </p:txBody>
      </p:sp>
      <p:sp>
        <p:nvSpPr>
          <p:cNvPr id="13" name="Shape 9"/>
          <p:cNvSpPr/>
          <p:nvPr/>
        </p:nvSpPr>
        <p:spPr>
          <a:xfrm>
            <a:off x="347472" y="2011680"/>
            <a:ext cx="182880" cy="182880"/>
          </a:xfrm>
          <a:prstGeom prst="oval">
            <a:avLst/>
          </a:prstGeom>
          <a:solidFill>
            <a:srgbClr val="2ECC71"/>
          </a:solidFill>
          <a:ln/>
        </p:spPr>
      </p:sp>
      <p:sp>
        <p:nvSpPr>
          <p:cNvPr id="14" name="Text 10"/>
          <p:cNvSpPr/>
          <p:nvPr/>
        </p:nvSpPr>
        <p:spPr>
          <a:xfrm>
            <a:off x="658368" y="1965960"/>
            <a:ext cx="3566160" cy="384048"/>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Diqqat va vazifaga e'tibor 25% gacha yaxshilanadi</a:t>
            </a:r>
            <a:endParaRPr lang="en-US" sz="1100" dirty="0"/>
          </a:p>
        </p:txBody>
      </p:sp>
      <p:sp>
        <p:nvSpPr>
          <p:cNvPr id="15" name="Shape 11"/>
          <p:cNvSpPr/>
          <p:nvPr/>
        </p:nvSpPr>
        <p:spPr>
          <a:xfrm>
            <a:off x="347472" y="2414016"/>
            <a:ext cx="182880" cy="182880"/>
          </a:xfrm>
          <a:prstGeom prst="oval">
            <a:avLst/>
          </a:prstGeom>
          <a:solidFill>
            <a:srgbClr val="2ECC71"/>
          </a:solidFill>
          <a:ln/>
        </p:spPr>
      </p:sp>
      <p:sp>
        <p:nvSpPr>
          <p:cNvPr id="16" name="Text 12"/>
          <p:cNvSpPr/>
          <p:nvPr/>
        </p:nvSpPr>
        <p:spPr>
          <a:xfrm>
            <a:off x="658368" y="2368296"/>
            <a:ext cx="3566160" cy="384048"/>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Darhol shaxsiylashtirilgan fikr-mulohaza (kunlar o'rniga daqiqalarda)</a:t>
            </a:r>
            <a:endParaRPr lang="en-US" sz="1100" dirty="0"/>
          </a:p>
        </p:txBody>
      </p:sp>
      <p:sp>
        <p:nvSpPr>
          <p:cNvPr id="17" name="Shape 13"/>
          <p:cNvSpPr/>
          <p:nvPr/>
        </p:nvSpPr>
        <p:spPr>
          <a:xfrm>
            <a:off x="347472" y="2816352"/>
            <a:ext cx="182880" cy="182880"/>
          </a:xfrm>
          <a:prstGeom prst="oval">
            <a:avLst/>
          </a:prstGeom>
          <a:solidFill>
            <a:srgbClr val="2ECC71"/>
          </a:solidFill>
          <a:ln/>
        </p:spPr>
      </p:sp>
      <p:sp>
        <p:nvSpPr>
          <p:cNvPr id="18" name="Text 14"/>
          <p:cNvSpPr/>
          <p:nvPr/>
        </p:nvSpPr>
        <p:spPr>
          <a:xfrm>
            <a:off x="658368" y="2770632"/>
            <a:ext cx="3566160" cy="384048"/>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Yashirin iste'dod erta aniqlanadi — kech bo'lishidan oldin</a:t>
            </a:r>
            <a:endParaRPr lang="en-US" sz="1100" dirty="0"/>
          </a:p>
        </p:txBody>
      </p:sp>
      <p:sp>
        <p:nvSpPr>
          <p:cNvPr id="19" name="Shape 15"/>
          <p:cNvSpPr/>
          <p:nvPr/>
        </p:nvSpPr>
        <p:spPr>
          <a:xfrm>
            <a:off x="347472" y="3218688"/>
            <a:ext cx="182880" cy="182880"/>
          </a:xfrm>
          <a:prstGeom prst="oval">
            <a:avLst/>
          </a:prstGeom>
          <a:solidFill>
            <a:srgbClr val="2ECC71"/>
          </a:solidFill>
          <a:ln/>
        </p:spPr>
      </p:sp>
      <p:sp>
        <p:nvSpPr>
          <p:cNvPr id="20" name="Text 16"/>
          <p:cNvSpPr/>
          <p:nvPr/>
        </p:nvSpPr>
        <p:spPr>
          <a:xfrm>
            <a:off x="658368" y="3172968"/>
            <a:ext cx="3566160" cy="384048"/>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SI repetitor bilan o'quvchilarning 50% yaxshiroq tushunadi</a:t>
            </a:r>
            <a:endParaRPr lang="en-US" sz="1100" dirty="0"/>
          </a:p>
        </p:txBody>
      </p:sp>
      <p:sp>
        <p:nvSpPr>
          <p:cNvPr id="21" name="Shape 17"/>
          <p:cNvSpPr/>
          <p:nvPr/>
        </p:nvSpPr>
        <p:spPr>
          <a:xfrm>
            <a:off x="347472" y="3621024"/>
            <a:ext cx="182880" cy="182880"/>
          </a:xfrm>
          <a:prstGeom prst="oval">
            <a:avLst/>
          </a:prstGeom>
          <a:solidFill>
            <a:srgbClr val="2ECC71"/>
          </a:solidFill>
          <a:ln/>
        </p:spPr>
      </p:sp>
      <p:sp>
        <p:nvSpPr>
          <p:cNvPr id="22" name="Text 18"/>
          <p:cNvSpPr/>
          <p:nvPr/>
        </p:nvSpPr>
        <p:spPr>
          <a:xfrm>
            <a:off x="658368" y="3575304"/>
            <a:ext cx="3566160" cy="384048"/>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O'quv yo'li o'z uslubi va sur'atiga moslashtiriladi</a:t>
            </a:r>
            <a:endParaRPr lang="en-US" sz="1100" dirty="0"/>
          </a:p>
        </p:txBody>
      </p:sp>
      <p:sp>
        <p:nvSpPr>
          <p:cNvPr id="23" name="Shape 19"/>
          <p:cNvSpPr/>
          <p:nvPr/>
        </p:nvSpPr>
        <p:spPr>
          <a:xfrm>
            <a:off x="347472" y="4023360"/>
            <a:ext cx="182880" cy="182880"/>
          </a:xfrm>
          <a:prstGeom prst="oval">
            <a:avLst/>
          </a:prstGeom>
          <a:solidFill>
            <a:srgbClr val="2ECC71"/>
          </a:solidFill>
          <a:ln/>
        </p:spPr>
      </p:sp>
      <p:sp>
        <p:nvSpPr>
          <p:cNvPr id="24" name="Text 20"/>
          <p:cNvSpPr/>
          <p:nvPr/>
        </p:nvSpPr>
        <p:spPr>
          <a:xfrm>
            <a:off x="658368" y="3977640"/>
            <a:ext cx="3566160" cy="384048"/>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Baholar tushishidan haftalar oldin xavf belgilanadi</a:t>
            </a:r>
            <a:endParaRPr lang="en-US" sz="1100" dirty="0"/>
          </a:p>
        </p:txBody>
      </p:sp>
      <p:sp>
        <p:nvSpPr>
          <p:cNvPr id="25" name="Shape 21"/>
          <p:cNvSpPr/>
          <p:nvPr/>
        </p:nvSpPr>
        <p:spPr>
          <a:xfrm>
            <a:off x="4919472" y="2011680"/>
            <a:ext cx="182880" cy="182880"/>
          </a:xfrm>
          <a:prstGeom prst="oval">
            <a:avLst/>
          </a:prstGeom>
          <a:solidFill>
            <a:srgbClr val="1D90F5"/>
          </a:solidFill>
          <a:ln/>
        </p:spPr>
      </p:sp>
      <p:sp>
        <p:nvSpPr>
          <p:cNvPr id="26" name="Text 22"/>
          <p:cNvSpPr/>
          <p:nvPr/>
        </p:nvSpPr>
        <p:spPr>
          <a:xfrm>
            <a:off x="5230368" y="1965960"/>
            <a:ext cx="3566160" cy="384048"/>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Qo'lda baholashga ketgan 7–10 soat/haftani tejash</a:t>
            </a:r>
            <a:endParaRPr lang="en-US" sz="1100" dirty="0"/>
          </a:p>
        </p:txBody>
      </p:sp>
      <p:sp>
        <p:nvSpPr>
          <p:cNvPr id="27" name="Shape 23"/>
          <p:cNvSpPr/>
          <p:nvPr/>
        </p:nvSpPr>
        <p:spPr>
          <a:xfrm>
            <a:off x="4919472" y="2414016"/>
            <a:ext cx="182880" cy="182880"/>
          </a:xfrm>
          <a:prstGeom prst="oval">
            <a:avLst/>
          </a:prstGeom>
          <a:solidFill>
            <a:srgbClr val="1D90F5"/>
          </a:solidFill>
          <a:ln/>
        </p:spPr>
      </p:sp>
      <p:sp>
        <p:nvSpPr>
          <p:cNvPr id="28" name="Text 24"/>
          <p:cNvSpPr/>
          <p:nvPr/>
        </p:nvSpPr>
        <p:spPr>
          <a:xfrm>
            <a:off x="5230368" y="2368296"/>
            <a:ext cx="3566160" cy="384048"/>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Real vaqtdagi sinf diqqat xaritasi — istalgan o'quvchiga darhol murojaat</a:t>
            </a:r>
            <a:endParaRPr lang="en-US" sz="1100" dirty="0"/>
          </a:p>
        </p:txBody>
      </p:sp>
      <p:sp>
        <p:nvSpPr>
          <p:cNvPr id="29" name="Shape 25"/>
          <p:cNvSpPr/>
          <p:nvPr/>
        </p:nvSpPr>
        <p:spPr>
          <a:xfrm>
            <a:off x="4919472" y="2816352"/>
            <a:ext cx="182880" cy="182880"/>
          </a:xfrm>
          <a:prstGeom prst="oval">
            <a:avLst/>
          </a:prstGeom>
          <a:solidFill>
            <a:srgbClr val="1D90F5"/>
          </a:solidFill>
          <a:ln/>
        </p:spPr>
      </p:sp>
      <p:sp>
        <p:nvSpPr>
          <p:cNvPr id="30" name="Text 26"/>
          <p:cNvSpPr/>
          <p:nvPr/>
        </p:nvSpPr>
        <p:spPr>
          <a:xfrm>
            <a:off x="5230368" y="2770632"/>
            <a:ext cx="3566160" cy="384048"/>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SI kurashayotgan o'quvchilarni oldindan belgilaydi, keyin emas</a:t>
            </a:r>
            <a:endParaRPr lang="en-US" sz="1100" dirty="0"/>
          </a:p>
        </p:txBody>
      </p:sp>
      <p:sp>
        <p:nvSpPr>
          <p:cNvPr id="31" name="Shape 27"/>
          <p:cNvSpPr/>
          <p:nvPr/>
        </p:nvSpPr>
        <p:spPr>
          <a:xfrm>
            <a:off x="4919472" y="3218688"/>
            <a:ext cx="182880" cy="182880"/>
          </a:xfrm>
          <a:prstGeom prst="oval">
            <a:avLst/>
          </a:prstGeom>
          <a:solidFill>
            <a:srgbClr val="1D90F5"/>
          </a:solidFill>
          <a:ln/>
        </p:spPr>
      </p:sp>
      <p:sp>
        <p:nvSpPr>
          <p:cNvPr id="32" name="Text 28"/>
          <p:cNvSpPr/>
          <p:nvPr/>
        </p:nvSpPr>
        <p:spPr>
          <a:xfrm>
            <a:off x="5230368" y="3172968"/>
            <a:ext cx="3566160" cy="384048"/>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Haftalik SI o'quvchi rivojlanish hisobotlari avtomatik yaratiladi</a:t>
            </a:r>
            <a:endParaRPr lang="en-US" sz="1100" dirty="0"/>
          </a:p>
        </p:txBody>
      </p:sp>
      <p:sp>
        <p:nvSpPr>
          <p:cNvPr id="33" name="Shape 29"/>
          <p:cNvSpPr/>
          <p:nvPr/>
        </p:nvSpPr>
        <p:spPr>
          <a:xfrm>
            <a:off x="4919472" y="3621024"/>
            <a:ext cx="182880" cy="182880"/>
          </a:xfrm>
          <a:prstGeom prst="oval">
            <a:avLst/>
          </a:prstGeom>
          <a:solidFill>
            <a:srgbClr val="1D90F5"/>
          </a:solidFill>
          <a:ln/>
        </p:spPr>
      </p:sp>
      <p:sp>
        <p:nvSpPr>
          <p:cNvPr id="34" name="Text 30"/>
          <p:cNvSpPr/>
          <p:nvPr/>
        </p:nvSpPr>
        <p:spPr>
          <a:xfrm>
            <a:off x="5230368" y="3575304"/>
            <a:ext cx="3566160" cy="384048"/>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O'qituvchilarning 53% allaqachon SI ishlatmoqda — TalimZ ushbu jarayonni rasmiylaydi</a:t>
            </a:r>
            <a:endParaRPr lang="en-US" sz="1100" dirty="0"/>
          </a:p>
        </p:txBody>
      </p:sp>
      <p:sp>
        <p:nvSpPr>
          <p:cNvPr id="35" name="Shape 31"/>
          <p:cNvSpPr/>
          <p:nvPr/>
        </p:nvSpPr>
        <p:spPr>
          <a:xfrm>
            <a:off x="4919472" y="4023360"/>
            <a:ext cx="182880" cy="182880"/>
          </a:xfrm>
          <a:prstGeom prst="oval">
            <a:avLst/>
          </a:prstGeom>
          <a:solidFill>
            <a:srgbClr val="1D90F5"/>
          </a:solidFill>
          <a:ln/>
        </p:spPr>
      </p:sp>
      <p:sp>
        <p:nvSpPr>
          <p:cNvPr id="36" name="Text 32"/>
          <p:cNvSpPr/>
          <p:nvPr/>
        </p:nvSpPr>
        <p:spPr>
          <a:xfrm>
            <a:off x="5230368" y="3977640"/>
            <a:ext cx="3566160" cy="384048"/>
          </a:xfrm>
          <a:prstGeom prst="rect">
            <a:avLst/>
          </a:prstGeom>
          <a:noFill/>
          <a:ln/>
        </p:spPr>
        <p:txBody>
          <a:bodyPr wrap="square" rtlCol="0" anchor="ctr"/>
          <a:lstStyle/>
          <a:p>
            <a:pPr indent="0" marL="0">
              <a:buNone/>
            </a:pPr>
            <a:r>
              <a:rPr lang="en-US" sz="1100" dirty="0">
                <a:solidFill>
                  <a:srgbClr val="2C3E5A"/>
                </a:solidFill>
                <a:latin typeface="Calibri" pitchFamily="34" charset="0"/>
                <a:ea typeface="Calibri" pitchFamily="34" charset="-122"/>
                <a:cs typeface="Calibri" pitchFamily="34" charset="-120"/>
              </a:rPr>
              <a:t>Erta aralashuv bilan o'quvchilarni ushlab qolish 15–20% oshadi</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C9B1"/>
          </a:solidFill>
          <a:ln/>
        </p:spPr>
      </p:sp>
      <p:sp>
        <p:nvSpPr>
          <p:cNvPr id="3" name="Text 1"/>
          <p:cNvSpPr/>
          <p:nvPr/>
        </p:nvSpPr>
        <p:spPr>
          <a:xfrm>
            <a:off x="274320" y="182880"/>
            <a:ext cx="8686800" cy="594360"/>
          </a:xfrm>
          <a:prstGeom prst="rect">
            <a:avLst/>
          </a:prstGeom>
          <a:noFill/>
          <a:ln/>
        </p:spPr>
        <p:txBody>
          <a:bodyPr wrap="square" lIns="0" tIns="0" rIns="0" bIns="0" rtlCol="0" anchor="ctr"/>
          <a:lstStyle/>
          <a:p>
            <a:pPr indent="0" marL="0">
              <a:buNone/>
            </a:pPr>
            <a:r>
              <a:rPr lang="en-US" sz="2800" b="1" dirty="0">
                <a:solidFill>
                  <a:srgbClr val="0A1628"/>
                </a:solidFill>
                <a:latin typeface="Trebuchet MS" pitchFamily="34" charset="0"/>
                <a:ea typeface="Trebuchet MS" pitchFamily="34" charset="-122"/>
                <a:cs typeface="Trebuchet MS" pitchFamily="34" charset="-120"/>
              </a:rPr>
              <a:t>Mahsulot Yo'l Xaritasi</a:t>
            </a:r>
            <a:endParaRPr lang="en-US" sz="2800" dirty="0"/>
          </a:p>
        </p:txBody>
      </p:sp>
      <p:sp>
        <p:nvSpPr>
          <p:cNvPr id="4" name="Text 2"/>
          <p:cNvSpPr/>
          <p:nvPr/>
        </p:nvSpPr>
        <p:spPr>
          <a:xfrm>
            <a:off x="274320" y="795528"/>
            <a:ext cx="8686800" cy="365760"/>
          </a:xfrm>
          <a:prstGeom prst="rect">
            <a:avLst/>
          </a:prstGeom>
          <a:noFill/>
          <a:ln/>
        </p:spPr>
        <p:txBody>
          <a:bodyPr wrap="square" rtlCol="0" anchor="ctr"/>
          <a:lstStyle/>
          <a:p>
            <a:pPr indent="0" marL="0">
              <a:buNone/>
            </a:pPr>
            <a:r>
              <a:rPr lang="en-US" sz="1300" i="1" dirty="0">
                <a:solidFill>
                  <a:srgbClr val="8FA4C4"/>
                </a:solidFill>
                <a:latin typeface="Calibri" pitchFamily="34" charset="0"/>
                <a:ea typeface="Calibri" pitchFamily="34" charset="-122"/>
                <a:cs typeface="Calibri" pitchFamily="34" charset="-120"/>
              </a:rPr>
              <a:t>Xakaton MVP dan milliy platformagacha — bosqichma-bosqich, moslashuvchan rivojlanish</a:t>
            </a:r>
            <a:endParaRPr lang="en-US" sz="1300" dirty="0"/>
          </a:p>
        </p:txBody>
      </p:sp>
      <p:sp>
        <p:nvSpPr>
          <p:cNvPr id="5" name="Shape 3"/>
          <p:cNvSpPr/>
          <p:nvPr/>
        </p:nvSpPr>
        <p:spPr>
          <a:xfrm>
            <a:off x="457200" y="2560320"/>
            <a:ext cx="8229600" cy="73152"/>
          </a:xfrm>
          <a:prstGeom prst="rect">
            <a:avLst/>
          </a:prstGeom>
          <a:solidFill>
            <a:srgbClr val="E8EEF7"/>
          </a:solidFill>
          <a:ln/>
        </p:spPr>
      </p:sp>
      <p:sp>
        <p:nvSpPr>
          <p:cNvPr id="6" name="Shape 4"/>
          <p:cNvSpPr/>
          <p:nvPr/>
        </p:nvSpPr>
        <p:spPr>
          <a:xfrm>
            <a:off x="914400" y="2423160"/>
            <a:ext cx="347472" cy="347472"/>
          </a:xfrm>
          <a:prstGeom prst="oval">
            <a:avLst/>
          </a:prstGeom>
          <a:solidFill>
            <a:srgbClr val="FF6B6B"/>
          </a:solidFill>
          <a:ln/>
        </p:spPr>
      </p:sp>
      <p:sp>
        <p:nvSpPr>
          <p:cNvPr id="7" name="Shape 5"/>
          <p:cNvSpPr/>
          <p:nvPr/>
        </p:nvSpPr>
        <p:spPr>
          <a:xfrm>
            <a:off x="228600" y="1280160"/>
            <a:ext cx="1920240" cy="1051560"/>
          </a:xfrm>
          <a:prstGeom prst="rect">
            <a:avLst/>
          </a:prstGeom>
          <a:solidFill>
            <a:srgbClr val="FF6B6B">
              <a:alpha val="15000"/>
            </a:srgbClr>
          </a:solidFill>
          <a:ln/>
        </p:spPr>
      </p:sp>
      <p:sp>
        <p:nvSpPr>
          <p:cNvPr id="8" name="Shape 6"/>
          <p:cNvSpPr/>
          <p:nvPr/>
        </p:nvSpPr>
        <p:spPr>
          <a:xfrm>
            <a:off x="228600" y="1280160"/>
            <a:ext cx="54864" cy="1051560"/>
          </a:xfrm>
          <a:prstGeom prst="rect">
            <a:avLst/>
          </a:prstGeom>
          <a:solidFill>
            <a:srgbClr val="FF6B6B"/>
          </a:solidFill>
          <a:ln/>
        </p:spPr>
      </p:sp>
      <p:sp>
        <p:nvSpPr>
          <p:cNvPr id="9" name="Text 7"/>
          <p:cNvSpPr/>
          <p:nvPr/>
        </p:nvSpPr>
        <p:spPr>
          <a:xfrm>
            <a:off x="338328" y="1325880"/>
            <a:ext cx="1737360" cy="347472"/>
          </a:xfrm>
          <a:prstGeom prst="rect">
            <a:avLst/>
          </a:prstGeom>
          <a:noFill/>
          <a:ln/>
        </p:spPr>
        <p:txBody>
          <a:bodyPr wrap="square" lIns="0" tIns="0" rIns="0" bIns="0" rtlCol="0" anchor="ctr"/>
          <a:lstStyle/>
          <a:p>
            <a:pPr indent="0" marL="0">
              <a:buNone/>
            </a:pPr>
            <a:r>
              <a:rPr lang="en-US" sz="1300" b="1" dirty="0">
                <a:solidFill>
                  <a:srgbClr val="FF6B6B"/>
                </a:solidFill>
                <a:latin typeface="Trebuchet MS" pitchFamily="34" charset="0"/>
                <a:ea typeface="Trebuchet MS" pitchFamily="34" charset="-122"/>
                <a:cs typeface="Trebuchet MS" pitchFamily="34" charset="-120"/>
              </a:rPr>
              <a:t>1-bosqich</a:t>
            </a:r>
            <a:endParaRPr lang="en-US" sz="1300" dirty="0"/>
          </a:p>
        </p:txBody>
      </p:sp>
      <p:sp>
        <p:nvSpPr>
          <p:cNvPr id="10" name="Text 8"/>
          <p:cNvSpPr/>
          <p:nvPr/>
        </p:nvSpPr>
        <p:spPr>
          <a:xfrm>
            <a:off x="338328" y="1673352"/>
            <a:ext cx="1737360" cy="548640"/>
          </a:xfrm>
          <a:prstGeom prst="rect">
            <a:avLst/>
          </a:prstGeom>
          <a:noFill/>
          <a:ln/>
        </p:spPr>
        <p:txBody>
          <a:bodyPr wrap="square" rtlCol="0" anchor="ctr"/>
          <a:lstStyle/>
          <a:p>
            <a:pPr indent="0" marL="0">
              <a:buNone/>
            </a:pPr>
            <a:r>
              <a:rPr lang="en-US" sz="1000" dirty="0">
                <a:solidFill>
                  <a:srgbClr val="2C3E5A"/>
                </a:solidFill>
                <a:latin typeface="Calibri" pitchFamily="34" charset="0"/>
                <a:ea typeface="Calibri" pitchFamily="34" charset="-122"/>
                <a:cs typeface="Calibri" pitchFamily="34" charset="-120"/>
              </a:rPr>
              <a:t>1–3-oy (MVP)</a:t>
            </a:r>
            <a:endParaRPr lang="en-US" sz="1000" dirty="0"/>
          </a:p>
        </p:txBody>
      </p:sp>
      <p:sp>
        <p:nvSpPr>
          <p:cNvPr id="11" name="Shape 9"/>
          <p:cNvSpPr/>
          <p:nvPr/>
        </p:nvSpPr>
        <p:spPr>
          <a:xfrm>
            <a:off x="228600" y="2880360"/>
            <a:ext cx="1920240" cy="20116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2" name="Shape 10"/>
          <p:cNvSpPr/>
          <p:nvPr/>
        </p:nvSpPr>
        <p:spPr>
          <a:xfrm>
            <a:off x="228600" y="2880360"/>
            <a:ext cx="54864" cy="2011680"/>
          </a:xfrm>
          <a:prstGeom prst="rect">
            <a:avLst/>
          </a:prstGeom>
          <a:solidFill>
            <a:srgbClr val="FF6B6B"/>
          </a:solidFill>
          <a:ln/>
        </p:spPr>
      </p:sp>
      <p:sp>
        <p:nvSpPr>
          <p:cNvPr id="13" name="Text 11"/>
          <p:cNvSpPr/>
          <p:nvPr/>
        </p:nvSpPr>
        <p:spPr>
          <a:xfrm>
            <a:off x="338328" y="2926080"/>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O'qituvchilar uchun veb-panel</a:t>
            </a:r>
            <a:endParaRPr lang="en-US" sz="1050" dirty="0"/>
          </a:p>
        </p:txBody>
      </p:sp>
      <p:sp>
        <p:nvSpPr>
          <p:cNvPr id="14" name="Text 12"/>
          <p:cNvSpPr/>
          <p:nvPr/>
        </p:nvSpPr>
        <p:spPr>
          <a:xfrm>
            <a:off x="338328" y="3401568"/>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Veb-kamera orqali diqqat ogohlantirishlari</a:t>
            </a:r>
            <a:endParaRPr lang="en-US" sz="1050" dirty="0"/>
          </a:p>
        </p:txBody>
      </p:sp>
      <p:sp>
        <p:nvSpPr>
          <p:cNvPr id="15" name="Text 13"/>
          <p:cNvSpPr/>
          <p:nvPr/>
        </p:nvSpPr>
        <p:spPr>
          <a:xfrm>
            <a:off x="338328" y="3877056"/>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SI uy vazifasi tekshiruvi (matn/test)</a:t>
            </a:r>
            <a:endParaRPr lang="en-US" sz="1050" dirty="0"/>
          </a:p>
        </p:txBody>
      </p:sp>
      <p:sp>
        <p:nvSpPr>
          <p:cNvPr id="16" name="Text 14"/>
          <p:cNvSpPr/>
          <p:nvPr/>
        </p:nvSpPr>
        <p:spPr>
          <a:xfrm>
            <a:off x="338328" y="4352544"/>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Toshkentda 3 ta pilot maktab</a:t>
            </a:r>
            <a:endParaRPr lang="en-US" sz="1050" dirty="0"/>
          </a:p>
        </p:txBody>
      </p:sp>
      <p:sp>
        <p:nvSpPr>
          <p:cNvPr id="17" name="Shape 15"/>
          <p:cNvSpPr/>
          <p:nvPr/>
        </p:nvSpPr>
        <p:spPr>
          <a:xfrm>
            <a:off x="3127248" y="2423160"/>
            <a:ext cx="347472" cy="347472"/>
          </a:xfrm>
          <a:prstGeom prst="oval">
            <a:avLst/>
          </a:prstGeom>
          <a:solidFill>
            <a:srgbClr val="1D90F5"/>
          </a:solidFill>
          <a:ln/>
        </p:spPr>
      </p:sp>
      <p:sp>
        <p:nvSpPr>
          <p:cNvPr id="18" name="Shape 16"/>
          <p:cNvSpPr/>
          <p:nvPr/>
        </p:nvSpPr>
        <p:spPr>
          <a:xfrm>
            <a:off x="2441448" y="1280160"/>
            <a:ext cx="1920240" cy="1051560"/>
          </a:xfrm>
          <a:prstGeom prst="rect">
            <a:avLst/>
          </a:prstGeom>
          <a:solidFill>
            <a:srgbClr val="1D90F5">
              <a:alpha val="15000"/>
            </a:srgbClr>
          </a:solidFill>
          <a:ln/>
        </p:spPr>
      </p:sp>
      <p:sp>
        <p:nvSpPr>
          <p:cNvPr id="19" name="Shape 17"/>
          <p:cNvSpPr/>
          <p:nvPr/>
        </p:nvSpPr>
        <p:spPr>
          <a:xfrm>
            <a:off x="2441448" y="1280160"/>
            <a:ext cx="54864" cy="1051560"/>
          </a:xfrm>
          <a:prstGeom prst="rect">
            <a:avLst/>
          </a:prstGeom>
          <a:solidFill>
            <a:srgbClr val="1D90F5"/>
          </a:solidFill>
          <a:ln/>
        </p:spPr>
      </p:sp>
      <p:sp>
        <p:nvSpPr>
          <p:cNvPr id="20" name="Text 18"/>
          <p:cNvSpPr/>
          <p:nvPr/>
        </p:nvSpPr>
        <p:spPr>
          <a:xfrm>
            <a:off x="2551176" y="1325880"/>
            <a:ext cx="1737360" cy="347472"/>
          </a:xfrm>
          <a:prstGeom prst="rect">
            <a:avLst/>
          </a:prstGeom>
          <a:noFill/>
          <a:ln/>
        </p:spPr>
        <p:txBody>
          <a:bodyPr wrap="square" lIns="0" tIns="0" rIns="0" bIns="0" rtlCol="0" anchor="ctr"/>
          <a:lstStyle/>
          <a:p>
            <a:pPr indent="0" marL="0">
              <a:buNone/>
            </a:pPr>
            <a:r>
              <a:rPr lang="en-US" sz="1300" b="1" dirty="0">
                <a:solidFill>
                  <a:srgbClr val="1D90F5"/>
                </a:solidFill>
                <a:latin typeface="Trebuchet MS" pitchFamily="34" charset="0"/>
                <a:ea typeface="Trebuchet MS" pitchFamily="34" charset="-122"/>
                <a:cs typeface="Trebuchet MS" pitchFamily="34" charset="-120"/>
              </a:rPr>
              <a:t>2-bosqich</a:t>
            </a:r>
            <a:endParaRPr lang="en-US" sz="1300" dirty="0"/>
          </a:p>
        </p:txBody>
      </p:sp>
      <p:sp>
        <p:nvSpPr>
          <p:cNvPr id="21" name="Text 19"/>
          <p:cNvSpPr/>
          <p:nvPr/>
        </p:nvSpPr>
        <p:spPr>
          <a:xfrm>
            <a:off x="2551176" y="1673352"/>
            <a:ext cx="1737360" cy="548640"/>
          </a:xfrm>
          <a:prstGeom prst="rect">
            <a:avLst/>
          </a:prstGeom>
          <a:noFill/>
          <a:ln/>
        </p:spPr>
        <p:txBody>
          <a:bodyPr wrap="square" rtlCol="0" anchor="ctr"/>
          <a:lstStyle/>
          <a:p>
            <a:pPr indent="0" marL="0">
              <a:buNone/>
            </a:pPr>
            <a:r>
              <a:rPr lang="en-US" sz="1000" dirty="0">
                <a:solidFill>
                  <a:srgbClr val="2C3E5A"/>
                </a:solidFill>
                <a:latin typeface="Calibri" pitchFamily="34" charset="0"/>
                <a:ea typeface="Calibri" pitchFamily="34" charset="-122"/>
                <a:cs typeface="Calibri" pitchFamily="34" charset="-120"/>
              </a:rPr>
              <a:t>4–9-oy (O'sish)</a:t>
            </a:r>
            <a:endParaRPr lang="en-US" sz="1000" dirty="0"/>
          </a:p>
        </p:txBody>
      </p:sp>
      <p:sp>
        <p:nvSpPr>
          <p:cNvPr id="22" name="Shape 20"/>
          <p:cNvSpPr/>
          <p:nvPr/>
        </p:nvSpPr>
        <p:spPr>
          <a:xfrm>
            <a:off x="2441448" y="2880360"/>
            <a:ext cx="1920240" cy="20116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3" name="Shape 21"/>
          <p:cNvSpPr/>
          <p:nvPr/>
        </p:nvSpPr>
        <p:spPr>
          <a:xfrm>
            <a:off x="2441448" y="2880360"/>
            <a:ext cx="54864" cy="2011680"/>
          </a:xfrm>
          <a:prstGeom prst="rect">
            <a:avLst/>
          </a:prstGeom>
          <a:solidFill>
            <a:srgbClr val="1D90F5"/>
          </a:solidFill>
          <a:ln/>
        </p:spPr>
      </p:sp>
      <p:sp>
        <p:nvSpPr>
          <p:cNvPr id="24" name="Text 22"/>
          <p:cNvSpPr/>
          <p:nvPr/>
        </p:nvSpPr>
        <p:spPr>
          <a:xfrm>
            <a:off x="2551176" y="2926080"/>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O'qituvchi va o'quvchi uchun mobil ilova</a:t>
            </a:r>
            <a:endParaRPr lang="en-US" sz="1050" dirty="0"/>
          </a:p>
        </p:txBody>
      </p:sp>
      <p:sp>
        <p:nvSpPr>
          <p:cNvPr id="25" name="Text 23"/>
          <p:cNvSpPr/>
          <p:nvPr/>
        </p:nvSpPr>
        <p:spPr>
          <a:xfrm>
            <a:off x="2551176" y="3401568"/>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Salohiyat tahlilchisi ML modeli v1</a:t>
            </a:r>
            <a:endParaRPr lang="en-US" sz="1050" dirty="0"/>
          </a:p>
        </p:txBody>
      </p:sp>
      <p:sp>
        <p:nvSpPr>
          <p:cNvPr id="26" name="Text 24"/>
          <p:cNvSpPr/>
          <p:nvPr/>
        </p:nvSpPr>
        <p:spPr>
          <a:xfrm>
            <a:off x="2551176" y="3877056"/>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Ota-ona hisobot portali</a:t>
            </a:r>
            <a:endParaRPr lang="en-US" sz="1050" dirty="0"/>
          </a:p>
        </p:txBody>
      </p:sp>
      <p:sp>
        <p:nvSpPr>
          <p:cNvPr id="27" name="Text 25"/>
          <p:cNvSpPr/>
          <p:nvPr/>
        </p:nvSpPr>
        <p:spPr>
          <a:xfrm>
            <a:off x="2551176" y="4352544"/>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100 ta maktab ulandi</a:t>
            </a:r>
            <a:endParaRPr lang="en-US" sz="1050" dirty="0"/>
          </a:p>
        </p:txBody>
      </p:sp>
      <p:sp>
        <p:nvSpPr>
          <p:cNvPr id="28" name="Shape 26"/>
          <p:cNvSpPr/>
          <p:nvPr/>
        </p:nvSpPr>
        <p:spPr>
          <a:xfrm>
            <a:off x="5340096" y="2423160"/>
            <a:ext cx="347472" cy="347472"/>
          </a:xfrm>
          <a:prstGeom prst="oval">
            <a:avLst/>
          </a:prstGeom>
          <a:solidFill>
            <a:srgbClr val="00C9B1"/>
          </a:solidFill>
          <a:ln/>
        </p:spPr>
      </p:sp>
      <p:sp>
        <p:nvSpPr>
          <p:cNvPr id="29" name="Shape 27"/>
          <p:cNvSpPr/>
          <p:nvPr/>
        </p:nvSpPr>
        <p:spPr>
          <a:xfrm>
            <a:off x="4654296" y="1280160"/>
            <a:ext cx="1920240" cy="1051560"/>
          </a:xfrm>
          <a:prstGeom prst="rect">
            <a:avLst/>
          </a:prstGeom>
          <a:solidFill>
            <a:srgbClr val="00C9B1">
              <a:alpha val="15000"/>
            </a:srgbClr>
          </a:solidFill>
          <a:ln/>
        </p:spPr>
      </p:sp>
      <p:sp>
        <p:nvSpPr>
          <p:cNvPr id="30" name="Shape 28"/>
          <p:cNvSpPr/>
          <p:nvPr/>
        </p:nvSpPr>
        <p:spPr>
          <a:xfrm>
            <a:off x="4654296" y="1280160"/>
            <a:ext cx="54864" cy="1051560"/>
          </a:xfrm>
          <a:prstGeom prst="rect">
            <a:avLst/>
          </a:prstGeom>
          <a:solidFill>
            <a:srgbClr val="00C9B1"/>
          </a:solidFill>
          <a:ln/>
        </p:spPr>
      </p:sp>
      <p:sp>
        <p:nvSpPr>
          <p:cNvPr id="31" name="Text 29"/>
          <p:cNvSpPr/>
          <p:nvPr/>
        </p:nvSpPr>
        <p:spPr>
          <a:xfrm>
            <a:off x="4764024" y="1325880"/>
            <a:ext cx="1737360" cy="347472"/>
          </a:xfrm>
          <a:prstGeom prst="rect">
            <a:avLst/>
          </a:prstGeom>
          <a:noFill/>
          <a:ln/>
        </p:spPr>
        <p:txBody>
          <a:bodyPr wrap="square" lIns="0" tIns="0" rIns="0" bIns="0" rtlCol="0" anchor="ctr"/>
          <a:lstStyle/>
          <a:p>
            <a:pPr indent="0" marL="0">
              <a:buNone/>
            </a:pPr>
            <a:r>
              <a:rPr lang="en-US" sz="1300" b="1" dirty="0">
                <a:solidFill>
                  <a:srgbClr val="00C9B1"/>
                </a:solidFill>
                <a:latin typeface="Trebuchet MS" pitchFamily="34" charset="0"/>
                <a:ea typeface="Trebuchet MS" pitchFamily="34" charset="-122"/>
                <a:cs typeface="Trebuchet MS" pitchFamily="34" charset="-120"/>
              </a:rPr>
              <a:t>3-bosqich</a:t>
            </a:r>
            <a:endParaRPr lang="en-US" sz="1300" dirty="0"/>
          </a:p>
        </p:txBody>
      </p:sp>
      <p:sp>
        <p:nvSpPr>
          <p:cNvPr id="32" name="Text 30"/>
          <p:cNvSpPr/>
          <p:nvPr/>
        </p:nvSpPr>
        <p:spPr>
          <a:xfrm>
            <a:off x="4764024" y="1673352"/>
            <a:ext cx="1737360" cy="548640"/>
          </a:xfrm>
          <a:prstGeom prst="rect">
            <a:avLst/>
          </a:prstGeom>
          <a:noFill/>
          <a:ln/>
        </p:spPr>
        <p:txBody>
          <a:bodyPr wrap="square" rtlCol="0" anchor="ctr"/>
          <a:lstStyle/>
          <a:p>
            <a:pPr indent="0" marL="0">
              <a:buNone/>
            </a:pPr>
            <a:r>
              <a:rPr lang="en-US" sz="1000" dirty="0">
                <a:solidFill>
                  <a:srgbClr val="2C3E5A"/>
                </a:solidFill>
                <a:latin typeface="Calibri" pitchFamily="34" charset="0"/>
                <a:ea typeface="Calibri" pitchFamily="34" charset="-122"/>
                <a:cs typeface="Calibri" pitchFamily="34" charset="-120"/>
              </a:rPr>
              <a:t>10–18-oy (Miqyos)</a:t>
            </a:r>
            <a:endParaRPr lang="en-US" sz="1000" dirty="0"/>
          </a:p>
        </p:txBody>
      </p:sp>
      <p:sp>
        <p:nvSpPr>
          <p:cNvPr id="33" name="Shape 31"/>
          <p:cNvSpPr/>
          <p:nvPr/>
        </p:nvSpPr>
        <p:spPr>
          <a:xfrm>
            <a:off x="4654296" y="2880360"/>
            <a:ext cx="1920240" cy="20116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34" name="Shape 32"/>
          <p:cNvSpPr/>
          <p:nvPr/>
        </p:nvSpPr>
        <p:spPr>
          <a:xfrm>
            <a:off x="4654296" y="2880360"/>
            <a:ext cx="54864" cy="2011680"/>
          </a:xfrm>
          <a:prstGeom prst="rect">
            <a:avLst/>
          </a:prstGeom>
          <a:solidFill>
            <a:srgbClr val="00C9B1"/>
          </a:solidFill>
          <a:ln/>
        </p:spPr>
      </p:sp>
      <p:sp>
        <p:nvSpPr>
          <p:cNvPr id="35" name="Text 33"/>
          <p:cNvSpPr/>
          <p:nvPr/>
        </p:nvSpPr>
        <p:spPr>
          <a:xfrm>
            <a:off x="4764024" y="2926080"/>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To'liq tuman paneli</a:t>
            </a:r>
            <a:endParaRPr lang="en-US" sz="1050" dirty="0"/>
          </a:p>
        </p:txBody>
      </p:sp>
      <p:sp>
        <p:nvSpPr>
          <p:cNvPr id="36" name="Text 34"/>
          <p:cNvSpPr/>
          <p:nvPr/>
        </p:nvSpPr>
        <p:spPr>
          <a:xfrm>
            <a:off x="4764024" y="3401568"/>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Hukumat ma'lumot hisoboti integratsiyasi</a:t>
            </a:r>
            <a:endParaRPr lang="en-US" sz="1050" dirty="0"/>
          </a:p>
        </p:txBody>
      </p:sp>
      <p:sp>
        <p:nvSpPr>
          <p:cNvPr id="37" name="Text 35"/>
          <p:cNvSpPr/>
          <p:nvPr/>
        </p:nvSpPr>
        <p:spPr>
          <a:xfrm>
            <a:off x="4764024" y="3877056"/>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Qozog'istonga kengayish</a:t>
            </a:r>
            <a:endParaRPr lang="en-US" sz="1050" dirty="0"/>
          </a:p>
        </p:txBody>
      </p:sp>
      <p:sp>
        <p:nvSpPr>
          <p:cNvPr id="38" name="Text 36"/>
          <p:cNvSpPr/>
          <p:nvPr/>
        </p:nvSpPr>
        <p:spPr>
          <a:xfrm>
            <a:off x="4764024" y="4352544"/>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1000+ maktab, A seriyasi maqsadi</a:t>
            </a:r>
            <a:endParaRPr lang="en-US" sz="1050" dirty="0"/>
          </a:p>
        </p:txBody>
      </p:sp>
      <p:sp>
        <p:nvSpPr>
          <p:cNvPr id="39" name="Shape 37"/>
          <p:cNvSpPr/>
          <p:nvPr/>
        </p:nvSpPr>
        <p:spPr>
          <a:xfrm>
            <a:off x="7552944" y="2423160"/>
            <a:ext cx="347472" cy="347472"/>
          </a:xfrm>
          <a:prstGeom prst="oval">
            <a:avLst/>
          </a:prstGeom>
          <a:solidFill>
            <a:srgbClr val="F5A623"/>
          </a:solidFill>
          <a:ln/>
        </p:spPr>
      </p:sp>
      <p:sp>
        <p:nvSpPr>
          <p:cNvPr id="40" name="Shape 38"/>
          <p:cNvSpPr/>
          <p:nvPr/>
        </p:nvSpPr>
        <p:spPr>
          <a:xfrm>
            <a:off x="6867144" y="1280160"/>
            <a:ext cx="1920240" cy="1051560"/>
          </a:xfrm>
          <a:prstGeom prst="rect">
            <a:avLst/>
          </a:prstGeom>
          <a:solidFill>
            <a:srgbClr val="F5A623">
              <a:alpha val="15000"/>
            </a:srgbClr>
          </a:solidFill>
          <a:ln/>
        </p:spPr>
      </p:sp>
      <p:sp>
        <p:nvSpPr>
          <p:cNvPr id="41" name="Shape 39"/>
          <p:cNvSpPr/>
          <p:nvPr/>
        </p:nvSpPr>
        <p:spPr>
          <a:xfrm>
            <a:off x="6867144" y="1280160"/>
            <a:ext cx="54864" cy="1051560"/>
          </a:xfrm>
          <a:prstGeom prst="rect">
            <a:avLst/>
          </a:prstGeom>
          <a:solidFill>
            <a:srgbClr val="F5A623"/>
          </a:solidFill>
          <a:ln/>
        </p:spPr>
      </p:sp>
      <p:sp>
        <p:nvSpPr>
          <p:cNvPr id="42" name="Text 40"/>
          <p:cNvSpPr/>
          <p:nvPr/>
        </p:nvSpPr>
        <p:spPr>
          <a:xfrm>
            <a:off x="6976872" y="1325880"/>
            <a:ext cx="1737360" cy="347472"/>
          </a:xfrm>
          <a:prstGeom prst="rect">
            <a:avLst/>
          </a:prstGeom>
          <a:noFill/>
          <a:ln/>
        </p:spPr>
        <p:txBody>
          <a:bodyPr wrap="square" lIns="0" tIns="0" rIns="0" bIns="0" rtlCol="0" anchor="ctr"/>
          <a:lstStyle/>
          <a:p>
            <a:pPr indent="0" marL="0">
              <a:buNone/>
            </a:pPr>
            <a:r>
              <a:rPr lang="en-US" sz="1300" b="1" dirty="0">
                <a:solidFill>
                  <a:srgbClr val="F5A623"/>
                </a:solidFill>
                <a:latin typeface="Trebuchet MS" pitchFamily="34" charset="0"/>
                <a:ea typeface="Trebuchet MS" pitchFamily="34" charset="-122"/>
                <a:cs typeface="Trebuchet MS" pitchFamily="34" charset="-120"/>
              </a:rPr>
              <a:t>4-bosqich</a:t>
            </a:r>
            <a:endParaRPr lang="en-US" sz="1300" dirty="0"/>
          </a:p>
        </p:txBody>
      </p:sp>
      <p:sp>
        <p:nvSpPr>
          <p:cNvPr id="43" name="Text 41"/>
          <p:cNvSpPr/>
          <p:nvPr/>
        </p:nvSpPr>
        <p:spPr>
          <a:xfrm>
            <a:off x="6976872" y="1673352"/>
            <a:ext cx="1737360" cy="548640"/>
          </a:xfrm>
          <a:prstGeom prst="rect">
            <a:avLst/>
          </a:prstGeom>
          <a:noFill/>
          <a:ln/>
        </p:spPr>
        <p:txBody>
          <a:bodyPr wrap="square" rtlCol="0" anchor="ctr"/>
          <a:lstStyle/>
          <a:p>
            <a:pPr indent="0" marL="0">
              <a:buNone/>
            </a:pPr>
            <a:r>
              <a:rPr lang="en-US" sz="1000" dirty="0">
                <a:solidFill>
                  <a:srgbClr val="2C3E5A"/>
                </a:solidFill>
                <a:latin typeface="Calibri" pitchFamily="34" charset="0"/>
                <a:ea typeface="Calibri" pitchFamily="34" charset="-122"/>
                <a:cs typeface="Calibri" pitchFamily="34" charset="-120"/>
              </a:rPr>
              <a:t>2–3-yil (Yetakchi)</a:t>
            </a:r>
            <a:endParaRPr lang="en-US" sz="1000" dirty="0"/>
          </a:p>
        </p:txBody>
      </p:sp>
      <p:sp>
        <p:nvSpPr>
          <p:cNvPr id="44" name="Shape 42"/>
          <p:cNvSpPr/>
          <p:nvPr/>
        </p:nvSpPr>
        <p:spPr>
          <a:xfrm>
            <a:off x="6867144" y="2880360"/>
            <a:ext cx="1920240" cy="20116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45" name="Shape 43"/>
          <p:cNvSpPr/>
          <p:nvPr/>
        </p:nvSpPr>
        <p:spPr>
          <a:xfrm>
            <a:off x="6867144" y="2880360"/>
            <a:ext cx="54864" cy="2011680"/>
          </a:xfrm>
          <a:prstGeom prst="rect">
            <a:avLst/>
          </a:prstGeom>
          <a:solidFill>
            <a:srgbClr val="F5A623"/>
          </a:solidFill>
          <a:ln/>
        </p:spPr>
      </p:sp>
      <p:sp>
        <p:nvSpPr>
          <p:cNvPr id="46" name="Text 44"/>
          <p:cNvSpPr/>
          <p:nvPr/>
        </p:nvSpPr>
        <p:spPr>
          <a:xfrm>
            <a:off x="6976872" y="2926080"/>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LMS integratsiyalari (Moodle, Google)</a:t>
            </a:r>
            <a:endParaRPr lang="en-US" sz="1050" dirty="0"/>
          </a:p>
        </p:txBody>
      </p:sp>
      <p:sp>
        <p:nvSpPr>
          <p:cNvPr id="47" name="Text 45"/>
          <p:cNvSpPr/>
          <p:nvPr/>
        </p:nvSpPr>
        <p:spPr>
          <a:xfrm>
            <a:off x="6976872" y="3401568"/>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Ovozli va video topshiriq baholash</a:t>
            </a:r>
            <a:endParaRPr lang="en-US" sz="1050" dirty="0"/>
          </a:p>
        </p:txBody>
      </p:sp>
      <p:sp>
        <p:nvSpPr>
          <p:cNvPr id="48" name="Text 46"/>
          <p:cNvSpPr/>
          <p:nvPr/>
        </p:nvSpPr>
        <p:spPr>
          <a:xfrm>
            <a:off x="6976872" y="3877056"/>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Mintaqaviy til paketlari</a:t>
            </a:r>
            <a:endParaRPr lang="en-US" sz="1050" dirty="0"/>
          </a:p>
        </p:txBody>
      </p:sp>
      <p:sp>
        <p:nvSpPr>
          <p:cNvPr id="49" name="Text 47"/>
          <p:cNvSpPr/>
          <p:nvPr/>
        </p:nvSpPr>
        <p:spPr>
          <a:xfrm>
            <a:off x="6976872" y="4352544"/>
            <a:ext cx="1737360" cy="457200"/>
          </a:xfrm>
          <a:prstGeom prst="rect">
            <a:avLst/>
          </a:prstGeom>
          <a:noFill/>
          <a:ln/>
        </p:spPr>
        <p:txBody>
          <a:bodyPr wrap="square" rtlCol="0" anchor="ctr"/>
          <a:lstStyle/>
          <a:p>
            <a:pPr indent="0" marL="0">
              <a:buNone/>
            </a:pPr>
            <a:r>
              <a:rPr lang="en-US" sz="1050" dirty="0">
                <a:solidFill>
                  <a:srgbClr val="2C3E5A"/>
                </a:solidFill>
                <a:latin typeface="Calibri" pitchFamily="34" charset="0"/>
                <a:ea typeface="Calibri" pitchFamily="34" charset="-122"/>
                <a:cs typeface="Calibri" pitchFamily="34" charset="-120"/>
              </a:rPr>
              <a:t>→ Markaziy Osiyoda 10 000 maktab</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3B7E"/>
          </a:solidFill>
          <a:ln/>
        </p:spPr>
      </p:sp>
      <p:sp>
        <p:nvSpPr>
          <p:cNvPr id="3" name="Text 1"/>
          <p:cNvSpPr/>
          <p:nvPr/>
        </p:nvSpPr>
        <p:spPr>
          <a:xfrm>
            <a:off x="274320" y="182880"/>
            <a:ext cx="8686800" cy="594360"/>
          </a:xfrm>
          <a:prstGeom prst="rect">
            <a:avLst/>
          </a:prstGeom>
          <a:noFill/>
          <a:ln/>
        </p:spPr>
        <p:txBody>
          <a:bodyPr wrap="square" lIns="0" tIns="0" rIns="0" bIns="0" rtlCol="0" anchor="ctr"/>
          <a:lstStyle/>
          <a:p>
            <a:pPr indent="0" marL="0">
              <a:buNone/>
            </a:pPr>
            <a:r>
              <a:rPr lang="en-US" sz="2800" b="1" dirty="0">
                <a:solidFill>
                  <a:srgbClr val="0A1628"/>
                </a:solidFill>
                <a:latin typeface="Trebuchet MS" pitchFamily="34" charset="0"/>
                <a:ea typeface="Trebuchet MS" pitchFamily="34" charset="-122"/>
                <a:cs typeface="Trebuchet MS" pitchFamily="34" charset="-120"/>
              </a:rPr>
              <a:t>Jamoa</a:t>
            </a:r>
            <a:endParaRPr lang="en-US" sz="2800" dirty="0"/>
          </a:p>
        </p:txBody>
      </p:sp>
      <p:sp>
        <p:nvSpPr>
          <p:cNvPr id="4" name="Text 2"/>
          <p:cNvSpPr/>
          <p:nvPr/>
        </p:nvSpPr>
        <p:spPr>
          <a:xfrm>
            <a:off x="274320" y="795528"/>
            <a:ext cx="8686800" cy="365760"/>
          </a:xfrm>
          <a:prstGeom prst="rect">
            <a:avLst/>
          </a:prstGeom>
          <a:noFill/>
          <a:ln/>
        </p:spPr>
        <p:txBody>
          <a:bodyPr wrap="square" rtlCol="0" anchor="ctr"/>
          <a:lstStyle/>
          <a:p>
            <a:pPr indent="0" marL="0">
              <a:buNone/>
            </a:pPr>
            <a:r>
              <a:rPr lang="en-US" sz="1400" i="1" dirty="0">
                <a:solidFill>
                  <a:srgbClr val="8FA4C4"/>
                </a:solidFill>
                <a:latin typeface="Calibri" pitchFamily="34" charset="0"/>
                <a:ea typeface="Calibri" pitchFamily="34" charset="-122"/>
                <a:cs typeface="Calibri" pitchFamily="34" charset="-120"/>
              </a:rPr>
              <a:t>O'zbekistonlik ishtiyoqli pedagoglar, muhandislar va ma'lumotlar olimlari tomonidan yaratilgan</a:t>
            </a:r>
            <a:endParaRPr lang="en-US" sz="1400" dirty="0"/>
          </a:p>
        </p:txBody>
      </p:sp>
      <p:sp>
        <p:nvSpPr>
          <p:cNvPr id="5" name="Shape 3"/>
          <p:cNvSpPr/>
          <p:nvPr/>
        </p:nvSpPr>
        <p:spPr>
          <a:xfrm>
            <a:off x="201168" y="1280160"/>
            <a:ext cx="2560320" cy="1828800"/>
          </a:xfrm>
          <a:prstGeom prst="rect">
            <a:avLst/>
          </a:prstGeom>
          <a:solidFill>
            <a:srgbClr val="FFFFFF"/>
          </a:solidFill>
          <a:ln/>
          <a:effectLst>
            <a:outerShdw sx="100000" sy="100000" kx="0" ky="0" algn="bl" rotWithShape="0" blurRad="127000" dist="38100" dir="8100000">
              <a:srgbClr val="000000">
                <a:alpha val="10000"/>
              </a:srgbClr>
            </a:outerShdw>
          </a:effectLst>
        </p:spPr>
      </p:sp>
      <p:sp>
        <p:nvSpPr>
          <p:cNvPr id="6" name="Shape 4"/>
          <p:cNvSpPr/>
          <p:nvPr/>
        </p:nvSpPr>
        <p:spPr>
          <a:xfrm>
            <a:off x="201168" y="1280160"/>
            <a:ext cx="2560320" cy="54864"/>
          </a:xfrm>
          <a:prstGeom prst="rect">
            <a:avLst/>
          </a:prstGeom>
          <a:solidFill>
            <a:srgbClr val="0D3B7E"/>
          </a:solidFill>
          <a:ln/>
        </p:spPr>
      </p:sp>
      <p:sp>
        <p:nvSpPr>
          <p:cNvPr id="7" name="Shape 5"/>
          <p:cNvSpPr/>
          <p:nvPr/>
        </p:nvSpPr>
        <p:spPr>
          <a:xfrm>
            <a:off x="1161288" y="1389888"/>
            <a:ext cx="640080" cy="640080"/>
          </a:xfrm>
          <a:prstGeom prst="oval">
            <a:avLst/>
          </a:prstGeom>
          <a:solidFill>
            <a:srgbClr val="0D3B7E"/>
          </a:solidFill>
          <a:ln/>
        </p:spPr>
      </p:sp>
      <p:pic>
        <p:nvPicPr>
          <p:cNvPr id="8" name="Image 0" descr="preencoded.png">    </p:cNvPr>
          <p:cNvPicPr>
            <a:picLocks noChangeAspect="1"/>
          </p:cNvPicPr>
          <p:nvPr/>
        </p:nvPicPr>
        <p:blipFill>
          <a:blip r:embed="rId1"/>
          <a:stretch>
            <a:fillRect/>
          </a:stretch>
        </p:blipFill>
        <p:spPr>
          <a:xfrm>
            <a:off x="1197864" y="1426464"/>
            <a:ext cx="566928" cy="566928"/>
          </a:xfrm>
          <a:prstGeom prst="rect">
            <a:avLst/>
          </a:prstGeom>
        </p:spPr>
      </p:pic>
      <p:sp>
        <p:nvSpPr>
          <p:cNvPr id="9" name="Text 6"/>
          <p:cNvSpPr/>
          <p:nvPr/>
        </p:nvSpPr>
        <p:spPr>
          <a:xfrm>
            <a:off x="292608" y="2148840"/>
            <a:ext cx="2377440" cy="347472"/>
          </a:xfrm>
          <a:prstGeom prst="rect">
            <a:avLst/>
          </a:prstGeom>
          <a:noFill/>
          <a:ln/>
        </p:spPr>
        <p:txBody>
          <a:bodyPr wrap="square" lIns="0" tIns="0" rIns="0" bIns="0" rtlCol="0" anchor="ctr"/>
          <a:lstStyle/>
          <a:p>
            <a:pPr algn="ctr" indent="0" marL="0">
              <a:buNone/>
            </a:pPr>
            <a:r>
              <a:rPr lang="en-US" sz="1300" b="1" dirty="0">
                <a:solidFill>
                  <a:srgbClr val="0D3B7E"/>
                </a:solidFill>
                <a:latin typeface="Trebuchet MS" pitchFamily="34" charset="0"/>
                <a:ea typeface="Trebuchet MS" pitchFamily="34" charset="-122"/>
                <a:cs typeface="Trebuchet MS" pitchFamily="34" charset="-120"/>
              </a:rPr>
              <a:t>Mahsulot Rahbari</a:t>
            </a:r>
            <a:endParaRPr lang="en-US" sz="1300" dirty="0"/>
          </a:p>
        </p:txBody>
      </p:sp>
      <p:sp>
        <p:nvSpPr>
          <p:cNvPr id="10" name="Text 7"/>
          <p:cNvSpPr/>
          <p:nvPr/>
        </p:nvSpPr>
        <p:spPr>
          <a:xfrm>
            <a:off x="292608" y="2514600"/>
            <a:ext cx="2377440" cy="530352"/>
          </a:xfrm>
          <a:prstGeom prst="rect">
            <a:avLst/>
          </a:prstGeom>
          <a:noFill/>
          <a:ln/>
        </p:spPr>
        <p:txBody>
          <a:bodyPr wrap="square" rtlCol="0" anchor="ctr"/>
          <a:lstStyle/>
          <a:p>
            <a:pPr algn="ctr" indent="0" marL="0">
              <a:buNone/>
            </a:pPr>
            <a:r>
              <a:rPr lang="en-US" sz="1000" dirty="0">
                <a:solidFill>
                  <a:srgbClr val="2C3E5A"/>
                </a:solidFill>
                <a:latin typeface="Calibri" pitchFamily="34" charset="0"/>
                <a:ea typeface="Calibri" pitchFamily="34" charset="-122"/>
                <a:cs typeface="Calibri" pitchFamily="34" charset="-120"/>
              </a:rPr>
              <a:t>Sobiq o'qituvchi. Sinf muammolarini yaxshi biladi. Viziya va foydalanuvchi tadqiqotini boshqaradi.</a:t>
            </a:r>
            <a:endParaRPr lang="en-US" sz="1000" dirty="0"/>
          </a:p>
        </p:txBody>
      </p:sp>
      <p:sp>
        <p:nvSpPr>
          <p:cNvPr id="11" name="Shape 8"/>
          <p:cNvSpPr/>
          <p:nvPr/>
        </p:nvSpPr>
        <p:spPr>
          <a:xfrm>
            <a:off x="3145536" y="1280160"/>
            <a:ext cx="2560320" cy="1828800"/>
          </a:xfrm>
          <a:prstGeom prst="rect">
            <a:avLst/>
          </a:prstGeom>
          <a:solidFill>
            <a:srgbClr val="FFFFFF"/>
          </a:solidFill>
          <a:ln/>
          <a:effectLst>
            <a:outerShdw sx="100000" sy="100000" kx="0" ky="0" algn="bl" rotWithShape="0" blurRad="127000" dist="38100" dir="8100000">
              <a:srgbClr val="000000">
                <a:alpha val="10000"/>
              </a:srgbClr>
            </a:outerShdw>
          </a:effectLst>
        </p:spPr>
      </p:sp>
      <p:sp>
        <p:nvSpPr>
          <p:cNvPr id="12" name="Shape 9"/>
          <p:cNvSpPr/>
          <p:nvPr/>
        </p:nvSpPr>
        <p:spPr>
          <a:xfrm>
            <a:off x="3145536" y="1280160"/>
            <a:ext cx="2560320" cy="54864"/>
          </a:xfrm>
          <a:prstGeom prst="rect">
            <a:avLst/>
          </a:prstGeom>
          <a:solidFill>
            <a:srgbClr val="00C9B1"/>
          </a:solidFill>
          <a:ln/>
        </p:spPr>
      </p:sp>
      <p:sp>
        <p:nvSpPr>
          <p:cNvPr id="13" name="Shape 10"/>
          <p:cNvSpPr/>
          <p:nvPr/>
        </p:nvSpPr>
        <p:spPr>
          <a:xfrm>
            <a:off x="4105656" y="1389888"/>
            <a:ext cx="640080" cy="640080"/>
          </a:xfrm>
          <a:prstGeom prst="oval">
            <a:avLst/>
          </a:prstGeom>
          <a:solidFill>
            <a:srgbClr val="00C9B1"/>
          </a:solidFill>
          <a:ln/>
        </p:spPr>
      </p:sp>
      <p:pic>
        <p:nvPicPr>
          <p:cNvPr id="14" name="Image 1" descr="preencoded.png">    </p:cNvPr>
          <p:cNvPicPr>
            <a:picLocks noChangeAspect="1"/>
          </p:cNvPicPr>
          <p:nvPr/>
        </p:nvPicPr>
        <p:blipFill>
          <a:blip r:embed="rId2"/>
          <a:stretch>
            <a:fillRect/>
          </a:stretch>
        </p:blipFill>
        <p:spPr>
          <a:xfrm>
            <a:off x="4142232" y="1426464"/>
            <a:ext cx="566928" cy="566928"/>
          </a:xfrm>
          <a:prstGeom prst="rect">
            <a:avLst/>
          </a:prstGeom>
        </p:spPr>
      </p:pic>
      <p:sp>
        <p:nvSpPr>
          <p:cNvPr id="15" name="Text 11"/>
          <p:cNvSpPr/>
          <p:nvPr/>
        </p:nvSpPr>
        <p:spPr>
          <a:xfrm>
            <a:off x="3236976" y="2148840"/>
            <a:ext cx="2377440" cy="347472"/>
          </a:xfrm>
          <a:prstGeom prst="rect">
            <a:avLst/>
          </a:prstGeom>
          <a:noFill/>
          <a:ln/>
        </p:spPr>
        <p:txBody>
          <a:bodyPr wrap="square" lIns="0" tIns="0" rIns="0" bIns="0" rtlCol="0" anchor="ctr"/>
          <a:lstStyle/>
          <a:p>
            <a:pPr algn="ctr" indent="0" marL="0">
              <a:buNone/>
            </a:pPr>
            <a:r>
              <a:rPr lang="en-US" sz="1300" b="1" dirty="0">
                <a:solidFill>
                  <a:srgbClr val="00C9B1"/>
                </a:solidFill>
                <a:latin typeface="Trebuchet MS" pitchFamily="34" charset="0"/>
                <a:ea typeface="Trebuchet MS" pitchFamily="34" charset="-122"/>
                <a:cs typeface="Trebuchet MS" pitchFamily="34" charset="-120"/>
              </a:rPr>
              <a:t>SI/ML Muhandis</a:t>
            </a:r>
            <a:endParaRPr lang="en-US" sz="1300" dirty="0"/>
          </a:p>
        </p:txBody>
      </p:sp>
      <p:sp>
        <p:nvSpPr>
          <p:cNvPr id="16" name="Text 12"/>
          <p:cNvSpPr/>
          <p:nvPr/>
        </p:nvSpPr>
        <p:spPr>
          <a:xfrm>
            <a:off x="3236976" y="2514600"/>
            <a:ext cx="2377440" cy="530352"/>
          </a:xfrm>
          <a:prstGeom prst="rect">
            <a:avLst/>
          </a:prstGeom>
          <a:noFill/>
          <a:ln/>
        </p:spPr>
        <p:txBody>
          <a:bodyPr wrap="square" rtlCol="0" anchor="ctr"/>
          <a:lstStyle/>
          <a:p>
            <a:pPr algn="ctr" indent="0" marL="0">
              <a:buNone/>
            </a:pPr>
            <a:r>
              <a:rPr lang="en-US" sz="1000" dirty="0">
                <a:solidFill>
                  <a:srgbClr val="2C3E5A"/>
                </a:solidFill>
                <a:latin typeface="Calibri" pitchFamily="34" charset="0"/>
                <a:ea typeface="Calibri" pitchFamily="34" charset="-122"/>
                <a:cs typeface="Calibri" pitchFamily="34" charset="-120"/>
              </a:rPr>
              <a:t>Kompyuter ko'rish va NLP mutaxassisi. Diqqat aniqlash va baholash modellarini yaratadi.</a:t>
            </a:r>
            <a:endParaRPr lang="en-US" sz="1000" dirty="0"/>
          </a:p>
        </p:txBody>
      </p:sp>
      <p:sp>
        <p:nvSpPr>
          <p:cNvPr id="17" name="Shape 13"/>
          <p:cNvSpPr/>
          <p:nvPr/>
        </p:nvSpPr>
        <p:spPr>
          <a:xfrm>
            <a:off x="6089904" y="1280160"/>
            <a:ext cx="2560320" cy="1828800"/>
          </a:xfrm>
          <a:prstGeom prst="rect">
            <a:avLst/>
          </a:prstGeom>
          <a:solidFill>
            <a:srgbClr val="FFFFFF"/>
          </a:solidFill>
          <a:ln/>
          <a:effectLst>
            <a:outerShdw sx="100000" sy="100000" kx="0" ky="0" algn="bl" rotWithShape="0" blurRad="127000" dist="38100" dir="8100000">
              <a:srgbClr val="000000">
                <a:alpha val="10000"/>
              </a:srgbClr>
            </a:outerShdw>
          </a:effectLst>
        </p:spPr>
      </p:sp>
      <p:sp>
        <p:nvSpPr>
          <p:cNvPr id="18" name="Shape 14"/>
          <p:cNvSpPr/>
          <p:nvPr/>
        </p:nvSpPr>
        <p:spPr>
          <a:xfrm>
            <a:off x="6089904" y="1280160"/>
            <a:ext cx="2560320" cy="54864"/>
          </a:xfrm>
          <a:prstGeom prst="rect">
            <a:avLst/>
          </a:prstGeom>
          <a:solidFill>
            <a:srgbClr val="1D90F5"/>
          </a:solidFill>
          <a:ln/>
        </p:spPr>
      </p:sp>
      <p:sp>
        <p:nvSpPr>
          <p:cNvPr id="19" name="Shape 15"/>
          <p:cNvSpPr/>
          <p:nvPr/>
        </p:nvSpPr>
        <p:spPr>
          <a:xfrm>
            <a:off x="7050024" y="1389888"/>
            <a:ext cx="640080" cy="640080"/>
          </a:xfrm>
          <a:prstGeom prst="oval">
            <a:avLst/>
          </a:prstGeom>
          <a:solidFill>
            <a:srgbClr val="1D90F5"/>
          </a:solidFill>
          <a:ln/>
        </p:spPr>
      </p:sp>
      <p:pic>
        <p:nvPicPr>
          <p:cNvPr id="20" name="Image 2" descr="preencoded.png">    </p:cNvPr>
          <p:cNvPicPr>
            <a:picLocks noChangeAspect="1"/>
          </p:cNvPicPr>
          <p:nvPr/>
        </p:nvPicPr>
        <p:blipFill>
          <a:blip r:embed="rId3"/>
          <a:stretch>
            <a:fillRect/>
          </a:stretch>
        </p:blipFill>
        <p:spPr>
          <a:xfrm>
            <a:off x="7086600" y="1426464"/>
            <a:ext cx="566928" cy="566928"/>
          </a:xfrm>
          <a:prstGeom prst="rect">
            <a:avLst/>
          </a:prstGeom>
        </p:spPr>
      </p:pic>
      <p:sp>
        <p:nvSpPr>
          <p:cNvPr id="21" name="Text 16"/>
          <p:cNvSpPr/>
          <p:nvPr/>
        </p:nvSpPr>
        <p:spPr>
          <a:xfrm>
            <a:off x="6181344" y="2148840"/>
            <a:ext cx="2377440" cy="347472"/>
          </a:xfrm>
          <a:prstGeom prst="rect">
            <a:avLst/>
          </a:prstGeom>
          <a:noFill/>
          <a:ln/>
        </p:spPr>
        <p:txBody>
          <a:bodyPr wrap="square" lIns="0" tIns="0" rIns="0" bIns="0" rtlCol="0" anchor="ctr"/>
          <a:lstStyle/>
          <a:p>
            <a:pPr algn="ctr" indent="0" marL="0">
              <a:buNone/>
            </a:pPr>
            <a:r>
              <a:rPr lang="en-US" sz="1300" b="1" dirty="0">
                <a:solidFill>
                  <a:srgbClr val="1D90F5"/>
                </a:solidFill>
                <a:latin typeface="Trebuchet MS" pitchFamily="34" charset="0"/>
                <a:ea typeface="Trebuchet MS" pitchFamily="34" charset="-122"/>
                <a:cs typeface="Trebuchet MS" pitchFamily="34" charset="-120"/>
              </a:rPr>
              <a:t>Full-Stack Dasturchi</a:t>
            </a:r>
            <a:endParaRPr lang="en-US" sz="1300" dirty="0"/>
          </a:p>
        </p:txBody>
      </p:sp>
      <p:sp>
        <p:nvSpPr>
          <p:cNvPr id="22" name="Text 17"/>
          <p:cNvSpPr/>
          <p:nvPr/>
        </p:nvSpPr>
        <p:spPr>
          <a:xfrm>
            <a:off x="6181344" y="2514600"/>
            <a:ext cx="2377440" cy="530352"/>
          </a:xfrm>
          <a:prstGeom prst="rect">
            <a:avLst/>
          </a:prstGeom>
          <a:noFill/>
          <a:ln/>
        </p:spPr>
        <p:txBody>
          <a:bodyPr wrap="square" rtlCol="0" anchor="ctr"/>
          <a:lstStyle/>
          <a:p>
            <a:pPr algn="ctr" indent="0" marL="0">
              <a:buNone/>
            </a:pPr>
            <a:r>
              <a:rPr lang="en-US" sz="1000" dirty="0">
                <a:solidFill>
                  <a:srgbClr val="2C3E5A"/>
                </a:solidFill>
                <a:latin typeface="Calibri" pitchFamily="34" charset="0"/>
                <a:ea typeface="Calibri" pitchFamily="34" charset="-122"/>
                <a:cs typeface="Calibri" pitchFamily="34" charset="-120"/>
              </a:rPr>
              <a:t>React + Python/FastAPI. Panel, mobil ilova va API integratsiyalarini quradi.</a:t>
            </a:r>
            <a:endParaRPr lang="en-US" sz="1000" dirty="0"/>
          </a:p>
        </p:txBody>
      </p:sp>
      <p:sp>
        <p:nvSpPr>
          <p:cNvPr id="23" name="Shape 18"/>
          <p:cNvSpPr/>
          <p:nvPr/>
        </p:nvSpPr>
        <p:spPr>
          <a:xfrm>
            <a:off x="1572768" y="2880360"/>
            <a:ext cx="2560320" cy="1828800"/>
          </a:xfrm>
          <a:prstGeom prst="rect">
            <a:avLst/>
          </a:prstGeom>
          <a:solidFill>
            <a:srgbClr val="FFFFFF"/>
          </a:solidFill>
          <a:ln/>
          <a:effectLst>
            <a:outerShdw sx="100000" sy="100000" kx="0" ky="0" algn="bl" rotWithShape="0" blurRad="127000" dist="38100" dir="8100000">
              <a:srgbClr val="000000">
                <a:alpha val="10000"/>
              </a:srgbClr>
            </a:outerShdw>
          </a:effectLst>
        </p:spPr>
      </p:sp>
      <p:sp>
        <p:nvSpPr>
          <p:cNvPr id="24" name="Shape 19"/>
          <p:cNvSpPr/>
          <p:nvPr/>
        </p:nvSpPr>
        <p:spPr>
          <a:xfrm>
            <a:off x="1572768" y="2880360"/>
            <a:ext cx="2560320" cy="54864"/>
          </a:xfrm>
          <a:prstGeom prst="rect">
            <a:avLst/>
          </a:prstGeom>
          <a:solidFill>
            <a:srgbClr val="F5A623"/>
          </a:solidFill>
          <a:ln/>
        </p:spPr>
      </p:sp>
      <p:sp>
        <p:nvSpPr>
          <p:cNvPr id="25" name="Shape 20"/>
          <p:cNvSpPr/>
          <p:nvPr/>
        </p:nvSpPr>
        <p:spPr>
          <a:xfrm>
            <a:off x="2532888" y="2990088"/>
            <a:ext cx="640080" cy="640080"/>
          </a:xfrm>
          <a:prstGeom prst="oval">
            <a:avLst/>
          </a:prstGeom>
          <a:solidFill>
            <a:srgbClr val="F5A623"/>
          </a:solidFill>
          <a:ln/>
        </p:spPr>
      </p:sp>
      <p:pic>
        <p:nvPicPr>
          <p:cNvPr id="26" name="Image 3" descr="preencoded.png">    </p:cNvPr>
          <p:cNvPicPr>
            <a:picLocks noChangeAspect="1"/>
          </p:cNvPicPr>
          <p:nvPr/>
        </p:nvPicPr>
        <p:blipFill>
          <a:blip r:embed="rId4"/>
          <a:stretch>
            <a:fillRect/>
          </a:stretch>
        </p:blipFill>
        <p:spPr>
          <a:xfrm>
            <a:off x="2569464" y="3026664"/>
            <a:ext cx="566928" cy="566928"/>
          </a:xfrm>
          <a:prstGeom prst="rect">
            <a:avLst/>
          </a:prstGeom>
        </p:spPr>
      </p:pic>
      <p:sp>
        <p:nvSpPr>
          <p:cNvPr id="27" name="Text 21"/>
          <p:cNvSpPr/>
          <p:nvPr/>
        </p:nvSpPr>
        <p:spPr>
          <a:xfrm>
            <a:off x="1664208" y="3749040"/>
            <a:ext cx="2377440" cy="347472"/>
          </a:xfrm>
          <a:prstGeom prst="rect">
            <a:avLst/>
          </a:prstGeom>
          <a:noFill/>
          <a:ln/>
        </p:spPr>
        <p:txBody>
          <a:bodyPr wrap="square" lIns="0" tIns="0" rIns="0" bIns="0" rtlCol="0" anchor="ctr"/>
          <a:lstStyle/>
          <a:p>
            <a:pPr algn="ctr" indent="0" marL="0">
              <a:buNone/>
            </a:pPr>
            <a:r>
              <a:rPr lang="en-US" sz="1300" b="1" dirty="0">
                <a:solidFill>
                  <a:srgbClr val="F5A623"/>
                </a:solidFill>
                <a:latin typeface="Trebuchet MS" pitchFamily="34" charset="0"/>
                <a:ea typeface="Trebuchet MS" pitchFamily="34" charset="-122"/>
                <a:cs typeface="Trebuchet MS" pitchFamily="34" charset="-120"/>
              </a:rPr>
              <a:t>Ma'lumotlar Olimi</a:t>
            </a:r>
            <a:endParaRPr lang="en-US" sz="1300" dirty="0"/>
          </a:p>
        </p:txBody>
      </p:sp>
      <p:sp>
        <p:nvSpPr>
          <p:cNvPr id="28" name="Text 22"/>
          <p:cNvSpPr/>
          <p:nvPr/>
        </p:nvSpPr>
        <p:spPr>
          <a:xfrm>
            <a:off x="1664208" y="4114800"/>
            <a:ext cx="2377440" cy="530352"/>
          </a:xfrm>
          <a:prstGeom prst="rect">
            <a:avLst/>
          </a:prstGeom>
          <a:noFill/>
          <a:ln/>
        </p:spPr>
        <p:txBody>
          <a:bodyPr wrap="square" rtlCol="0" anchor="ctr"/>
          <a:lstStyle/>
          <a:p>
            <a:pPr algn="ctr" indent="0" marL="0">
              <a:buNone/>
            </a:pPr>
            <a:r>
              <a:rPr lang="en-US" sz="1000" dirty="0">
                <a:solidFill>
                  <a:srgbClr val="2C3E5A"/>
                </a:solidFill>
                <a:latin typeface="Calibri" pitchFamily="34" charset="0"/>
                <a:ea typeface="Calibri" pitchFamily="34" charset="-122"/>
                <a:cs typeface="Calibri" pitchFamily="34" charset="-120"/>
              </a:rPr>
              <a:t>Salohiyat tahlilchisi modelini loyihalaydi. Tahlil pipeline va hisobot mexanizmlari.</a:t>
            </a:r>
            <a:endParaRPr lang="en-US" sz="1000" dirty="0"/>
          </a:p>
        </p:txBody>
      </p:sp>
      <p:sp>
        <p:nvSpPr>
          <p:cNvPr id="29" name="Shape 23"/>
          <p:cNvSpPr/>
          <p:nvPr/>
        </p:nvSpPr>
        <p:spPr>
          <a:xfrm>
            <a:off x="4517136" y="2880360"/>
            <a:ext cx="2560320" cy="1828800"/>
          </a:xfrm>
          <a:prstGeom prst="rect">
            <a:avLst/>
          </a:prstGeom>
          <a:solidFill>
            <a:srgbClr val="FFFFFF"/>
          </a:solidFill>
          <a:ln/>
          <a:effectLst>
            <a:outerShdw sx="100000" sy="100000" kx="0" ky="0" algn="bl" rotWithShape="0" blurRad="127000" dist="38100" dir="8100000">
              <a:srgbClr val="000000">
                <a:alpha val="10000"/>
              </a:srgbClr>
            </a:outerShdw>
          </a:effectLst>
        </p:spPr>
      </p:sp>
      <p:sp>
        <p:nvSpPr>
          <p:cNvPr id="30" name="Shape 24"/>
          <p:cNvSpPr/>
          <p:nvPr/>
        </p:nvSpPr>
        <p:spPr>
          <a:xfrm>
            <a:off x="4517136" y="2880360"/>
            <a:ext cx="2560320" cy="54864"/>
          </a:xfrm>
          <a:prstGeom prst="rect">
            <a:avLst/>
          </a:prstGeom>
          <a:solidFill>
            <a:srgbClr val="FF6B6B"/>
          </a:solidFill>
          <a:ln/>
        </p:spPr>
      </p:sp>
      <p:sp>
        <p:nvSpPr>
          <p:cNvPr id="31" name="Shape 25"/>
          <p:cNvSpPr/>
          <p:nvPr/>
        </p:nvSpPr>
        <p:spPr>
          <a:xfrm>
            <a:off x="5477256" y="2990088"/>
            <a:ext cx="640080" cy="640080"/>
          </a:xfrm>
          <a:prstGeom prst="oval">
            <a:avLst/>
          </a:prstGeom>
          <a:solidFill>
            <a:srgbClr val="FF6B6B"/>
          </a:solidFill>
          <a:ln/>
        </p:spPr>
      </p:sp>
      <p:pic>
        <p:nvPicPr>
          <p:cNvPr id="32" name="Image 4" descr="preencoded.png">    </p:cNvPr>
          <p:cNvPicPr>
            <a:picLocks noChangeAspect="1"/>
          </p:cNvPicPr>
          <p:nvPr/>
        </p:nvPicPr>
        <p:blipFill>
          <a:blip r:embed="rId5"/>
          <a:stretch>
            <a:fillRect/>
          </a:stretch>
        </p:blipFill>
        <p:spPr>
          <a:xfrm>
            <a:off x="5513832" y="3026664"/>
            <a:ext cx="566928" cy="566928"/>
          </a:xfrm>
          <a:prstGeom prst="rect">
            <a:avLst/>
          </a:prstGeom>
        </p:spPr>
      </p:pic>
      <p:sp>
        <p:nvSpPr>
          <p:cNvPr id="33" name="Text 26"/>
          <p:cNvSpPr/>
          <p:nvPr/>
        </p:nvSpPr>
        <p:spPr>
          <a:xfrm>
            <a:off x="4608576" y="3749040"/>
            <a:ext cx="2377440" cy="347472"/>
          </a:xfrm>
          <a:prstGeom prst="rect">
            <a:avLst/>
          </a:prstGeom>
          <a:noFill/>
          <a:ln/>
        </p:spPr>
        <p:txBody>
          <a:bodyPr wrap="square" lIns="0" tIns="0" rIns="0" bIns="0" rtlCol="0" anchor="ctr"/>
          <a:lstStyle/>
          <a:p>
            <a:pPr algn="ctr" indent="0" marL="0">
              <a:buNone/>
            </a:pPr>
            <a:r>
              <a:rPr lang="en-US" sz="1300" b="1" dirty="0">
                <a:solidFill>
                  <a:srgbClr val="FF6B6B"/>
                </a:solidFill>
                <a:latin typeface="Trebuchet MS" pitchFamily="34" charset="0"/>
                <a:ea typeface="Trebuchet MS" pitchFamily="34" charset="-122"/>
                <a:cs typeface="Trebuchet MS" pitchFamily="34" charset="-120"/>
              </a:rPr>
              <a:t>O'sish va Sotish</a:t>
            </a:r>
            <a:endParaRPr lang="en-US" sz="1300" dirty="0"/>
          </a:p>
        </p:txBody>
      </p:sp>
      <p:sp>
        <p:nvSpPr>
          <p:cNvPr id="34" name="Text 27"/>
          <p:cNvSpPr/>
          <p:nvPr/>
        </p:nvSpPr>
        <p:spPr>
          <a:xfrm>
            <a:off x="4608576" y="4114800"/>
            <a:ext cx="2377440" cy="530352"/>
          </a:xfrm>
          <a:prstGeom prst="rect">
            <a:avLst/>
          </a:prstGeom>
          <a:noFill/>
          <a:ln/>
        </p:spPr>
        <p:txBody>
          <a:bodyPr wrap="square" rtlCol="0" anchor="ctr"/>
          <a:lstStyle/>
          <a:p>
            <a:pPr algn="ctr" indent="0" marL="0">
              <a:buNone/>
            </a:pPr>
            <a:r>
              <a:rPr lang="en-US" sz="1000" dirty="0">
                <a:solidFill>
                  <a:srgbClr val="2C3E5A"/>
                </a:solidFill>
                <a:latin typeface="Calibri" pitchFamily="34" charset="0"/>
                <a:ea typeface="Calibri" pitchFamily="34" charset="-122"/>
                <a:cs typeface="Calibri" pitchFamily="34" charset="-120"/>
              </a:rPr>
              <a:t>Maktab hamkorligi mutaxassisi. B2B savdo, hukumat munosabatlari va onboarding.</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943600" y="-1371600"/>
            <a:ext cx="5486400" cy="5486400"/>
          </a:xfrm>
          <a:prstGeom prst="oval">
            <a:avLst/>
          </a:prstGeom>
          <a:solidFill>
            <a:srgbClr val="0D3B7E">
              <a:alpha val="40000"/>
            </a:srgbClr>
          </a:solidFill>
          <a:ln/>
        </p:spPr>
      </p:sp>
      <p:sp>
        <p:nvSpPr>
          <p:cNvPr id="3" name="Shape 1"/>
          <p:cNvSpPr/>
          <p:nvPr/>
        </p:nvSpPr>
        <p:spPr>
          <a:xfrm>
            <a:off x="-1371600" y="3200400"/>
            <a:ext cx="3657600" cy="3657600"/>
          </a:xfrm>
          <a:prstGeom prst="oval">
            <a:avLst/>
          </a:prstGeom>
          <a:solidFill>
            <a:srgbClr val="00C9B1">
              <a:alpha val="25000"/>
            </a:srgbClr>
          </a:solidFill>
          <a:ln/>
        </p:spPr>
      </p:sp>
      <p:sp>
        <p:nvSpPr>
          <p:cNvPr id="4" name="Shape 2"/>
          <p:cNvSpPr/>
          <p:nvPr/>
        </p:nvSpPr>
        <p:spPr>
          <a:xfrm>
            <a:off x="3931920" y="320040"/>
            <a:ext cx="1280160" cy="1280160"/>
          </a:xfrm>
          <a:prstGeom prst="oval">
            <a:avLst/>
          </a:prstGeom>
          <a:solidFill>
            <a:srgbClr val="00C9B1"/>
          </a:solidFill>
          <a:ln/>
        </p:spPr>
      </p:sp>
      <p:pic>
        <p:nvPicPr>
          <p:cNvPr id="5" name="Image 0" descr="preencoded.png">    </p:cNvPr>
          <p:cNvPicPr>
            <a:picLocks noChangeAspect="1"/>
          </p:cNvPicPr>
          <p:nvPr/>
        </p:nvPicPr>
        <p:blipFill>
          <a:blip r:embed="rId1"/>
          <a:stretch>
            <a:fillRect/>
          </a:stretch>
        </p:blipFill>
        <p:spPr>
          <a:xfrm>
            <a:off x="4041648" y="438912"/>
            <a:ext cx="1060704" cy="1060704"/>
          </a:xfrm>
          <a:prstGeom prst="rect">
            <a:avLst/>
          </a:prstGeom>
        </p:spPr>
      </p:pic>
      <p:sp>
        <p:nvSpPr>
          <p:cNvPr id="6" name="Text 3"/>
          <p:cNvSpPr/>
          <p:nvPr/>
        </p:nvSpPr>
        <p:spPr>
          <a:xfrm>
            <a:off x="457200" y="1554480"/>
            <a:ext cx="8229600" cy="594360"/>
          </a:xfrm>
          <a:prstGeom prst="rect">
            <a:avLst/>
          </a:prstGeom>
          <a:noFill/>
          <a:ln/>
        </p:spPr>
        <p:txBody>
          <a:bodyPr wrap="square" lIns="0" tIns="0" rIns="0" bIns="0" rtlCol="0" anchor="ctr"/>
          <a:lstStyle/>
          <a:p>
            <a:pPr algn="ctr" indent="0" marL="0">
              <a:buNone/>
            </a:pPr>
            <a:r>
              <a:rPr lang="en-US" sz="3000" b="1" dirty="0">
                <a:solidFill>
                  <a:srgbClr val="FFFFFF"/>
                </a:solidFill>
                <a:latin typeface="Trebuchet MS" pitchFamily="34" charset="0"/>
                <a:ea typeface="Trebuchet MS" pitchFamily="34" charset="-122"/>
                <a:cs typeface="Trebuchet MS" pitchFamily="34" charset="-120"/>
              </a:rPr>
              <a:t>Har bir o'quvchi</a:t>
            </a:r>
            <a:endParaRPr lang="en-US" sz="3000" dirty="0"/>
          </a:p>
        </p:txBody>
      </p:sp>
      <p:sp>
        <p:nvSpPr>
          <p:cNvPr id="7" name="Text 4"/>
          <p:cNvSpPr/>
          <p:nvPr/>
        </p:nvSpPr>
        <p:spPr>
          <a:xfrm>
            <a:off x="457200" y="2176272"/>
            <a:ext cx="8229600" cy="640080"/>
          </a:xfrm>
          <a:prstGeom prst="rect">
            <a:avLst/>
          </a:prstGeom>
          <a:noFill/>
          <a:ln/>
        </p:spPr>
        <p:txBody>
          <a:bodyPr wrap="square" lIns="0" tIns="0" rIns="0" bIns="0" rtlCol="0" anchor="ctr"/>
          <a:lstStyle/>
          <a:p>
            <a:pPr algn="ctr" indent="0" marL="0">
              <a:buNone/>
            </a:pPr>
            <a:r>
              <a:rPr lang="en-US" sz="2400" b="1" dirty="0">
                <a:solidFill>
                  <a:srgbClr val="00C9B1"/>
                </a:solidFill>
                <a:latin typeface="Trebuchet MS" pitchFamily="34" charset="0"/>
                <a:ea typeface="Trebuchet MS" pitchFamily="34" charset="-122"/>
                <a:cs typeface="Trebuchet MS" pitchFamily="34" charset="-120"/>
              </a:rPr>
              <a:t>o'z salohiyatini ko'radigan o'qituvchiga loyiq.</a:t>
            </a:r>
            <a:endParaRPr lang="en-US" sz="2400" dirty="0"/>
          </a:p>
        </p:txBody>
      </p:sp>
      <p:sp>
        <p:nvSpPr>
          <p:cNvPr id="8" name="Text 5"/>
          <p:cNvSpPr/>
          <p:nvPr/>
        </p:nvSpPr>
        <p:spPr>
          <a:xfrm>
            <a:off x="914400" y="2907792"/>
            <a:ext cx="7315200" cy="411480"/>
          </a:xfrm>
          <a:prstGeom prst="rect">
            <a:avLst/>
          </a:prstGeom>
          <a:noFill/>
          <a:ln/>
        </p:spPr>
        <p:txBody>
          <a:bodyPr wrap="square" rtlCol="0" anchor="ctr"/>
          <a:lstStyle/>
          <a:p>
            <a:pPr algn="ctr" indent="0" marL="0">
              <a:buNone/>
            </a:pPr>
            <a:r>
              <a:rPr lang="en-US" sz="1300" dirty="0">
                <a:solidFill>
                  <a:srgbClr val="8FA4C4"/>
                </a:solidFill>
                <a:latin typeface="Calibri" pitchFamily="34" charset="0"/>
                <a:ea typeface="Calibri" pitchFamily="34" charset="-122"/>
                <a:cs typeface="Calibri" pitchFamily="34" charset="-120"/>
              </a:rPr>
              <a:t>TalimZ buni amalga oshiradi — Markaziy Osiyodagi har bir sinfda va undan tashqarida.</a:t>
            </a:r>
            <a:endParaRPr lang="en-US" sz="1300" dirty="0"/>
          </a:p>
        </p:txBody>
      </p:sp>
      <p:sp>
        <p:nvSpPr>
          <p:cNvPr id="9" name="Shape 6"/>
          <p:cNvSpPr/>
          <p:nvPr/>
        </p:nvSpPr>
        <p:spPr>
          <a:xfrm>
            <a:off x="2286000" y="3703320"/>
            <a:ext cx="4572000" cy="640080"/>
          </a:xfrm>
          <a:prstGeom prst="rect">
            <a:avLst/>
          </a:prstGeom>
          <a:solidFill>
            <a:srgbClr val="00C9B1"/>
          </a:solidFill>
          <a:ln/>
        </p:spPr>
      </p:sp>
      <p:sp>
        <p:nvSpPr>
          <p:cNvPr id="10" name="Text 7"/>
          <p:cNvSpPr/>
          <p:nvPr/>
        </p:nvSpPr>
        <p:spPr>
          <a:xfrm>
            <a:off x="2286000" y="3703320"/>
            <a:ext cx="4572000" cy="640080"/>
          </a:xfrm>
          <a:prstGeom prst="rect">
            <a:avLst/>
          </a:prstGeom>
          <a:noFill/>
          <a:ln/>
        </p:spPr>
        <p:txBody>
          <a:bodyPr wrap="square" rtlCol="0" anchor="ctr"/>
          <a:lstStyle/>
          <a:p>
            <a:pPr algn="ctr" indent="0" marL="0">
              <a:buNone/>
            </a:pPr>
            <a:r>
              <a:rPr lang="en-US" sz="1600" b="1" dirty="0">
                <a:solidFill>
                  <a:srgbClr val="0A1628"/>
                </a:solidFill>
                <a:latin typeface="Trebuchet MS" pitchFamily="34" charset="0"/>
                <a:ea typeface="Trebuchet MS" pitchFamily="34" charset="-122"/>
                <a:cs typeface="Trebuchet MS" pitchFamily="34" charset="-120"/>
              </a:rPr>
              <a:t>Ta'limning kelajagini birga quramiz!</a:t>
            </a:r>
            <a:endParaRPr lang="en-US" sz="1600" dirty="0"/>
          </a:p>
        </p:txBody>
      </p:sp>
      <p:sp>
        <p:nvSpPr>
          <p:cNvPr id="11" name="Text 8"/>
          <p:cNvSpPr/>
          <p:nvPr/>
        </p:nvSpPr>
        <p:spPr>
          <a:xfrm>
            <a:off x="457200" y="4526280"/>
            <a:ext cx="8229600" cy="365760"/>
          </a:xfrm>
          <a:prstGeom prst="rect">
            <a:avLst/>
          </a:prstGeom>
          <a:noFill/>
          <a:ln/>
        </p:spPr>
        <p:txBody>
          <a:bodyPr wrap="square" rtlCol="0" anchor="ctr"/>
          <a:lstStyle/>
          <a:p>
            <a:pPr algn="ctr" indent="0" marL="0">
              <a:buNone/>
            </a:pPr>
            <a:r>
              <a:rPr lang="en-US" sz="1200" dirty="0">
                <a:solidFill>
                  <a:srgbClr val="8FA4C4"/>
                </a:solidFill>
                <a:latin typeface="Calibri" pitchFamily="34" charset="0"/>
                <a:ea typeface="Calibri" pitchFamily="34" charset="-122"/>
                <a:cs typeface="Calibri" pitchFamily="34" charset="-120"/>
              </a:rPr>
              <a:t>talimz.uz  ·  jamoa@talimz.uz  ·  @TalimZ</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TalimZ – Har bir sinf uchun sun'iy intellekt</dc:title>
  <dc:subject>PptxGenJS Presentation</dc:subject>
  <dc:creator>PptxGenJS</dc:creator>
  <cp:lastModifiedBy>PptxGenJS</cp:lastModifiedBy>
  <cp:revision>1</cp:revision>
  <dcterms:created xsi:type="dcterms:W3CDTF">2026-06-04T10:35:31Z</dcterms:created>
  <dcterms:modified xsi:type="dcterms:W3CDTF">2026-06-04T10:35:31Z</dcterms:modified>
</cp:coreProperties>
</file>